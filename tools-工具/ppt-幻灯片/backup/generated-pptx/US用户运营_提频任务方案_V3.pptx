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222773"/>
            </a:solidFill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1次</c:v>
                </c:pt>
                <c:pt idx="1">
                  <c:v>2次</c:v>
                </c:pt>
                <c:pt idx="2">
                  <c:v>3次</c:v>
                </c:pt>
                <c:pt idx="3">
                  <c:v>4次</c:v>
                </c:pt>
                <c:pt idx="4">
                  <c:v>5+次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10511</c:v>
                </c:pt>
                <c:pt idx="1">
                  <c:v>2067</c:v>
                </c:pt>
                <c:pt idx="2">
                  <c:v>671</c:v>
                </c:pt>
                <c:pt idx="3">
                  <c:v>279</c:v>
                </c:pt>
                <c:pt idx="4">
                  <c:v>189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STKaiti" panose="02010600040101010101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STKaiti" panose="02010600040101010101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cf47b23-e7b8-47bf-aeae-a0570f5c6631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2200" b="1">
                <a:solidFill>
                  <a:srgbClr val="333333"/>
                </a:solidFill>
                <a:latin typeface="STKaiti" panose="02010600040101010101" charset="-122"/>
              </a:rPr>
              <a:t>7天 vs 30天转化率</a:t>
            </a:r>
            <a:endParaRPr sz="2200" b="1">
              <a:solidFill>
                <a:srgbClr val="333333"/>
              </a:solidFill>
              <a:latin typeface="STKaiti" panose="02010600040101010101" charset="-122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7天转化率</c:v>
                </c:pt>
              </c:strCache>
            </c:strRef>
          </c:tx>
          <c:spPr>
            <a:ln w="31750" cap="rnd" cmpd="sng" algn="ctr">
              <a:solidFill>
                <a:srgbClr val="222773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222773"/>
              </a:solidFill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40.24</c:v>
                </c:pt>
                <c:pt idx="1">
                  <c:v>40.17</c:v>
                </c:pt>
                <c:pt idx="2">
                  <c:v>51.18</c:v>
                </c:pt>
                <c:pt idx="3">
                  <c:v>52.29</c:v>
                </c:pt>
                <c:pt idx="4">
                  <c:v>57.29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30天转化率</c:v>
                </c:pt>
              </c:strCache>
            </c:strRef>
          </c:tx>
          <c:spPr>
            <a:ln w="31750" cap="rnd" cmpd="sng" algn="ctr">
              <a:solidFill>
                <a:srgbClr val="4472C4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4472C4"/>
              </a:solidFill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49.32</c:v>
                </c:pt>
                <c:pt idx="1">
                  <c:v>53.98</c:v>
                </c:pt>
                <c:pt idx="2">
                  <c:v>68.84</c:v>
                </c:pt>
                <c:pt idx="3">
                  <c:v>72.39</c:v>
                </c:pt>
                <c:pt idx="4">
                  <c:v>77.72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STKaiti" panose="02010600040101010101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CCCCC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STKaiti" panose="02010600040101010101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/>
              </a:solidFill>
              <a:latin typeface="STKaiti" panose="02010600040101010101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c4bcf38-7aca-4e50-bfaf-f07afda4c7be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 panose="02010600040101010101" charset="-122"/>
              </a:rPr>
              <a:t>US 用户运营任务方案 — 提频任务</a:t>
            </a:r>
            <a:endParaRPr sz="5400" b="1">
              <a:solidFill>
                <a:srgbClr val="FFFFFF"/>
              </a:solidFill>
              <a:latin typeface="STKaiti" panose="0201060004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 panose="02010600040101010101" charset="-122"/>
              </a:rPr>
              <a:t>李宵霄</a:t>
            </a:r>
            <a:endParaRPr sz="2400">
              <a:solidFill>
                <a:srgbClr val="FFFFFF"/>
              </a:solidFill>
              <a:latin typeface="STKaiti" panose="02010600040101010101" charset="-122"/>
            </a:endParaRPr>
          </a:p>
          <a:p>
            <a:pPr algn="ctr"/>
            <a:r>
              <a:rPr sz="2400">
                <a:solidFill>
                  <a:srgbClr val="FFFFFF"/>
                </a:solidFill>
                <a:latin typeface="STKaiti" panose="02010600040101010101" charset="-122"/>
              </a:rPr>
              <a:t>2026年3月</a:t>
            </a:r>
            <a:endParaRPr sz="2400">
              <a:solidFill>
                <a:srgbClr val="FFFFFF"/>
              </a:solidFill>
              <a:latin typeface="STKaiti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 panose="02010600040101010101" charset="-122"/>
              </a:rPr>
              <a:t>频次现状与提频空间</a:t>
            </a:r>
            <a:endParaRPr sz="40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 panose="02010600040101010101" charset="-122"/>
              </a:rPr>
              <a:t>W07-W10（2026.02.10-03.09）活跃用户消费频次统计</a:t>
            </a:r>
            <a:endParaRPr sz="2000">
              <a:solidFill>
                <a:srgbClr val="444444"/>
              </a:solidFill>
              <a:latin typeface="STKaiti" panose="02010600040101010101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 panose="02010600040101010101" charset="-122"/>
              </a:rPr>
              <a:t>结论：76%用户每周仅消费1次，提频空间巨大</a:t>
            </a:r>
            <a:endParaRPr sz="2800" b="1">
              <a:solidFill>
                <a:srgbClr val="FFFFFF"/>
              </a:solidFill>
              <a:latin typeface="STKaiti" panose="02010600040101010101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408176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1.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76%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 的活跃用户每周仅消费 1 次，仅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8.3%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 用户周消费 ≥3 次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2. 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周活跃用户约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13,716人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（四周均值），提频核心：1次→2-3次/周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17423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0565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 panose="02010600040101010101" charset="-122"/>
              </a:rPr>
              <a:t>周频次分布</a:t>
            </a:r>
            <a:endParaRPr sz="26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08576"/>
          <a:ext cx="2103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周频次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4周均值（人）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占比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累计占比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1次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10,511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76.20%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76.20%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2次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2,067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15.00%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91.20%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3次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671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4.90%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96.10%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4次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279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2.00%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98.10%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5+次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189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1.40%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99.50%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7580376"/>
          <a:ext cx="21031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 panose="02010600040101010101" charset="-122"/>
              </a:rPr>
              <a:t>*数据来源：dwd_t_ord_order_item_d_inc，tenant=LKUS，one_category_name=Drink</a:t>
            </a:r>
            <a:endParaRPr sz="1400">
              <a:solidFill>
                <a:srgbClr val="999999"/>
              </a:solidFill>
              <a:latin typeface="STKaiti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 panose="02010600040101010101" charset="-122"/>
              </a:rPr>
              <a:t>转化漏斗分析</a:t>
            </a:r>
            <a:endParaRPr sz="40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 panose="02010600040101010101" charset="-122"/>
              </a:rPr>
              <a:t>107,301名用户的杯次转化路径追踪</a:t>
            </a:r>
            <a:endParaRPr sz="2000">
              <a:solidFill>
                <a:srgbClr val="444444"/>
              </a:solidFill>
              <a:latin typeface="STKaiti" panose="02010600040101010101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 panose="02010600040101010101" charset="-122"/>
              </a:rPr>
              <a:t>结论：7天是最佳任务周期，3杯是习惯养成拐点</a:t>
            </a:r>
            <a:endParaRPr sz="2800" b="1">
              <a:solidFill>
                <a:srgbClr val="FFFFFF"/>
              </a:solidFill>
              <a:latin typeface="STKaiti" panose="02010600040101010101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408176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1.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7天是关键窗口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：约2/3转化发生在7天内，超7天流失风险大增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2.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3杯是拐点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：3杯后7天转化率从40%跳升至 </a:t>
            </a:r>
            <a:r>
              <a:rPr sz="2000" b="0">
                <a:solidFill>
                  <a:srgbClr val="D32F2F"/>
                </a:solidFill>
                <a:latin typeface="STKaiti" panose="02010600040101010101" charset="-122"/>
              </a:rPr>
              <a:t>51%+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，习惯开始养成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17423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0565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 panose="02010600040101010101" charset="-122"/>
              </a:rPr>
              <a:t>各阶段转化率与平均转化天数</a:t>
            </a:r>
            <a:endParaRPr sz="26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08576"/>
          <a:ext cx="210311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阶段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队列用户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7天转化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14天转化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30天转化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最终转化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均天数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1→2杯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107,301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40.24%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44.83%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49.32%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55.57%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10.4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2→3杯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56,983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40.17%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46.70%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53.98%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62.89%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12.7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3→4杯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33,581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51.18%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59.21%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68.84%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77.76%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10.8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4→5杯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24,325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52.29%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61.86%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72.39%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81.48%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10.6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5→6杯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18,324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57.29%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67.07%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77.72%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85.76%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9.4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7580376"/>
          <a:ext cx="21031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 panose="02010600040101010101" charset="-122"/>
              </a:rPr>
              <a:t>*7天转化率口径：最终转化用户中在7天内完成的比例</a:t>
            </a:r>
            <a:endParaRPr sz="1400">
              <a:solidFill>
                <a:srgbClr val="999999"/>
              </a:solidFill>
              <a:latin typeface="STKaiti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 panose="02010600040101010101" charset="-122"/>
              </a:rPr>
              <a:t>用户分层与任务方案设计</a:t>
            </a:r>
            <a:endParaRPr sz="40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 panose="02010600040101010101" charset="-122"/>
              </a:rPr>
              <a:t>基于近4周消费频次的分层策略，任务周期7天</a:t>
            </a:r>
            <a:endParaRPr sz="2000">
              <a:solidFill>
                <a:srgbClr val="444444"/>
              </a:solidFill>
              <a:latin typeface="STKaiti" panose="02010600040101010101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 panose="02010600040101010101" charset="-122"/>
              </a:rPr>
              <a:t>结论：分Tier 1/Tier 2两层下发，高频不下发</a:t>
            </a:r>
            <a:endParaRPr sz="2800" b="1">
              <a:solidFill>
                <a:srgbClr val="FFFFFF"/>
              </a:solidFill>
              <a:latin typeface="STKaiti" panose="02010600040101010101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408176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1.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Tier 1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（34,278人）：极低频+低频，基线0.34杯/周，50%折扣券激励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2.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Tier 2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（4,399人）：中低频+中频，基线1.43杯/周，免费饮品券激励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17423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0565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 panose="02010600040101010101" charset="-122"/>
              </a:rPr>
              <a:t>频次分层与任务设计</a:t>
            </a:r>
            <a:endParaRPr sz="26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08576"/>
          <a:ext cx="2103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频次层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用户数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占比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周均单量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层级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奖励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极低频 (&lt;0.5/周)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25,011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63.90%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0.25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Tier 1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50%折扣券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低频 (0.5-1/周)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9,267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23.70%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0.58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Tier 1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50%折扣券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中低频 (1-2/周)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3,645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9.30%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1.25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Tier 2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免费饮品券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中频 (2-3/周)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754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1.90%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2.28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Tier 2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免费饮品券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高频 (3+/周)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486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1.20%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4.53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不下发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-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648956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7580376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 panose="02010600040101010101" charset="-122"/>
              </a:rPr>
              <a:t>测算假设</a:t>
            </a:r>
            <a:endParaRPr sz="26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8083296"/>
          <a:ext cx="2103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参数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值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依据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参与率 Tier 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5%（≈1,714人）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极低频活跃度低，预估转化5%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参与率 Tier 2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10%（≈440人）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活跃用户参与意愿更高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杯均价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$4.50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近期平均实收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50%券成本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$1.30/张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基于单杯成本价测算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免费券成本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$2.50/张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基于单杯成本价测算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 panose="02010600040101010101" charset="-122"/>
              </a:rPr>
              <a:t>*高频用户（486人，1.2%）已形成消费习惯，任务无增量价值，不下发避免白送</a:t>
            </a:r>
            <a:endParaRPr sz="1400">
              <a:solidFill>
                <a:srgbClr val="999999"/>
              </a:solidFill>
              <a:latin typeface="STKaiti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 panose="02010600040101010101" charset="-122"/>
              </a:rPr>
              <a:t>方案测算与推荐</a:t>
            </a:r>
            <a:endParaRPr sz="40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 panose="02010600040101010101" charset="-122"/>
              </a:rPr>
              <a:t>方案A（Tier1目标3杯/Tier2目标5杯）vs 方案B（Tier1目标2杯/Tier2目标4杯）</a:t>
            </a:r>
            <a:endParaRPr sz="2000">
              <a:solidFill>
                <a:srgbClr val="444444"/>
              </a:solidFill>
              <a:latin typeface="STKaiti" panose="02010600040101010101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 panose="02010600040101010101" charset="-122"/>
              </a:rPr>
              <a:t>推荐方案A：ROI 15.0x，单杯提频成本仅$0.30</a:t>
            </a:r>
            <a:endParaRPr sz="2800" b="1">
              <a:solidFill>
                <a:srgbClr val="FFFFFF"/>
              </a:solidFill>
              <a:latin typeface="STKaiti" panose="02010600040101010101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9751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1. 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方案A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ROI 15.0x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，方案B仅7.4x — </a:t>
            </a:r>
            <a:r>
              <a:rPr sz="2000" b="0">
                <a:solidFill>
                  <a:srgbClr val="D32F2F"/>
                </a:solidFill>
                <a:latin typeface="STKaiti" panose="02010600040101010101" charset="-122"/>
              </a:rPr>
              <a:t>A高103%</a:t>
            </a:r>
            <a:endParaRPr sz="2000" b="0">
              <a:solidFill>
                <a:srgbClr val="D32F2F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2. 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方案A免费增量占比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67%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，大部分增量来自自然提频而非奖励驱动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3. 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方案A单杯提频成本 </a:t>
            </a:r>
            <a:r>
              <a:rPr sz="2000" b="1">
                <a:solidFill>
                  <a:srgbClr val="333333"/>
                </a:solidFill>
                <a:latin typeface="STKaiti" panose="02010600040101010101" charset="-122"/>
              </a:rPr>
              <a:t>$0.30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，方案B $0.61 — </a:t>
            </a:r>
            <a:r>
              <a:rPr sz="2000" b="0">
                <a:solidFill>
                  <a:srgbClr val="2E7D32"/>
                </a:solidFill>
                <a:latin typeface="STKaiti" panose="02010600040101010101" charset="-122"/>
              </a:rPr>
              <a:t>A省51%</a:t>
            </a:r>
            <a:endParaRPr sz="2000" b="0">
              <a:solidFill>
                <a:srgbClr val="2E7D32"/>
              </a:solidFill>
              <a:latin typeface="STKaiti" panose="0201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74116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67258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 panose="02010600040101010101" charset="-122"/>
              </a:rPr>
              <a:t>Tier 1 测算（5,000人，基线 0.34杯/周）</a:t>
            </a:r>
            <a:endParaRPr sz="26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75504"/>
          <a:ext cx="2103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指标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方案A（目标3杯）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方案B（目标2杯）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增量杯数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960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1,011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完成人数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144 (8.4%)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405 (23.6%)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免费增量占比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70%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38%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奖励成本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 panose="02010600040101010101" charset="-122"/>
                        </a:rPr>
                        <a:t>$187</a:t>
                      </a:r>
                      <a:endParaRPr sz="1800" b="0">
                        <a:solidFill>
                          <a:srgbClr val="2E7D32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$527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净收入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$4,133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$4,023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ROI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23.1x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8.6x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867308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860450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 panose="02010600040101010101" charset="-122"/>
              </a:rPr>
              <a:t>Tier 2 测算（1,100人，基线 1.43杯/周）</a:t>
            </a:r>
            <a:endParaRPr sz="26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9107424"/>
          <a:ext cx="2103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指标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方案A（目标5杯）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方案B（目标4杯）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增量杯数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866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889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完成人数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144 (32.7%)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252 (57.3%)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免费增量占比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63%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43%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奖励成本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 panose="02010600040101010101" charset="-122"/>
                        </a:rPr>
                        <a:t>$360</a:t>
                      </a:r>
                      <a:endParaRPr sz="1800" b="0">
                        <a:solidFill>
                          <a:srgbClr val="2E7D32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$630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净收入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$3,537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$3,371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ROI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10.8x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6.4x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 panose="02010600040101010101" charset="-122"/>
              </a:rPr>
              <a:t>*方案A虽然增量杯数略少4%，但奖励成本低53%，净收入更高</a:t>
            </a:r>
            <a:endParaRPr sz="1400">
              <a:solidFill>
                <a:srgbClr val="999999"/>
              </a:solidFill>
              <a:latin typeface="STKaiti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 panose="02010600040101010101" charset="-122"/>
              </a:rPr>
              <a:t>汇总对比与下一步计划</a:t>
            </a:r>
            <a:endParaRPr sz="40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 panose="02010600040101010101" charset="-122"/>
              </a:rPr>
              <a:t>方案A全面优于方案B，建议先AB验证再全量推广</a:t>
            </a:r>
            <a:endParaRPr sz="2000">
              <a:solidFill>
                <a:srgbClr val="444444"/>
              </a:solidFill>
              <a:latin typeface="STKaiti" panose="02010600040101010101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 panose="02010600040101010101" charset="-122"/>
              </a:rPr>
              <a:t>推荐方案A，分三步落地</a:t>
            </a:r>
            <a:endParaRPr sz="2800" b="1">
              <a:solidFill>
                <a:srgbClr val="FFFFFF"/>
              </a:solidFill>
              <a:latin typeface="STKaiti" panose="02010600040101010101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9751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1. 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Step 1：AB实验验证（1-2周），从 Tier 1 中抽取实验/对照组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2. 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Step 2：灰度上线（1周），确认无负面效果后扩大至全量 Tier 1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 panose="02010600040101010101" charset="-122"/>
              </a:rPr>
              <a:t>3. </a:t>
            </a: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Step 3：全量推广 Tier 1 + Tier 2，持续监控提频效果和ROI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74116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67258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 panose="02010600040101010101" charset="-122"/>
              </a:rPr>
              <a:t>方案汇总对比</a:t>
            </a:r>
            <a:endParaRPr sz="26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75504"/>
          <a:ext cx="210312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指标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方案A（3/5杯）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方案B（2/4杯）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 panose="02010600040101010101" charset="-122"/>
                        </a:rPr>
                        <a:t>对比</a:t>
                      </a:r>
                      <a:endParaRPr sz="2000" b="1">
                        <a:solidFill>
                          <a:srgbClr val="FFFFF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222773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参与用户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2,154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2,154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-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总增量杯数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1,826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1,900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B多4%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总增量收入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$8,217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$8,551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B多4%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总奖励成本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 panose="02010600040101010101" charset="-122"/>
                        </a:rPr>
                        <a:t>$547</a:t>
                      </a:r>
                      <a:endParaRPr sz="1800" b="0">
                        <a:solidFill>
                          <a:srgbClr val="2E7D32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$1,157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 panose="02010600040101010101" charset="-122"/>
                        </a:rPr>
                        <a:t>A省53%</a:t>
                      </a:r>
                      <a:endParaRPr sz="1800" b="0">
                        <a:solidFill>
                          <a:srgbClr val="2E7D32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净收入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$7,670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$7,394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A多4%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ROI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15.0x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7.4x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A高103%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免费增量占比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67%</a:t>
                      </a:r>
                      <a:endParaRPr sz="1800" b="1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40%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 panose="02010600040101010101" charset="-122"/>
                        </a:rPr>
                        <a:t>A高27pp</a:t>
                      </a:r>
                      <a:endParaRPr sz="1800" b="0">
                        <a:solidFill>
                          <a:srgbClr val="D32F2F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单杯提频成本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 panose="02010600040101010101" charset="-122"/>
                        </a:rPr>
                        <a:t>$0.30</a:t>
                      </a:r>
                      <a:endParaRPr sz="1800" b="0">
                        <a:solidFill>
                          <a:srgbClr val="2E7D32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 panose="02010600040101010101" charset="-122"/>
                        </a:rPr>
                        <a:t>$0.61</a:t>
                      </a:r>
                      <a:endParaRPr sz="1800" b="0">
                        <a:solidFill>
                          <a:srgbClr val="333333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 panose="02010600040101010101" charset="-122"/>
                        </a:rPr>
                        <a:t>A省51%</a:t>
                      </a:r>
                      <a:endParaRPr sz="1800" b="0">
                        <a:solidFill>
                          <a:srgbClr val="2E7D32"/>
                        </a:solidFill>
                        <a:latin typeface="STKaiti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958748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951890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 panose="02010600040101010101" charset="-122"/>
              </a:rPr>
              <a:t>风险与注意事项</a:t>
            </a:r>
            <a:endParaRPr sz="2600" b="1">
              <a:solidFill>
                <a:srgbClr val="0F3460"/>
              </a:solidFill>
              <a:latin typeface="STKaiti" panose="0201060004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10021824"/>
            <a:ext cx="21031200" cy="231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1. 测算基于历史转化率，实际参与率可能偏差 → 需AB实验验证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2. 高频用户不下发任务，需监控是否产生负面感知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3. 免费券成本假设$2.50/张，需与财务确认实际COGS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 panose="02010600040101010101" charset="-122"/>
              </a:rPr>
              <a:t>4. 任务完成后的长期留存效果需持续追踪（D14/D30）</a:t>
            </a:r>
            <a:endParaRPr sz="2000" b="0">
              <a:solidFill>
                <a:srgbClr val="333333"/>
              </a:solidFill>
              <a:latin typeface="STKaiti" panose="0201060004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 panose="02010600040101010101" charset="-122"/>
              </a:rPr>
              <a:t>*建议先在Tier 1中AB测试1-2周，验证参与率和ROI假设后再全量推广</a:t>
            </a:r>
            <a:endParaRPr sz="1400">
              <a:solidFill>
                <a:srgbClr val="999999"/>
              </a:solidFill>
              <a:latin typeface="STKaiti" panose="0201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2229</Words>
  <Application>WPS 演示</Application>
  <PresentationFormat>On-screen Show (4:3)</PresentationFormat>
  <Paragraphs>479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Arial</vt:lpstr>
      <vt:lpstr>STKaiti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李宵霄</cp:lastModifiedBy>
  <cp:revision>2</cp:revision>
  <dcterms:created xsi:type="dcterms:W3CDTF">2026-03-12T11:00:30Z</dcterms:created>
  <dcterms:modified xsi:type="dcterms:W3CDTF">2026-03-12T11:00:30Z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4ED6155BBE8FABACCE9CB26930F51968_42</vt:lpwstr>
  </property>
  <property fmtid="{D5CDD505-2E9C-101B-9397-08002B2CF9AE}" pid="3" name="KSOProductBuildVer">
    <vt:lpwstr>2052-7.2.2.8955</vt:lpwstr>
  </property>
</Properties>
</file>