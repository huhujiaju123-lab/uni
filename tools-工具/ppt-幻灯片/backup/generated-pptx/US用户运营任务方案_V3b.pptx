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sz="5400" b="1">
                <a:solidFill>
                  <a:srgbClr val="FFFFFF"/>
                </a:solidFill>
                <a:latin typeface="STKaiti"/>
              </a:rPr>
              <a:t>US用户运营提频任务方案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李宵霄</a:t>
            </a:r>
          </a:p>
          <a:p>
            <a:pPr algn="ctr"/>
            <a:r>
              <a:rPr sz="2400">
                <a:solidFill>
                  <a:srgbClr val="FFFFFF"/>
                </a:solidFill>
                <a:latin typeface="STKaiti"/>
              </a:rP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一、分析背景与用户分层分布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核心问题：用户购买多少杯后留存稳定？「5杯免1杯」是否合理？最优活动设计？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结论：46.57%用户仅买1杯即流失，是最大流失点；仅18.39%用户达到5杯以上，习惯养成门槛高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0">
                <a:solidFill>
                  <a:srgbClr val="333333"/>
                </a:solidFill>
                <a:latin typeface="STKaiti"/>
              </a:rPr>
              <a:t>1杯流失率最高：57,203人仅购买1杯（占46.57%），</a:t>
            </a:r>
            <a:r>
              <a:rPr sz="1800" b="0">
                <a:solidFill>
                  <a:srgbClr val="D32F2F"/>
                </a:solidFill>
                <a:latin typeface="STKaiti"/>
              </a:rPr>
              <a:t>1→2杯转化是ROI最高的干预点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5杯以上为稳定期：累计占比从81.61%(4杯)跳升至85.13%(5杯)，5杯后留存率开始稳定在</a:t>
            </a:r>
            <a:r>
              <a:rPr sz="1800" b="0">
                <a:solidFill>
                  <a:srgbClr val="D32F2F"/>
                </a:solidFill>
                <a:latin typeface="STKaiti"/>
              </a:rPr>
              <a:t>80%+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长尾效应明显：10杯以上用户仅占7.65%，但贡献高频复购和高LTV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8548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3976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累计杯数分布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51248"/>
          <a:ext cx="21031200" cy="4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累计占比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57,203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25,850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21.05%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67.62%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10,363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8.44%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76.06%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6,819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5.55%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81.61%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4,327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3.52%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85.13%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6-7杯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5,441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4.43%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89.56%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8-9杯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3,426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2.79%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92.35%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10-14杯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4,303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3.50%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95.85%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09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15-19杯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1,933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97.42%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891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20+杯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3,163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2.58%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*数据来源：dwd_t_ord_order_item 全量历史订单，仅饮品类目(Drink)，排除测试店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二、转化漏斗分析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用户从第N杯到第N+1杯的转化率与时间窗口分析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3大关键发现：7天是转化黄金窗口、3杯后转化率跳升、转化周期逐步缩短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1700784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7天是关键转化窗口</a:t>
            </a:r>
            <a:r>
              <a:rPr sz="1800" b="0">
                <a:solidFill>
                  <a:srgbClr val="333333"/>
                </a:solidFill>
                <a:latin typeface="STKaiti"/>
              </a:rPr>
              <a:t>：约2/3转化发生在7天内，超过7天未转化的用户流失风险大增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转化加速点在第3杯后</a:t>
            </a:r>
            <a:r>
              <a:rPr sz="1800" b="0">
                <a:solidFill>
                  <a:srgbClr val="333333"/>
                </a:solidFill>
                <a:latin typeface="STKaiti"/>
              </a:rPr>
              <a:t>：7天内转化率从40%跳升至</a:t>
            </a:r>
            <a:r>
              <a:rPr sz="1800" b="0">
                <a:solidFill>
                  <a:srgbClr val="D32F2F"/>
                </a:solidFill>
                <a:latin typeface="STKaiti"/>
              </a:rPr>
              <a:t>51%+</a:t>
            </a:r>
            <a:r>
              <a:rPr sz="1800" b="0">
                <a:solidFill>
                  <a:srgbClr val="333333"/>
                </a:solidFill>
                <a:latin typeface="STKaiti"/>
              </a:rPr>
              <a:t>，说明3杯是习惯养成起点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转化周期逐步缩短</a:t>
            </a:r>
            <a:r>
              <a:rPr sz="1800" b="0">
                <a:solidFill>
                  <a:srgbClr val="333333"/>
                </a:solidFill>
                <a:latin typeface="STKaiti"/>
              </a:rPr>
              <a:t>：2→3杯瓶颈期最长(12.7天)，5→6杯最短(9.4天)，习惯已形成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8548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23976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各阶段转化漏斗数据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4651248"/>
          <a:ext cx="21031199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457"/>
                <a:gridCol w="3004457"/>
                <a:gridCol w="3004457"/>
                <a:gridCol w="3004457"/>
                <a:gridCol w="3004457"/>
                <a:gridCol w="3004457"/>
                <a:gridCol w="3004457"/>
              </a:tblGrid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7天内转化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14天内转化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30天内转化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最终转化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平均转化天数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40.24%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44.83%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49.32%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55.57%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40.17%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46.70%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53.98%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62.89%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12.7天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51.18%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59.21%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68.84%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10.8天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52.29%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61.86%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72.39%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81.48%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10.6天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57.29%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67.07%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77.72%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85.76%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9.4天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214128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7168408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用户生命周期阶段划分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7579888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  <a:gridCol w="5257800"/>
                <a:gridCol w="52578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累计杯数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转化率范围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状态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危险期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53%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最大流失点，必须干预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试用期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仍不稳定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过渡期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3→5杯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74-77%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开始稳定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稳定期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5+杯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80%+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1">
                          <a:solidFill>
                            <a:srgbClr val="333333"/>
                          </a:solidFill>
                          <a:latin typeface="STKaiti"/>
                        </a:rPr>
                        <a:t>习惯形成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*转化率=成功转化到下一杯数的用户占比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三、活动设计建议：阶梯式激励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核心策略：针对不同生命周期阶段设计差异化激励，推动用户从首杯走向忠诚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核心策略：阶梯式激励 — 首杯召回 → 2杯奖励 → 3杯里程碑 → 5杯免费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2176272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1">
                <a:solidFill>
                  <a:srgbClr val="333333"/>
                </a:solidFill>
                <a:latin typeface="STKaiti"/>
              </a:rPr>
              <a:t>P0-首杯后召回</a:t>
            </a:r>
            <a:r>
              <a:rPr sz="1800" b="0">
                <a:solidFill>
                  <a:srgbClr val="333333"/>
                </a:solidFill>
                <a:latin typeface="STKaiti"/>
              </a:rPr>
              <a:t>（最高优先级）：第1杯后3天内推送限时7天优惠券(3折券)，目标7天转化率40%→</a:t>
            </a:r>
            <a:r>
              <a:rPr sz="1800" b="0">
                <a:solidFill>
                  <a:srgbClr val="D32F2F"/>
                </a:solidFill>
                <a:latin typeface="STKaiti"/>
              </a:rPr>
              <a:t>50%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1">
                <a:solidFill>
                  <a:srgbClr val="333333"/>
                </a:solidFill>
                <a:latin typeface="STKaiti"/>
              </a:rPr>
              <a:t>P1-第2杯奖励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：第2杯后立即发放第3杯5折券，跨过12.7天瓶颈期，缩短2→3杯周期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1">
                <a:solidFill>
                  <a:srgbClr val="333333"/>
                </a:solidFill>
                <a:latin typeface="STKaiti"/>
              </a:rPr>
              <a:t>P2-3杯里程碑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：第3杯达成后发放2.99券+进度条展示，固化习惯认知，提升参与感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4. </a:t>
            </a:r>
            <a:r>
              <a:rPr sz="1800" b="1">
                <a:solidFill>
                  <a:srgbClr val="333333"/>
                </a:solidFill>
                <a:latin typeface="STKaiti"/>
              </a:rPr>
              <a:t>P3-5杯免1杯</a:t>
            </a:r>
            <a:r>
              <a:rPr sz="1800" b="0">
                <a:solidFill>
                  <a:srgbClr val="333333"/>
                </a:solidFill>
                <a:latin typeface="STKaiti"/>
              </a:rPr>
              <a:t>：第5杯达成奖励免费1杯，作为忠诚奖励而非拉动手段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6097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71525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具体活动设计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26736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优先级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活动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触发时机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内容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目的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预期效果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首杯后召回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第1杯后3天内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限时7天优惠券(3折券)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突破最大流失点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7天转化率 40%→50%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P1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第2杯后立即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第3杯5折券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跨过12.7天瓶颈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缩短2→3杯周期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P2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3杯里程碑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第3杯达成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2.99券+进度条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固化习惯认知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提升用户参与感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P3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5杯免1杯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第5杯达成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免费1杯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忠诚奖励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提升用户满意度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30961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726389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活动参数建议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7675376"/>
          <a:ext cx="210312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0400"/>
                <a:gridCol w="7010400"/>
                <a:gridCol w="7010400"/>
              </a:tblGrid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参数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建议值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依据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优惠券有效期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7天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2/3转化发生在7天内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首杯后触达时间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3天内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越早干预越好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里程碑设置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3杯、5杯、10杯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对应习惯养成关键节点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活动周期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长期有效（前期部分人群展示）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覆盖完整转化周期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*活动优先级基于流失率×用户基数的ROI排序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4000" b="1">
                <a:solidFill>
                  <a:srgbClr val="0F3460"/>
                </a:solidFill>
                <a:latin typeface="STKaiti"/>
              </a:rPr>
              <a:t>四、预期收益与后续节奏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43000"/>
            <a:ext cx="21031200" cy="27432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234440"/>
            <a:ext cx="21031200" cy="426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STKaiti"/>
              </a:rPr>
              <a:t>策略上线后的转化率提升预估及实施时间表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61160"/>
            <a:ext cx="21031200" cy="694944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52600"/>
            <a:ext cx="20665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TKaiti"/>
              </a:rPr>
              <a:t>总结：3杯后转化率稳定70%+，5杯达80%+；最关键干预点是1→2杯（46.57%流失），阶梯激励是最优设计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56104"/>
            <a:ext cx="21031200" cy="2176272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493264"/>
            <a:ext cx="2066544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1. </a:t>
            </a:r>
            <a:r>
              <a:rPr sz="1800" b="0">
                <a:solidFill>
                  <a:srgbClr val="333333"/>
                </a:solidFill>
                <a:latin typeface="STKaiti"/>
              </a:rPr>
              <a:t>用户习惯稳定点：</a:t>
            </a:r>
            <a:r>
              <a:rPr sz="1800" b="0">
                <a:solidFill>
                  <a:srgbClr val="D32F2F"/>
                </a:solidFill>
                <a:latin typeface="STKaiti"/>
              </a:rPr>
              <a:t>3杯后转化率开始稳定在70%+</a:t>
            </a:r>
            <a:r>
              <a:rPr sz="1800" b="0">
                <a:solidFill>
                  <a:srgbClr val="333333"/>
                </a:solidFill>
                <a:latin typeface="STKaiti"/>
              </a:rPr>
              <a:t>，5杯后达到80%+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2. </a:t>
            </a:r>
            <a:r>
              <a:rPr sz="1800" b="0">
                <a:solidFill>
                  <a:srgbClr val="333333"/>
                </a:solidFill>
                <a:latin typeface="STKaiti"/>
              </a:rPr>
              <a:t>「5杯免1杯」定位：可以做，但更适合作为奖励而非拉动——真正的杠杆在前3杯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3. </a:t>
            </a:r>
            <a:r>
              <a:rPr sz="1800" b="0">
                <a:solidFill>
                  <a:srgbClr val="333333"/>
                </a:solidFill>
                <a:latin typeface="STKaiti"/>
              </a:rPr>
              <a:t>最关键干预点：1→2杯（46.57%流失），是ROI最高的干预时机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>
                <a:solidFill>
                  <a:srgbClr val="333333"/>
                </a:solidFill>
                <a:latin typeface="STKaiti"/>
              </a:rPr>
              <a:t>4. </a:t>
            </a:r>
            <a:r>
              <a:rPr sz="1800" b="0">
                <a:solidFill>
                  <a:srgbClr val="333333"/>
                </a:solidFill>
                <a:latin typeface="STKaiti"/>
              </a:rPr>
              <a:t>最优活动设计：阶梯式激励 — 首杯召回 → 2杯奖励 → 3杯里程碑 → 5杯免费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76097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71525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预期收益测算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371600" y="5126736"/>
          <a:ext cx="21031200" cy="2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  <a:gridCol w="3505200"/>
                <a:gridCol w="3505200"/>
                <a:gridCol w="3505200"/>
              </a:tblGrid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阶段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队列用户数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现状转化率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现状用户数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策略上线后预期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STKaiti"/>
                        </a:rPr>
                        <a:t>策略调整后用户</a:t>
                      </a:r>
                    </a:p>
                  </a:txBody>
                  <a:tcPr anchor="ctr" marL="101917" marR="101917" marT="51117" marB="51117">
                    <a:solidFill>
                      <a:srgbClr val="222773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1→2杯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107,301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59,627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66%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157,705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2→3杯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56,983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63%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35,837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68%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163,285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3→4杯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33,581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78%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26,113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80%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191,834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66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4→5杯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24,325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81%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19,820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82%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198,376</a:t>
                      </a:r>
                    </a:p>
                  </a:txBody>
                  <a:tcPr anchor="ctr" marL="101917" marR="101917" marT="51117" marB="51117">
                    <a:solidFill>
                      <a:srgbClr val="F5F7FA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  <a:tr h="396670"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5→6杯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18,324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86%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15,715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D32F2F"/>
                          </a:solidFill>
                          <a:latin typeface="STKaiti"/>
                        </a:rPr>
                        <a:t>87%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STKaiti"/>
                        </a:rPr>
                        <a:t>208,670</a:t>
                      </a:r>
                    </a:p>
                  </a:txBody>
                  <a:tcPr anchor="ctr" marL="101917" marR="101917" marT="51117" marB="51117">
                    <a:solidFill>
                      <a:srgbClr val="FFFFFF"/>
                    </a:solidFill>
                    <a:lnL w="12700" cap="flat" cmpd="sng">
                      <a:solidFill>
                        <a:srgbClr val="E0E0E0"/>
                      </a:solidFill>
                    </a:lnL>
                    <a:lnR w="12700" cap="flat" cmpd="sng">
                      <a:solidFill>
                        <a:srgbClr val="E0E0E0"/>
                      </a:solidFill>
                    </a:lnR>
                    <a:lnT w="12700" cap="flat" cmpd="sng">
                      <a:solidFill>
                        <a:srgbClr val="E0E0E0"/>
                      </a:solidFill>
                    </a:lnT>
                    <a:lnB w="12700" cap="flat" cmpd="sng">
                      <a:solidFill>
                        <a:srgbClr val="E0E0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1371600" y="7689616"/>
            <a:ext cx="45720" cy="274320"/>
          </a:xfrm>
          <a:prstGeom prst="rect">
            <a:avLst/>
          </a:prstGeom>
          <a:solidFill>
            <a:srgbClr val="222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7643896"/>
            <a:ext cx="2103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200" b="1">
                <a:solidFill>
                  <a:srgbClr val="0F3460"/>
                </a:solidFill>
                <a:latin typeface="STKaiti"/>
              </a:rPr>
              <a:t>后续节奏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8055376"/>
            <a:ext cx="2103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1. 26年W5：确认任务方案及产品实现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2. 26年W6：完成策略配置和实验展示资源位曝光及站外push资源进行策略实验上线</a:t>
            </a:r>
          </a:p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STKaiti"/>
              </a:rPr>
              <a:t>3. 26年W7：评估策略收益进行策略迭代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13262616"/>
            <a:ext cx="2103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400">
                <a:solidFill>
                  <a:srgbClr val="999999"/>
                </a:solidFill>
                <a:latin typeface="STKaiti"/>
              </a:rPr>
              <a:t>*预期收益基于转化率提升10pp的保守假设；实际效果需通过AB实验验证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