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222773"/>
            </a:solidFill>
          </c:spPr>
          <c:cat>
            <c:strRef>
              <c:f>Sheet1!$A$2:$A$6</c:f>
              <c:strCache>
                <c:ptCount val="5"/>
                <c:pt idx="0">
                  <c:v>1次</c:v>
                </c:pt>
                <c:pt idx="1">
                  <c:v>2次</c:v>
                </c:pt>
                <c:pt idx="2">
                  <c:v>3次</c:v>
                </c:pt>
                <c:pt idx="3">
                  <c:v>4次</c:v>
                </c:pt>
                <c:pt idx="4">
                  <c:v>5+次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10511</c:v>
                </c:pt>
                <c:pt idx="1">
                  <c:v>2067</c:v>
                </c:pt>
                <c:pt idx="2">
                  <c:v>671</c:v>
                </c:pt>
                <c:pt idx="3">
                  <c:v>279</c:v>
                </c:pt>
                <c:pt idx="4">
                  <c:v>189</c:v>
                </c:pt>
              </c:numCache>
            </c:numRef>
          </c:val>
        </c:ser>
        <c:dLbls>
          <c:numFmt sourceLinked="0"/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STKait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2200" b="1">
                <a:solidFill>
                  <a:srgbClr val="333333"/>
                </a:solidFill>
                <a:latin typeface="STKaiti"/>
              </a:rPr>
              <a:t>7天 vs 30天转化率对比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7天转化率</c:v>
                </c:pt>
              </c:strCache>
            </c:strRef>
          </c:tx>
          <c:spPr>
            <a:ln w="31750">
              <a:solidFill>
                <a:srgbClr val="222773"/>
              </a:solidFill>
            </a:ln>
          </c:spPr>
          <c:cat>
            <c:strRef>
              <c:f>Sheet1!$A$2:$A$6</c:f>
              <c:strCache>
                <c:ptCount val="5"/>
                <c:pt idx="0">
                  <c:v>1→2杯</c:v>
                </c:pt>
                <c:pt idx="1">
                  <c:v>2→3杯</c:v>
                </c:pt>
                <c:pt idx="2">
                  <c:v>3→4杯</c:v>
                </c:pt>
                <c:pt idx="3">
                  <c:v>4→5杯</c:v>
                </c:pt>
                <c:pt idx="4">
                  <c:v>5→6杯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40.24</c:v>
                </c:pt>
                <c:pt idx="1">
                  <c:v>40.17</c:v>
                </c:pt>
                <c:pt idx="2">
                  <c:v>51.18</c:v>
                </c:pt>
                <c:pt idx="3">
                  <c:v>52.29</c:v>
                </c:pt>
                <c:pt idx="4">
                  <c:v>57.29</c:v>
                </c:pt>
              </c:numCache>
            </c:numRef>
          </c:val>
          <c:smooth val="0"/>
          <c:marker>
            <c:symbol val="circle"/>
            <c:size val="8"/>
            <c:spPr>
              <a:solidFill>
                <a:srgbClr val="222773"/>
              </a:solidFill>
            </c:spPr>
          </c:marke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30天转化率</c:v>
                </c:pt>
              </c:strCache>
            </c:strRef>
          </c:tx>
          <c:spPr>
            <a:ln w="31750">
              <a:solidFill>
                <a:srgbClr val="4472C4"/>
              </a:solidFill>
            </a:ln>
          </c:spPr>
          <c:cat>
            <c:strRef>
              <c:f>Sheet1!$A$2:$A$6</c:f>
              <c:strCache>
                <c:ptCount val="5"/>
                <c:pt idx="0">
                  <c:v>1→2杯</c:v>
                </c:pt>
                <c:pt idx="1">
                  <c:v>2→3杯</c:v>
                </c:pt>
                <c:pt idx="2">
                  <c:v>3→4杯</c:v>
                </c:pt>
                <c:pt idx="3">
                  <c:v>4→5杯</c:v>
                </c:pt>
                <c:pt idx="4">
                  <c:v>5→6杯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49.32</c:v>
                </c:pt>
                <c:pt idx="1">
                  <c:v>53.98</c:v>
                </c:pt>
                <c:pt idx="2">
                  <c:v>68.84</c:v>
                </c:pt>
                <c:pt idx="3">
                  <c:v>72.39</c:v>
                </c:pt>
                <c:pt idx="4">
                  <c:v>77.72</c:v>
                </c:pt>
              </c:numCache>
            </c:numRef>
          </c:val>
          <c:smooth val="0"/>
          <c:marker>
            <c:symbol val="circle"/>
            <c:size val="8"/>
            <c:spPr>
              <a:solidFill>
                <a:srgbClr val="4472C4"/>
              </a:solidFill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600">
              <a:latin typeface="STKait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2200" b="1">
                <a:solidFill>
                  <a:srgbClr val="333333"/>
                </a:solidFill>
                <a:latin typeface="STKaiti"/>
              </a:rPr>
              <a:t>参与率变化 vs ROI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方案A ROI</c:v>
                </c:pt>
              </c:strCache>
            </c:strRef>
          </c:tx>
          <c:spPr>
            <a:ln w="31750">
              <a:solidFill>
                <a:srgbClr val="222773"/>
              </a:solidFill>
            </a:ln>
          </c:spPr>
          <c:cat>
            <c:strRef>
              <c:f>Sheet1!$A$2:$A$6</c:f>
              <c:strCache>
                <c:ptCount val="5"/>
                <c:pt idx="0">
                  <c:v>3%/6%</c:v>
                </c:pt>
                <c:pt idx="1">
                  <c:v>4%/8%</c:v>
                </c:pt>
                <c:pt idx="2">
                  <c:v>5%/10%</c:v>
                </c:pt>
                <c:pt idx="3">
                  <c:v>6%/12%</c:v>
                </c:pt>
                <c:pt idx="4">
                  <c:v>8%/16%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14.0</c:v>
                </c:pt>
                <c:pt idx="1">
                  <c:v>14.0</c:v>
                </c:pt>
                <c:pt idx="2">
                  <c:v>15.0</c:v>
                </c:pt>
                <c:pt idx="3">
                  <c:v>14.0</c:v>
                </c:pt>
                <c:pt idx="4">
                  <c:v>14.0</c:v>
                </c:pt>
              </c:numCache>
            </c:numRef>
          </c:val>
          <c:smooth val="0"/>
          <c:marker>
            <c:symbol val="circle"/>
            <c:size val="8"/>
            <c:spPr>
              <a:solidFill>
                <a:srgbClr val="222773"/>
              </a:solidFill>
            </c:spPr>
          </c:marke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方案B ROI</c:v>
                </c:pt>
              </c:strCache>
            </c:strRef>
          </c:tx>
          <c:spPr>
            <a:ln w="31750">
              <a:solidFill>
                <a:srgbClr val="4472C4"/>
              </a:solidFill>
            </a:ln>
          </c:spPr>
          <c:cat>
            <c:strRef>
              <c:f>Sheet1!$A$2:$A$6</c:f>
              <c:strCache>
                <c:ptCount val="5"/>
                <c:pt idx="0">
                  <c:v>3%/6%</c:v>
                </c:pt>
                <c:pt idx="1">
                  <c:v>4%/8%</c:v>
                </c:pt>
                <c:pt idx="2">
                  <c:v>5%/10%</c:v>
                </c:pt>
                <c:pt idx="3">
                  <c:v>6%/12%</c:v>
                </c:pt>
                <c:pt idx="4">
                  <c:v>8%/16%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7.4</c:v>
                </c:pt>
                <c:pt idx="1">
                  <c:v>7.4</c:v>
                </c:pt>
                <c:pt idx="2">
                  <c:v>7.4</c:v>
                </c:pt>
                <c:pt idx="3">
                  <c:v>7.4</c:v>
                </c:pt>
                <c:pt idx="4">
                  <c:v>7.4</c:v>
                </c:pt>
              </c:numCache>
            </c:numRef>
          </c:val>
          <c:smooth val="0"/>
          <c:marker>
            <c:symbol val="circle"/>
            <c:size val="8"/>
            <c:spPr>
              <a:solidFill>
                <a:srgbClr val="4472C4"/>
              </a:solidFill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600">
              <a:latin typeface="STKait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US 用户运营任务方案 — 提频任务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频次现状与提频空间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W07-W10（2026.02.10-03.09）活跃用户消费频次统计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结论：76%用户每周仅消费1次，且4周内未自然改善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408176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76%</a:t>
            </a:r>
            <a:r>
              <a:rPr sz="2000" b="0">
                <a:solidFill>
                  <a:srgbClr val="333333"/>
                </a:solidFill>
                <a:latin typeface="STKaiti"/>
              </a:rPr>
              <a:t> 的活跃用户每周仅消费 1 次，仅 </a:t>
            </a:r>
            <a:r>
              <a:rPr sz="2000" b="1">
                <a:solidFill>
                  <a:srgbClr val="333333"/>
                </a:solidFill>
                <a:latin typeface="STKaiti"/>
              </a:rPr>
              <a:t>8.3%</a:t>
            </a:r>
            <a:r>
              <a:rPr sz="2000" b="0">
                <a:solidFill>
                  <a:srgbClr val="333333"/>
                </a:solidFill>
                <a:latin typeface="STKaiti"/>
              </a:rPr>
              <a:t> 用户周消费 ≥3 次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W07→W10 单次用户占比从 75.5% 微升至 75.9%，</a:t>
            </a:r>
            <a:r>
              <a:rPr sz="2000" b="1">
                <a:solidFill>
                  <a:srgbClr val="333333"/>
                </a:solidFill>
                <a:latin typeface="STKaiti"/>
              </a:rPr>
              <a:t>自然提频未发生</a:t>
            </a:r>
            <a:r>
              <a:rPr sz="2000" b="0">
                <a:solidFill>
                  <a:srgbClr val="333333"/>
                </a:solidFill>
                <a:latin typeface="STKaiti"/>
              </a:rPr>
              <a:t>，需主动干预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7423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10565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周频次分布与趋势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08576"/>
          <a:ext cx="21031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  <a:gridCol w="2628900"/>
                <a:gridCol w="2628900"/>
                <a:gridCol w="2628900"/>
                <a:gridCol w="26289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周频次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W07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W08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W09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W10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4周均值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趋势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10,157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9,923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10,317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11,648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10,511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333333"/>
                          </a:solidFill>
                          <a:latin typeface="STKaiti"/>
                        </a:rPr>
                        <a:t>76.2%</a:t>
                      </a:r>
                    </a:p>
                  </a:txBody>
                  <a:tcPr anchor="ctr" marL="101917" marR="101917" marT="51117" marB="51117">
                    <a:solidFill>
                      <a:srgbClr val="FFEBEE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↗ 微升</a:t>
                      </a:r>
                    </a:p>
                  </a:txBody>
                  <a:tcPr anchor="ctr" marL="101917" marR="101917" marT="51117" marB="51117">
                    <a:solidFill>
                      <a:srgbClr val="FFEBEE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2次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2,196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1,943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1,824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2,303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2,067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15.0%</a:t>
                      </a:r>
                    </a:p>
                  </a:txBody>
                  <a:tcPr anchor="ctr" marL="101917" marR="101917" marT="51117" marB="51117">
                    <a:solidFill>
                      <a:srgbClr val="FFF8E1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→ 稳定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653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643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589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799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4.9%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→ 稳定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4次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284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212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352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279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→ 稳定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5+次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1.4%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→ 稳定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0" y="7580376"/>
          <a:ext cx="21031200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*数据来源：dwd_t_ord_order_item_d_inc，tenant=LKUS，Drink品类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转化漏斗分析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107,301名用户的杯次转化路径追踪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结论：7天是最佳任务周期，3杯是习惯养成拐点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408176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7天是关键窗口</a:t>
            </a:r>
            <a:r>
              <a:rPr sz="2000" b="0">
                <a:solidFill>
                  <a:srgbClr val="333333"/>
                </a:solidFill>
                <a:latin typeface="STKaiti"/>
              </a:rPr>
              <a:t>：约2/3转化发生在7天内，超7天流失风险大增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1">
                <a:solidFill>
                  <a:srgbClr val="333333"/>
                </a:solidFill>
                <a:latin typeface="STKaiti"/>
              </a:rPr>
              <a:t>3杯是拐点</a:t>
            </a:r>
            <a:r>
              <a:rPr sz="2000" b="0">
                <a:solidFill>
                  <a:srgbClr val="333333"/>
                </a:solidFill>
                <a:latin typeface="STKaiti"/>
              </a:rPr>
              <a:t>：3杯后7天转化率从40%跳升至 </a:t>
            </a:r>
            <a:r>
              <a:rPr sz="2000" b="0">
                <a:solidFill>
                  <a:srgbClr val="D32F2F"/>
                </a:solidFill>
                <a:latin typeface="STKaiti"/>
              </a:rPr>
              <a:t>51%+</a:t>
            </a:r>
            <a:r>
              <a:rPr sz="2000" b="0">
                <a:solidFill>
                  <a:srgbClr val="333333"/>
                </a:solidFill>
                <a:latin typeface="STKaiti"/>
              </a:rPr>
              <a:t>，习惯开始养成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7423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10565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各阶段转化率与平均转化天数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08576"/>
          <a:ext cx="210311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队列用户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7天转化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14天转化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30天转化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最终转化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均天数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40.24%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44.83%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49.32%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55.57%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10.4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40.17%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46.70%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53.98%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62.89%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12.7</a:t>
                      </a:r>
                    </a:p>
                  </a:txBody>
                  <a:tcPr anchor="ctr" marL="101917" marR="101917" marT="51117" marB="51117">
                    <a:solidFill>
                      <a:srgbClr val="FFEBEE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51.18%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59.21%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68.84%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77.76%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10.8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52.29%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61.86%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72.39%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81.48%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10.6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57.29%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67.07%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77.72%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85.76%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9.4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0" y="7580376"/>
          <a:ext cx="21031200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*转化率口径：最终转化用户中在N天内完成的比例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用户分层与任务方案设计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基于近4周消费频次的分层策略，任务周期7天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结论：分Tier 1/Tier 2两层下发，高频不下发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408176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Tier 1</a:t>
            </a:r>
            <a:r>
              <a:rPr sz="2000" b="0">
                <a:solidFill>
                  <a:srgbClr val="333333"/>
                </a:solidFill>
                <a:latin typeface="STKaiti"/>
              </a:rPr>
              <a:t>（34,278人）：极低频+低频，基线0.34杯/周，50%折扣券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1">
                <a:solidFill>
                  <a:srgbClr val="333333"/>
                </a:solidFill>
                <a:latin typeface="STKaiti"/>
              </a:rPr>
              <a:t>Tier 2</a:t>
            </a:r>
            <a:r>
              <a:rPr sz="2000" b="0">
                <a:solidFill>
                  <a:srgbClr val="333333"/>
                </a:solidFill>
                <a:latin typeface="STKaiti"/>
              </a:rPr>
              <a:t>（4,399人）：中低频+中频，基线1.43杯/周，免费饮品券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7423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10565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频次分层与任务设计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08576"/>
          <a:ext cx="21031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频次层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周均单量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层级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奖励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极低频 (&lt;0.5/周)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25,011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63.90%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0.25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1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50%折扣券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低频 (0.5-1/周)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9,267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23.70%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0.58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1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50%折扣券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中低频 (1-2/周)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3,645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9.30%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1.25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2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免费饮品券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中频 (2-3/周)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754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1.90%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2.28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2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免费饮品券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高频 (3+/周)</a:t>
                      </a:r>
                    </a:p>
                  </a:txBody>
                  <a:tcPr anchor="ctr" marL="101917" marR="101917" marT="51117" marB="51117">
                    <a:solidFill>
                      <a:srgbClr val="FFEBEE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486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1.20%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4.53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不下发</a:t>
                      </a:r>
                    </a:p>
                  </a:txBody>
                  <a:tcPr anchor="ctr" marL="101917" marR="101917" marT="51117" marB="51117">
                    <a:solidFill>
                      <a:srgbClr val="FFEBEE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64895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758037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测算假设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8083296"/>
          <a:ext cx="21031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参数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值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依据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参与率 Tier 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5%（≈1,714人）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极低频活跃度低，预估转化5%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参与率 Tier 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10%（≈440人）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活跃用户参与意愿更高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杯均价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$4.50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近期平均实收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50%券成本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$1.30/张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基于单杯成本价测算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免费券成本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$2.50/张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基于单杯成本价测算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*高频用户已形成消费习惯，任务无增量价值，不下发避免白送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方案测算与推荐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方案A（3/5杯）vs 方案B（2/4杯）分层测算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推荐方案A：ROI 15.0x，单杯提频成本仅$0.30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408176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0">
                <a:solidFill>
                  <a:srgbClr val="333333"/>
                </a:solidFill>
                <a:latin typeface="STKaiti"/>
              </a:rPr>
              <a:t>方案A </a:t>
            </a:r>
            <a:r>
              <a:rPr sz="2000" b="1">
                <a:solidFill>
                  <a:srgbClr val="333333"/>
                </a:solidFill>
                <a:latin typeface="STKaiti"/>
              </a:rPr>
              <a:t>ROI 15.0x</a:t>
            </a:r>
            <a:r>
              <a:rPr sz="2000" b="0">
                <a:solidFill>
                  <a:srgbClr val="333333"/>
                </a:solidFill>
                <a:latin typeface="STKaiti"/>
              </a:rPr>
              <a:t>，方案B仅7.4x — </a:t>
            </a:r>
            <a:r>
              <a:rPr sz="2000" b="0">
                <a:solidFill>
                  <a:srgbClr val="D32F2F"/>
                </a:solidFill>
                <a:latin typeface="STKaiti"/>
              </a:rPr>
              <a:t>A高103%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A的核心优势：免费增量占比 </a:t>
            </a:r>
            <a:r>
              <a:rPr sz="2000" b="1">
                <a:solidFill>
                  <a:srgbClr val="333333"/>
                </a:solidFill>
                <a:latin typeface="STKaiti"/>
              </a:rPr>
              <a:t>67%</a:t>
            </a:r>
            <a:r>
              <a:rPr sz="2000" b="0">
                <a:solidFill>
                  <a:srgbClr val="333333"/>
                </a:solidFill>
                <a:latin typeface="STKaiti"/>
              </a:rPr>
              <a:t>，大部分增量来自自然提频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7423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10565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Tier 1 测算（5,000人，基线 0.34杯/周）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08576"/>
          <a:ext cx="2103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方案A（目标3杯）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方案B（目标2杯）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增量杯数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960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1,011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完成人数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144 (8.4%)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405 (23.6%)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免费增量占比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70%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奖励成本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$187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$527</a:t>
                      </a:r>
                    </a:p>
                  </a:txBody>
                  <a:tcPr anchor="ctr" marL="101917" marR="101917" marT="51117" marB="51117">
                    <a:solidFill>
                      <a:srgbClr val="FFEBEE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净收入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$4,133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$4,023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ROI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23.1x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8.6x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810615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803757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Tier 2 测算（1,100人，基线 1.43杯/周）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8540496"/>
          <a:ext cx="2103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方案A（目标5杯）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方案B（目标4杯）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增量杯数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866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889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完成人数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144 (32.7%)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252 (57.3%)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免费增量占比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63%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奖励成本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$360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$630</a:t>
                      </a:r>
                    </a:p>
                  </a:txBody>
                  <a:tcPr anchor="ctr" marL="101917" marR="101917" marT="51117" marB="51117">
                    <a:solidFill>
                      <a:srgbClr val="FFEBEE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净收入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$3,537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$3,371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ROI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10.8x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6.4x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*方案A虽增量杯数略少4%，但奖励成本低53%，净收入更高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敏感性分析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参与率波动对ROI和净收入的影响 — 压力测试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结论：即使参与率降至3%，方案A仍优于方案B的基准情景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408176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0">
                <a:solidFill>
                  <a:srgbClr val="333333"/>
                </a:solidFill>
                <a:latin typeface="STKaiti"/>
              </a:rPr>
              <a:t>方案A的ROI在参与率3%-8%区间始终 </a:t>
            </a:r>
            <a:r>
              <a:rPr sz="2000" b="1">
                <a:solidFill>
                  <a:srgbClr val="333333"/>
                </a:solidFill>
                <a:latin typeface="STKaiti"/>
              </a:rPr>
              <a:t>≥12x</a:t>
            </a:r>
            <a:r>
              <a:rPr sz="2000" b="0">
                <a:solidFill>
                  <a:srgbClr val="333333"/>
                </a:solidFill>
                <a:latin typeface="STKaiti"/>
              </a:rPr>
              <a:t>，抗风险能力强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盈亏平衡点极低：只要参与率 &gt;1%，方案A即产生正净收入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7423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10565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方案A 敏感性分析（参与率变化）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08576"/>
          <a:ext cx="210311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参与率(T1/T2)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参与人数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增量杯数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增量收入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奖励成本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净收入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ROI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3%/6%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1,292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1,095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$4,930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$328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333333"/>
                          </a:solidFill>
                          <a:latin typeface="STKaiti"/>
                        </a:rPr>
                        <a:t>$4,602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14.0x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4%/8%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1,723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1,460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$6,573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$437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333333"/>
                          </a:solidFill>
                          <a:latin typeface="STKaiti"/>
                        </a:rPr>
                        <a:t>$6,136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14.0x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333333"/>
                          </a:solidFill>
                          <a:latin typeface="STKaiti"/>
                        </a:rPr>
                        <a:t>5%/10% (基准)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2,154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1,826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$8,217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$547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333333"/>
                          </a:solidFill>
                          <a:latin typeface="STKaiti"/>
                        </a:rPr>
                        <a:t>$7,670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14.0x</a:t>
                      </a:r>
                    </a:p>
                  </a:txBody>
                  <a:tcPr anchor="ctr" marL="101917" marR="101917" marT="51117" marB="51117">
                    <a:solidFill>
                      <a:srgbClr val="E3F2FD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6%/12%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2,584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2,191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$9,860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$656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333333"/>
                          </a:solidFill>
                          <a:latin typeface="STKaiti"/>
                        </a:rPr>
                        <a:t>$9,204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14.0x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8%/16%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3,446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2,921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$13,147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$875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333333"/>
                          </a:solidFill>
                          <a:latin typeface="STKaiti"/>
                        </a:rPr>
                        <a:t>$12,272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14.0x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0" y="7580376"/>
          <a:ext cx="21031200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*ROI = 净收入/奖励成本；方案A的ROI对参与率不敏感，因免费增量占比高（67%）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汇总对比与下一步计划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方案A全面优于方案B，建议AB验证后分步推广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推荐方案A，分三步落地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9751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0">
                <a:solidFill>
                  <a:srgbClr val="333333"/>
                </a:solidFill>
                <a:latin typeface="STKaiti"/>
              </a:rPr>
              <a:t>Step 1：</a:t>
            </a:r>
            <a:r>
              <a:rPr sz="2000" b="1">
                <a:solidFill>
                  <a:srgbClr val="333333"/>
                </a:solidFill>
                <a:latin typeface="STKaiti"/>
              </a:rPr>
              <a:t>AB实验</a:t>
            </a:r>
            <a:r>
              <a:rPr sz="2000" b="0">
                <a:solidFill>
                  <a:srgbClr val="333333"/>
                </a:solidFill>
                <a:latin typeface="STKaiti"/>
              </a:rPr>
              <a:t>（1-2周）— Tier 1 中 50%实验/50%对照，验证参与率和ROI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Step 2：</a:t>
            </a:r>
            <a:r>
              <a:rPr sz="2000" b="1">
                <a:solidFill>
                  <a:srgbClr val="333333"/>
                </a:solidFill>
                <a:latin typeface="STKaiti"/>
              </a:rPr>
              <a:t>灰度上线</a:t>
            </a:r>
            <a:r>
              <a:rPr sz="2000" b="0">
                <a:solidFill>
                  <a:srgbClr val="333333"/>
                </a:solidFill>
                <a:latin typeface="STKaiti"/>
              </a:rPr>
              <a:t>（1周）— 确认无负面效果后全量 Tier 1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0">
                <a:solidFill>
                  <a:srgbClr val="333333"/>
                </a:solidFill>
                <a:latin typeface="STKaiti"/>
              </a:rPr>
              <a:t>Step 3：</a:t>
            </a:r>
            <a:r>
              <a:rPr sz="2000" b="1">
                <a:solidFill>
                  <a:srgbClr val="333333"/>
                </a:solidFill>
                <a:latin typeface="STKaiti"/>
              </a:rPr>
              <a:t>全量推广</a:t>
            </a:r>
            <a:r>
              <a:rPr sz="2000" b="0">
                <a:solidFill>
                  <a:srgbClr val="333333"/>
                </a:solidFill>
                <a:latin typeface="STKaiti"/>
              </a:rPr>
              <a:t> Tier 1 + Tier 2，持续监控D14/D30留存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4116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67258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方案汇总对比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75504"/>
          <a:ext cx="210312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方案A（3/5杯）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方案B（2/4杯）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对比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参与用户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2,154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2,154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总增量杯数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1,826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1,900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B多4%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总奖励成本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$547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$1,157</a:t>
                      </a:r>
                    </a:p>
                  </a:txBody>
                  <a:tcPr anchor="ctr" marL="101917" marR="101917" marT="51117" marB="51117">
                    <a:solidFill>
                      <a:srgbClr val="FFEBEE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A省53%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净收入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$7,670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$7,394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A多4%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ROI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15.0x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7.4x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A高103%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免费增量占比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67%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A高27pp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单杯提频成本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$0.30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$0.61</a:t>
                      </a:r>
                    </a:p>
                  </a:txBody>
                  <a:tcPr anchor="ctr" marL="101917" marR="101917" marT="51117" marB="51117">
                    <a:solidFill>
                      <a:srgbClr val="FFEBEE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A省51%</a:t>
                      </a:r>
                    </a:p>
                  </a:txBody>
                  <a:tcPr anchor="ctr" marL="101917" marR="101917" marT="51117" marB="51117">
                    <a:solidFill>
                      <a:srgbClr val="E8F5E9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913028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906170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风险与注意事项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9564624"/>
            <a:ext cx="21031200" cy="231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1. 测算基于历史转化率假设，实际参与率可能偏差 → AB实验验证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2. 需关注蚕食效应：部分增量可能是「提前消费」而非真正增量 → 跟踪任务结束后D14/D30留存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3. 免费券成本假设$2.50/张，需与财务确认实际COGS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4. 高频用户不下发任务，需监控是否产生负面感知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*建议先在Tier 1中AB测试1-2周，核心看：参与率、增量杯数、任务后留存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