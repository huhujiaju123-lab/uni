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US用户运营任务方案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0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4000" b="1">
                <a:solidFill>
                  <a:srgbClr val="000000"/>
                </a:solidFill>
                <a:latin typeface="STKaiti"/>
              </a:rPr>
              <a:t>一、分析背景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103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核心问题与分析框架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50800" cy="16400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2400" y="1737360"/>
            <a:ext cx="20980400" cy="164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560" y="1828800"/>
            <a:ext cx="2070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9560" y="2286000"/>
            <a:ext cx="2070608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0">
                <a:solidFill>
                  <a:srgbClr val="333333"/>
                </a:solidFill>
                <a:latin typeface="STKaiti"/>
              </a:rPr>
              <a:t>用户购买多少杯后，留存率和频次会趋于稳定？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"5杯免1杯"是否是一个合理的习惯养成临界点？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0">
                <a:solidFill>
                  <a:srgbClr val="333333"/>
                </a:solidFill>
                <a:latin typeface="STKaiti"/>
              </a:rPr>
              <a:t>最优的活动设计应该是什么？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168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分析框架：用户习惯养成路径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4200320"/>
          <a:ext cx="2103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关键指标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分析重点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首次购买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首单转化率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获客渠道效率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复购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7天内复购率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复购时间窗口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习惯形成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3-5杯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转化率拐点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习惯养成临界点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忠诚用户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6杯+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留存稳定性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长期价值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71600" y="653204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关键指标体系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7080680"/>
          <a:ext cx="21031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指标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定义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意义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转化漏斗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各阶段用户流失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定位最大流失点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队列转化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同批用户转化时间分布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确定干预窗口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习惯临界点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转化率开始稳定的杯数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验证"5杯"假设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*分析框架基于用户从首杯到忠诚的完整生命周期路径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0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4000" b="1">
                <a:solidFill>
                  <a:srgbClr val="000000"/>
                </a:solidFill>
                <a:latin typeface="STKaiti"/>
              </a:rPr>
              <a:t>二、用户分层分布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103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累计杯数分布与关键发现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50800" cy="16400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2400" y="1737360"/>
            <a:ext cx="20980400" cy="164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560" y="1828800"/>
            <a:ext cx="2070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结论：1杯流失是最大痛点，仅18%用户达到5杯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9560" y="2286000"/>
            <a:ext cx="2070608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46.57%</a:t>
            </a:r>
            <a:r>
              <a:rPr sz="2000" b="0">
                <a:solidFill>
                  <a:srgbClr val="333333"/>
                </a:solidFill>
                <a:latin typeface="STKaiti"/>
              </a:rPr>
              <a:t> 的用户只买1杯就流失 —— 这是最大流失点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仅 </a:t>
            </a:r>
            <a:r>
              <a:rPr sz="2000" b="1">
                <a:solidFill>
                  <a:srgbClr val="333333"/>
                </a:solidFill>
                <a:latin typeface="STKaiti"/>
              </a:rPr>
              <a:t>18.39%</a:t>
            </a:r>
            <a:r>
              <a:rPr sz="2000" b="0">
                <a:solidFill>
                  <a:srgbClr val="333333"/>
                </a:solidFill>
                <a:latin typeface="STKaiti"/>
              </a:rPr>
              <a:t> 的用户能达到5杯以上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0">
                <a:solidFill>
                  <a:srgbClr val="333333"/>
                </a:solidFill>
                <a:latin typeface="STKaiti"/>
              </a:rPr>
              <a:t>仅 </a:t>
            </a:r>
            <a:r>
              <a:rPr sz="2000" b="1">
                <a:solidFill>
                  <a:srgbClr val="333333"/>
                </a:solidFill>
                <a:latin typeface="STKaiti"/>
              </a:rPr>
              <a:t>7.65%</a:t>
            </a:r>
            <a:r>
              <a:rPr sz="2000" b="0">
                <a:solidFill>
                  <a:srgbClr val="333333"/>
                </a:solidFill>
                <a:latin typeface="STKaiti"/>
              </a:rPr>
              <a:t> 的用户能达到10杯以上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168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累计杯数分布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4200320"/>
          <a:ext cx="2103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57,203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25,850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21.05%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67.62%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10,363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8.44%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76.06%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6,819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5.55%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81.61%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4,327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3.52%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85.13%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6-7杯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5,441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4.43%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89.56%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8-9杯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3,426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2.79%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92.35%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10-14杯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4,303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3.50%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95.85%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15-19杯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1,933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97.42%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20+杯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3,163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2.58%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*数据来源：CyberData，统计范围为全部注册用户的累计购买杯数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0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4000" b="1">
                <a:solidFill>
                  <a:srgbClr val="000000"/>
                </a:solidFill>
                <a:latin typeface="STKaiti"/>
              </a:rPr>
              <a:t>三、转化漏斗分析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103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用户生命周期阶段与转化规律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50800" cy="16400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2400" y="1737360"/>
            <a:ext cx="20980400" cy="164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560" y="1828800"/>
            <a:ext cx="2070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结论：7天是关键窗口，3杯是习惯起点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9560" y="2286000"/>
            <a:ext cx="2070608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7天是关键转化窗口</a:t>
            </a:r>
            <a:r>
              <a:rPr sz="2000" b="0">
                <a:solidFill>
                  <a:srgbClr val="333333"/>
                </a:solidFill>
                <a:latin typeface="STKaiti"/>
              </a:rPr>
              <a:t>：约2/3转化发生在7天内，超7天未转化流失风险大增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1">
                <a:solidFill>
                  <a:srgbClr val="333333"/>
                </a:solidFill>
                <a:latin typeface="STKaiti"/>
              </a:rPr>
              <a:t>转化加速点在第3杯后</a:t>
            </a:r>
            <a:r>
              <a:rPr sz="2000" b="0">
                <a:solidFill>
                  <a:srgbClr val="333333"/>
                </a:solidFill>
                <a:latin typeface="STKaiti"/>
              </a:rPr>
              <a:t>：7天内转化率从40%跳升至51%+，3杯是习惯养成起点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1">
                <a:solidFill>
                  <a:srgbClr val="333333"/>
                </a:solidFill>
                <a:latin typeface="STKaiti"/>
              </a:rPr>
              <a:t>转化周期逐步缩短</a:t>
            </a:r>
            <a:r>
              <a:rPr sz="2000" b="0">
                <a:solidFill>
                  <a:srgbClr val="333333"/>
                </a:solidFill>
                <a:latin typeface="STKaiti"/>
              </a:rPr>
              <a:t>：用户买得越多，下一杯来得越快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168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各阶段转化率全景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4200320"/>
          <a:ext cx="2103119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7天内转化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14天内转化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30天内转化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最终转化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平均天数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40.24%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44.83%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49.32%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55.57%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40.17%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53.98%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62.89%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12.7天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51.18%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59.21%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68.84%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10.8天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52.29%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61.86%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72.39%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81.48%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10.6天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57.29%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67.07%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85.76%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71600" y="694352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用户生命周期阶段划分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7492160"/>
          <a:ext cx="2103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转化率范围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状态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危险期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最大流失点，必须干预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试用期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仍不稳定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过渡期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74-77%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开始稳定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稳定期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5+杯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80%+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习惯形成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*转化率 = 购买下一杯的用户占比；平均天数 = 从上一杯到下一杯的中位数天数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0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4000" b="1">
                <a:solidFill>
                  <a:srgbClr val="000000"/>
                </a:solidFill>
                <a:latin typeface="STKaiti"/>
              </a:rPr>
              <a:t>四、活动设计建议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103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阶梯式激励策略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50800" cy="20200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2400" y="1737360"/>
            <a:ext cx="20980400" cy="202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9560" y="1828800"/>
            <a:ext cx="2070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核心策略：阶梯式激励，在每个流失节点精准干预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9560" y="2286000"/>
            <a:ext cx="20706080" cy="1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1">
                <a:solidFill>
                  <a:srgbClr val="333333"/>
                </a:solidFill>
                <a:latin typeface="STKaiti"/>
              </a:rPr>
              <a:t>P0 首杯后召回</a:t>
            </a:r>
            <a:r>
              <a:rPr sz="2000" b="0">
                <a:solidFill>
                  <a:srgbClr val="333333"/>
                </a:solidFill>
                <a:latin typeface="STKaiti"/>
              </a:rPr>
              <a:t>：第1杯后3天内发限时7天优惠券(3折)，突破最大流失点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1">
                <a:solidFill>
                  <a:srgbClr val="333333"/>
                </a:solidFill>
                <a:latin typeface="STKaiti"/>
              </a:rPr>
              <a:t>P1 第2杯奖励</a:t>
            </a:r>
            <a:r>
              <a:rPr sz="2000" b="0">
                <a:solidFill>
                  <a:srgbClr val="333333"/>
                </a:solidFill>
                <a:latin typeface="STKaiti"/>
              </a:rPr>
              <a:t>：第2杯后立即发第3杯5折券，跨过12.7天瓶颈期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1">
                <a:solidFill>
                  <a:srgbClr val="333333"/>
                </a:solidFill>
                <a:latin typeface="STKaiti"/>
              </a:rPr>
              <a:t>P2 3杯里程碑</a:t>
            </a:r>
            <a:r>
              <a:rPr sz="2000" b="0">
                <a:solidFill>
                  <a:srgbClr val="333333"/>
                </a:solidFill>
                <a:latin typeface="STKaiti"/>
              </a:rPr>
              <a:t>：第3杯达成发2.99券+进度条，固化习惯认知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4. </a:t>
            </a:r>
            <a:r>
              <a:rPr sz="2000" b="1">
                <a:solidFill>
                  <a:srgbClr val="333333"/>
                </a:solidFill>
                <a:latin typeface="STKaiti"/>
              </a:rPr>
              <a:t>P3 5杯免1杯</a:t>
            </a:r>
            <a:r>
              <a:rPr sz="2000" b="0">
                <a:solidFill>
                  <a:srgbClr val="333333"/>
                </a:solidFill>
                <a:latin typeface="STKaiti"/>
              </a:rPr>
              <a:t>：第5杯达成奖励免费1杯，忠诚奖励提升满意度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3168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具体活动设计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4580320"/>
          <a:ext cx="2103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优先级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活动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触发时机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内容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目的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预期效果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首杯后召回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第1杯后3天内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限时7天优惠券(3折)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突破最大流失点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7天转化率 40%→50%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第2杯后立即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第3杯5折券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跨过12.7天瓶颈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缩短2→3杯周期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3杯里程碑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第3杯达成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2.99券+进度条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固化习惯认知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提升用户参与感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5杯免1杯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第5杯达成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免费1杯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忠诚奖励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提升用户满意度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71600" y="691204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活动参数建议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7460680"/>
          <a:ext cx="21031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参数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建议值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依据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优惠券有效期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2/3转化发生在7天内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首杯后触达时间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3天内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越早干预越好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里程碑设置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3杯、5杯、10杯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对应习惯养成关键节点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活动周期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长期有效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覆盖完整转化周期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*活动优先级基于ROI排序：P0干预1→2杯流失(46.57%)，ROI最高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0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4000" b="1">
                <a:solidFill>
                  <a:srgbClr val="000000"/>
                </a:solidFill>
                <a:latin typeface="STKaiti"/>
              </a:rPr>
              <a:t>五、预期收益与总结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50800" cy="202000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22400" y="1371600"/>
            <a:ext cx="20980400" cy="20200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9560" y="1463040"/>
            <a:ext cx="2070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800"/>
              </a:spcAft>
            </a:pPr>
            <a:r>
              <a:rPr sz="2800" b="1">
                <a:solidFill>
                  <a:srgbClr val="0F3460"/>
                </a:solidFill>
                <a:latin typeface="STKaiti"/>
              </a:rPr>
              <a:t>总结：阶梯式激励可显著提升各阶段转化率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9560" y="1920240"/>
            <a:ext cx="20706080" cy="1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1. </a:t>
            </a:r>
            <a:r>
              <a:rPr sz="2000" b="0">
                <a:solidFill>
                  <a:srgbClr val="333333"/>
                </a:solidFill>
                <a:latin typeface="STKaiti"/>
              </a:rPr>
              <a:t>用户购买多少杯后习惯稳定？→ </a:t>
            </a:r>
            <a:r>
              <a:rPr sz="2000" b="1">
                <a:solidFill>
                  <a:srgbClr val="333333"/>
                </a:solidFill>
                <a:latin typeface="STKaiti"/>
              </a:rPr>
              <a:t>3杯后转化率开始稳定在70%+，5杯后达到80%+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2. </a:t>
            </a:r>
            <a:r>
              <a:rPr sz="2000" b="0">
                <a:solidFill>
                  <a:srgbClr val="333333"/>
                </a:solidFill>
                <a:latin typeface="STKaiti"/>
              </a:rPr>
              <a:t>"5杯免1杯"是否合理？→ 可以做，但更适合作为</a:t>
            </a:r>
            <a:r>
              <a:rPr sz="2000" b="1">
                <a:solidFill>
                  <a:srgbClr val="333333"/>
                </a:solidFill>
                <a:latin typeface="STKaiti"/>
              </a:rPr>
              <a:t>奖励</a:t>
            </a:r>
            <a:r>
              <a:rPr sz="2000" b="0">
                <a:solidFill>
                  <a:srgbClr val="333333"/>
                </a:solidFill>
                <a:latin typeface="STKaiti"/>
              </a:rPr>
              <a:t>而非拉动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3. </a:t>
            </a:r>
            <a:r>
              <a:rPr sz="2000" b="0">
                <a:solidFill>
                  <a:srgbClr val="333333"/>
                </a:solidFill>
                <a:latin typeface="STKaiti"/>
              </a:rPr>
              <a:t>最关键的干预点是什么？→ </a:t>
            </a:r>
            <a:r>
              <a:rPr sz="2000" b="1">
                <a:solidFill>
                  <a:srgbClr val="333333"/>
                </a:solidFill>
                <a:latin typeface="STKaiti"/>
              </a:rPr>
              <a:t>1→2杯(46.57%流失)</a:t>
            </a:r>
            <a:r>
              <a:rPr sz="2000" b="0">
                <a:solidFill>
                  <a:srgbClr val="333333"/>
                </a:solidFill>
                <a:latin typeface="STKaiti"/>
              </a:rPr>
              <a:t>，是ROI最高的干预点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  <a:latin typeface="STKaiti"/>
              </a:rPr>
              <a:t>4. </a:t>
            </a:r>
            <a:r>
              <a:rPr sz="2000" b="0">
                <a:solidFill>
                  <a:srgbClr val="333333"/>
                </a:solidFill>
                <a:latin typeface="STKaiti"/>
              </a:rPr>
              <a:t>最优活动设计？→ 阶梯式激励：首杯召回 → 2杯奖励 → 3杯里程碑 → 5杯免费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6592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预期收益测算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71600" y="4214560"/>
          <a:ext cx="2103119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现状转化率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现状用户数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策略后预期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策略后用户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增量用户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59,627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66%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70,819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+11,192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35,837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68%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38,749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+2,912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26,113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26,865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+752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19,820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82%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19,947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+127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15,715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15,942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+227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71600" y="6957760"/>
            <a:ext cx="2103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1600"/>
              </a:spcBef>
              <a:spcAft>
                <a:spcPts val="800"/>
              </a:spcAft>
            </a:pPr>
            <a:r>
              <a:rPr sz="2400" b="1">
                <a:solidFill>
                  <a:srgbClr val="0F3460"/>
                </a:solidFill>
                <a:latin typeface="STKaiti"/>
              </a:rPr>
              <a:t>后续节奏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71600" y="7506400"/>
          <a:ext cx="21031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时间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里程碑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交付物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26年W5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确认任务方案及产品实现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方案文档 + 产品需求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26年W6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策略配置和实验上线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实验展示资源位 + 站外push资源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26年W7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评估策略收益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策略迭代建议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*预期收益基于保守估计，实际效果需通过AB实验验证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