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24384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/>
            </a:pPr>
            <a:r>
              <a:rPr sz="1800">
                <a:solidFill>
                  <a:srgbClr val="333333"/>
                </a:solidFill>
                <a:latin typeface="STKaiti"/>
              </a:rPr>
              <a:t>各杯数段用户占比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用户占比(%)</c:v>
                </c:pt>
              </c:strCache>
            </c:strRef>
          </c:tx>
          <c:spPr>
            <a:solidFill>
              <a:srgbClr val="222773"/>
            </a:solidFill>
          </c:spPr>
          <c:cat>
            <c:strRef>
              <c:f>Sheet1!$A$2:$A$11</c:f>
              <c:strCache>
                <c:ptCount val="10"/>
                <c:pt idx="0">
                  <c:v>1杯</c:v>
                </c:pt>
                <c:pt idx="1">
                  <c:v>2杯</c:v>
                </c:pt>
                <c:pt idx="2">
                  <c:v>3杯</c:v>
                </c:pt>
                <c:pt idx="3">
                  <c:v>4杯</c:v>
                </c:pt>
                <c:pt idx="4">
                  <c:v>5杯</c:v>
                </c:pt>
                <c:pt idx="5">
                  <c:v>6-7杯</c:v>
                </c:pt>
                <c:pt idx="6">
                  <c:v>8-9杯</c:v>
                </c:pt>
                <c:pt idx="7">
                  <c:v>10-14杯</c:v>
                </c:pt>
                <c:pt idx="8">
                  <c:v>15-19杯</c:v>
                </c:pt>
                <c:pt idx="9">
                  <c:v>20+杯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46.57</c:v>
                </c:pt>
                <c:pt idx="1">
                  <c:v>21.05</c:v>
                </c:pt>
                <c:pt idx="2">
                  <c:v>8.44</c:v>
                </c:pt>
                <c:pt idx="3">
                  <c:v>5.55</c:v>
                </c:pt>
                <c:pt idx="4">
                  <c:v>3.52</c:v>
                </c:pt>
                <c:pt idx="5">
                  <c:v>4.43</c:v>
                </c:pt>
                <c:pt idx="6">
                  <c:v>2.79</c:v>
                </c:pt>
                <c:pt idx="7">
                  <c:v>3.5</c:v>
                </c:pt>
                <c:pt idx="8">
                  <c:v>1.57</c:v>
                </c:pt>
                <c:pt idx="9">
                  <c:v>2.58</c:v>
                </c:pt>
              </c:numCache>
            </c:numRef>
          </c:val>
        </c:ser>
        <c:dLbls>
          <c:numFmt sourceLinked="0"/>
          <c:txPr>
            <a:bodyPr/>
            <a:lstStyle/>
            <a:p>
              <a:pPr>
                <a:defRPr sz="1200">
                  <a:solidFill>
                    <a:srgbClr val="333333"/>
                  </a:solidFill>
                  <a:latin typeface="STKait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200">
                <a:latin typeface="STKait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200">
                <a:latin typeface="STKait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7天内转化率(%)</c:v>
                </c:pt>
              </c:strCache>
            </c:strRef>
          </c:tx>
          <c:spPr>
            <a:ln w="31750">
              <a:solidFill>
                <a:srgbClr val="222773"/>
              </a:solidFill>
            </a:ln>
          </c:spPr>
          <c:cat>
            <c:strRef>
              <c:f>Sheet1!$A$2:$A$6</c:f>
              <c:strCache>
                <c:ptCount val="5"/>
                <c:pt idx="0">
                  <c:v>1→2杯</c:v>
                </c:pt>
                <c:pt idx="1">
                  <c:v>2→3杯</c:v>
                </c:pt>
                <c:pt idx="2">
                  <c:v>3→4杯</c:v>
                </c:pt>
                <c:pt idx="3">
                  <c:v>4→5杯</c:v>
                </c:pt>
                <c:pt idx="4">
                  <c:v>5→6杯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40.24</c:v>
                </c:pt>
                <c:pt idx="1">
                  <c:v>40.17</c:v>
                </c:pt>
                <c:pt idx="2">
                  <c:v>51.18</c:v>
                </c:pt>
                <c:pt idx="3">
                  <c:v>52.29</c:v>
                </c:pt>
                <c:pt idx="4">
                  <c:v>57.29</c:v>
                </c:pt>
              </c:numCache>
            </c:numRef>
          </c:val>
          <c:smooth val="0"/>
          <c:marker>
            <c:symbol val="circle"/>
            <c:size val="8"/>
            <c:spPr>
              <a:solidFill>
                <a:srgbClr val="222773"/>
              </a:solidFill>
            </c:spPr>
          </c:marker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200">
                <a:latin typeface="STKait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200">
                <a:latin typeface="STKait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现状转化率(%)</c:v>
                </c:pt>
              </c:strCache>
            </c:strRef>
          </c:tx>
          <c:spPr>
            <a:solidFill>
              <a:srgbClr val="222773"/>
            </a:solidFill>
          </c:spPr>
          <c:cat>
            <c:strRef>
              <c:f>Sheet1!$A$2:$A$6</c:f>
              <c:strCache>
                <c:ptCount val="5"/>
                <c:pt idx="0">
                  <c:v>1→2杯</c:v>
                </c:pt>
                <c:pt idx="1">
                  <c:v>2→3杯</c:v>
                </c:pt>
                <c:pt idx="2">
                  <c:v>3→4杯</c:v>
                </c:pt>
                <c:pt idx="3">
                  <c:v>4→5杯</c:v>
                </c:pt>
                <c:pt idx="4">
                  <c:v>5→6杯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56</c:v>
                </c:pt>
                <c:pt idx="1">
                  <c:v>63</c:v>
                </c:pt>
                <c:pt idx="2">
                  <c:v>78</c:v>
                </c:pt>
                <c:pt idx="3">
                  <c:v>81</c:v>
                </c:pt>
                <c:pt idx="4">
                  <c:v>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策略上线后预期(%)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Sheet1!$A$2:$A$6</c:f>
              <c:strCache>
                <c:ptCount val="5"/>
                <c:pt idx="0">
                  <c:v>1→2杯</c:v>
                </c:pt>
                <c:pt idx="1">
                  <c:v>2→3杯</c:v>
                </c:pt>
                <c:pt idx="2">
                  <c:v>3→4杯</c:v>
                </c:pt>
                <c:pt idx="3">
                  <c:v>4→5杯</c:v>
                </c:pt>
                <c:pt idx="4">
                  <c:v>5→6杯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66</c:v>
                </c:pt>
                <c:pt idx="1">
                  <c:v>68</c:v>
                </c:pt>
                <c:pt idx="2">
                  <c:v>80</c:v>
                </c:pt>
                <c:pt idx="3">
                  <c:v>82</c:v>
                </c:pt>
                <c:pt idx="4">
                  <c:v>87</c:v>
                </c:pt>
              </c:numCache>
            </c:numRef>
          </c:val>
        </c:ser>
        <c:dLbls>
          <c:numFmt sourceLinked="0"/>
          <c:txPr>
            <a:bodyPr/>
            <a:lstStyle/>
            <a:p>
              <a:pPr>
                <a:defRPr sz="1200">
                  <a:solidFill>
                    <a:srgbClr val="333333"/>
                  </a:solidFill>
                  <a:latin typeface="STKait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200">
                <a:latin typeface="STKait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200">
                <a:latin typeface="STKaiti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400">
              <a:latin typeface="STKait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77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deco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720" y="1042416"/>
            <a:ext cx="10810872" cy="12697464"/>
          </a:xfrm>
          <a:prstGeom prst="rect">
            <a:avLst/>
          </a:prstGeom>
        </p:spPr>
      </p:pic>
      <p:pic>
        <p:nvPicPr>
          <p:cNvPr id="3" name="Picture 2" descr="cov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3832" y="530352"/>
            <a:ext cx="3840480" cy="10130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0" y="4984272"/>
            <a:ext cx="12747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sz="5400" b="1">
                <a:solidFill>
                  <a:srgbClr val="FFFFFF"/>
                </a:solidFill>
                <a:latin typeface="STKaiti"/>
              </a:rPr>
              <a:t>US用户运营提频任务方案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25200" y="10015200"/>
            <a:ext cx="254000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FFFFFF"/>
                </a:solidFill>
                <a:latin typeface="STKaiti"/>
              </a:rPr>
              <a:t>李宵霄</a:t>
            </a:r>
          </a:p>
          <a:p>
            <a:pPr algn="ctr"/>
            <a:r>
              <a:rPr sz="2400">
                <a:solidFill>
                  <a:srgbClr val="FFFFFF"/>
                </a:solidFill>
                <a:latin typeface="STKaiti"/>
              </a:rPr>
              <a:t>2026年3月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op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0"/>
            <a:ext cx="1874520" cy="1893888"/>
          </a:xfrm>
          <a:prstGeom prst="rect">
            <a:avLst/>
          </a:prstGeom>
        </p:spPr>
      </p:pic>
      <p:pic>
        <p:nvPicPr>
          <p:cNvPr id="3" name="Picture 2" descr="logo_bottom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0" y="12801600"/>
            <a:ext cx="3200400" cy="78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67128" y="320040"/>
            <a:ext cx="208788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4000" b="1">
                <a:solidFill>
                  <a:srgbClr val="0F3460"/>
                </a:solidFill>
                <a:latin typeface="STKaiti"/>
              </a:rPr>
              <a:t>一、分析背景与用户分层分布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143000"/>
            <a:ext cx="21031200" cy="27432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234440"/>
            <a:ext cx="2103120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666666"/>
                </a:solidFill>
                <a:latin typeface="STKaiti"/>
              </a:rPr>
              <a:t>核心问题：用户购买多少杯后留存稳定？「5杯免1杯」是否合理？最优活动设计？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661160"/>
            <a:ext cx="21031200" cy="694944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752600"/>
            <a:ext cx="20665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STKaiti"/>
              </a:rPr>
              <a:t>结论：46.57%用户仅买1杯即流失，是最大流失点；仅18.39%用户达到5杯以上，习惯养成门槛高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356104"/>
            <a:ext cx="21031200" cy="1700784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493264"/>
            <a:ext cx="20665440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1. </a:t>
            </a:r>
            <a:r>
              <a:rPr sz="1800" b="0">
                <a:solidFill>
                  <a:srgbClr val="333333"/>
                </a:solidFill>
                <a:latin typeface="STKaiti"/>
              </a:rPr>
              <a:t>1杯流失率最高：占46.57%，</a:t>
            </a:r>
            <a:r>
              <a:rPr sz="1800" b="0">
                <a:solidFill>
                  <a:srgbClr val="D32F2F"/>
                </a:solidFill>
                <a:latin typeface="STKaiti"/>
              </a:rPr>
              <a:t>1→2杯转化是ROI最高的干预点</a:t>
            </a:r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2. </a:t>
            </a:r>
            <a:r>
              <a:rPr sz="1800" b="0">
                <a:solidFill>
                  <a:srgbClr val="333333"/>
                </a:solidFill>
                <a:latin typeface="STKaiti"/>
              </a:rPr>
              <a:t>5杯以上为稳定期：5杯后留存率稳定在</a:t>
            </a:r>
            <a:r>
              <a:rPr sz="1800" b="0">
                <a:solidFill>
                  <a:srgbClr val="D32F2F"/>
                </a:solidFill>
                <a:latin typeface="STKaiti"/>
              </a:rPr>
              <a:t>80%+</a:t>
            </a:r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3. </a:t>
            </a:r>
            <a:r>
              <a:rPr sz="1800" b="0">
                <a:solidFill>
                  <a:srgbClr val="333333"/>
                </a:solidFill>
                <a:latin typeface="STKaiti"/>
              </a:rPr>
              <a:t>长尾效应：10杯以上用户仅7.65%，但贡献高频复购和高LTV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285488"/>
            <a:ext cx="45720" cy="27432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81328" y="4239768"/>
            <a:ext cx="21031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200" b="1">
                <a:solidFill>
                  <a:srgbClr val="0F3460"/>
                </a:solidFill>
                <a:latin typeface="STKaiti"/>
              </a:rPr>
              <a:t>累计杯数分布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1371600" y="4651248"/>
          <a:ext cx="21031200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371600" y="13262616"/>
            <a:ext cx="2103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999999"/>
                </a:solidFill>
                <a:latin typeface="STKaiti"/>
              </a:rPr>
              <a:t>*数据来源：dwd_t_ord_order_item 全量历史订单，仅饮品类目(Drink)，排除测试店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op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0"/>
            <a:ext cx="1874520" cy="1893888"/>
          </a:xfrm>
          <a:prstGeom prst="rect">
            <a:avLst/>
          </a:prstGeom>
        </p:spPr>
      </p:pic>
      <p:pic>
        <p:nvPicPr>
          <p:cNvPr id="3" name="Picture 2" descr="logo_bottom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0" y="12801600"/>
            <a:ext cx="3200400" cy="78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67128" y="320040"/>
            <a:ext cx="208788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4000" b="1">
                <a:solidFill>
                  <a:srgbClr val="0F3460"/>
                </a:solidFill>
                <a:latin typeface="STKaiti"/>
              </a:rPr>
              <a:t>二、转化漏斗分析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143000"/>
            <a:ext cx="21031200" cy="27432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234440"/>
            <a:ext cx="2103120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666666"/>
                </a:solidFill>
                <a:latin typeface="STKaiti"/>
              </a:rPr>
              <a:t>用户从第N杯到第N+1杯的转化率与时间窗口分析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661160"/>
            <a:ext cx="21031200" cy="694944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752600"/>
            <a:ext cx="20665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STKaiti"/>
              </a:rPr>
              <a:t>3大关键发现：7天是转化黄金窗口、3杯后转化率跳升、转化周期逐步缩短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356104"/>
            <a:ext cx="21031200" cy="1700784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493264"/>
            <a:ext cx="20665440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1. </a:t>
            </a:r>
            <a:r>
              <a:rPr sz="1800" b="1">
                <a:solidFill>
                  <a:srgbClr val="333333"/>
                </a:solidFill>
                <a:latin typeface="STKaiti"/>
              </a:rPr>
              <a:t>7天是关键转化窗口</a:t>
            </a:r>
            <a:r>
              <a:rPr sz="1800" b="0">
                <a:solidFill>
                  <a:srgbClr val="333333"/>
                </a:solidFill>
                <a:latin typeface="STKaiti"/>
              </a:rPr>
              <a:t>：约2/3转化发生在7天内，超7天流失风险大增</a:t>
            </a:r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2. </a:t>
            </a:r>
            <a:r>
              <a:rPr sz="1800" b="1">
                <a:solidFill>
                  <a:srgbClr val="333333"/>
                </a:solidFill>
                <a:latin typeface="STKaiti"/>
              </a:rPr>
              <a:t>转化加速点在第3杯后</a:t>
            </a:r>
            <a:r>
              <a:rPr sz="1800" b="0">
                <a:solidFill>
                  <a:srgbClr val="333333"/>
                </a:solidFill>
                <a:latin typeface="STKaiti"/>
              </a:rPr>
              <a:t>：7天内转化率从40%跳升至</a:t>
            </a:r>
            <a:r>
              <a:rPr sz="1800" b="0">
                <a:solidFill>
                  <a:srgbClr val="D32F2F"/>
                </a:solidFill>
                <a:latin typeface="STKaiti"/>
              </a:rPr>
              <a:t>51%+</a:t>
            </a:r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3. </a:t>
            </a:r>
            <a:r>
              <a:rPr sz="1800" b="1">
                <a:solidFill>
                  <a:srgbClr val="333333"/>
                </a:solidFill>
                <a:latin typeface="STKaiti"/>
              </a:rPr>
              <a:t>转化周期逐步缩短</a:t>
            </a:r>
            <a:r>
              <a:rPr sz="1800" b="0">
                <a:solidFill>
                  <a:srgbClr val="333333"/>
                </a:solidFill>
                <a:latin typeface="STKaiti"/>
              </a:rPr>
              <a:t>：2→3杯最长(12.7天)，5→6杯最短(9.4天)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285488"/>
            <a:ext cx="45720" cy="27432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81328" y="4239768"/>
            <a:ext cx="21031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200" b="1">
                <a:solidFill>
                  <a:srgbClr val="0F3460"/>
                </a:solidFill>
                <a:latin typeface="STKaiti"/>
              </a:rPr>
              <a:t>各阶段转化漏斗数据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371600" y="4651248"/>
          <a:ext cx="21031199" cy="23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/>
                <a:gridCol w="3004457"/>
                <a:gridCol w="3004457"/>
                <a:gridCol w="3004457"/>
                <a:gridCol w="3004457"/>
                <a:gridCol w="3004457"/>
                <a:gridCol w="3004457"/>
              </a:tblGrid>
              <a:tr h="39666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阶段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队列用户数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7天内转化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14天内转化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30天内转化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最终转化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平均天数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666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1→2杯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107,301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40.24%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44.83%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49.32%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55.57%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10.4天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666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2→3杯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56,983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40.17%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46.70%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53.98%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62.89%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12.7天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666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3→4杯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33,581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51.18%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59.21%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68.84%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77.76%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10.8天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666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4→5杯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24,325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52.29%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61.86%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72.39%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81.48%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10.6天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667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5→6杯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18,324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57.29%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67.07%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77.72%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85.76%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9.4天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1371600" y="7214128"/>
            <a:ext cx="45720" cy="27432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81328" y="7168408"/>
            <a:ext cx="21031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200" b="1">
                <a:solidFill>
                  <a:srgbClr val="0F3460"/>
                </a:solidFill>
                <a:latin typeface="STKaiti"/>
              </a:rPr>
              <a:t>7天转化率变化趋势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1371600" y="7579888"/>
          <a:ext cx="21031200" cy="32004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371600" y="13262616"/>
            <a:ext cx="2103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999999"/>
                </a:solidFill>
                <a:latin typeface="STKaiti"/>
              </a:rPr>
              <a:t>*3杯后转化率跳升是习惯养成的拐点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op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0"/>
            <a:ext cx="1874520" cy="1893888"/>
          </a:xfrm>
          <a:prstGeom prst="rect">
            <a:avLst/>
          </a:prstGeom>
        </p:spPr>
      </p:pic>
      <p:pic>
        <p:nvPicPr>
          <p:cNvPr id="3" name="Picture 2" descr="logo_bottom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0" y="12801600"/>
            <a:ext cx="3200400" cy="78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67128" y="320040"/>
            <a:ext cx="208788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4000" b="1">
                <a:solidFill>
                  <a:srgbClr val="0F3460"/>
                </a:solidFill>
                <a:latin typeface="STKaiti"/>
              </a:rPr>
              <a:t>三、活动设计建议：阶梯式激励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143000"/>
            <a:ext cx="21031200" cy="27432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234440"/>
            <a:ext cx="2103120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666666"/>
                </a:solidFill>
                <a:latin typeface="STKaiti"/>
              </a:rPr>
              <a:t>核心策略：针对不同生命周期阶段设计差异化激励，推动用户从首杯走向忠诚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661160"/>
            <a:ext cx="21031200" cy="694944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752600"/>
            <a:ext cx="20665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STKaiti"/>
              </a:rPr>
              <a:t>核心策略：阶梯式激励 — 首杯召回 → 2杯奖励 → 3杯里程碑 → 5杯免费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356104"/>
            <a:ext cx="21031200" cy="2176272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493264"/>
            <a:ext cx="2066544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1. </a:t>
            </a:r>
            <a:r>
              <a:rPr sz="1800" b="1">
                <a:solidFill>
                  <a:srgbClr val="333333"/>
                </a:solidFill>
                <a:latin typeface="STKaiti"/>
              </a:rPr>
              <a:t>P0-首杯后召回</a:t>
            </a:r>
            <a:r>
              <a:rPr sz="1800" b="0">
                <a:solidFill>
                  <a:srgbClr val="333333"/>
                </a:solidFill>
                <a:latin typeface="STKaiti"/>
              </a:rPr>
              <a:t>：第1杯后3天内推送限时7天优惠券(3折券)，目标转化率40%→</a:t>
            </a:r>
            <a:r>
              <a:rPr sz="1800" b="0">
                <a:solidFill>
                  <a:srgbClr val="D32F2F"/>
                </a:solidFill>
                <a:latin typeface="STKaiti"/>
              </a:rPr>
              <a:t>50%</a:t>
            </a:r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2. </a:t>
            </a:r>
            <a:r>
              <a:rPr sz="1800" b="1">
                <a:solidFill>
                  <a:srgbClr val="333333"/>
                </a:solidFill>
                <a:latin typeface="STKaiti"/>
              </a:rPr>
              <a:t>P1-第2杯奖励</a:t>
            </a:r>
            <a:r>
              <a:rPr sz="1800" b="0">
                <a:solidFill>
                  <a:srgbClr val="333333"/>
                </a:solidFill>
                <a:latin typeface="STKaiti"/>
              </a:rPr>
              <a:t>：第2杯后立即发放第3杯5折券，跨过12.7天瓶颈期</a:t>
            </a:r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3. </a:t>
            </a:r>
            <a:r>
              <a:rPr sz="1800" b="1">
                <a:solidFill>
                  <a:srgbClr val="333333"/>
                </a:solidFill>
                <a:latin typeface="STKaiti"/>
              </a:rPr>
              <a:t>P2-3杯里程碑</a:t>
            </a:r>
            <a:r>
              <a:rPr sz="1800" b="0">
                <a:solidFill>
                  <a:srgbClr val="333333"/>
                </a:solidFill>
                <a:latin typeface="STKaiti"/>
              </a:rPr>
              <a:t>：第3杯达成后发放2.99券+进度条，固化习惯认知</a:t>
            </a:r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4. </a:t>
            </a:r>
            <a:r>
              <a:rPr sz="1800" b="1">
                <a:solidFill>
                  <a:srgbClr val="333333"/>
                </a:solidFill>
                <a:latin typeface="STKaiti"/>
              </a:rPr>
              <a:t>P3-5杯免1杯</a:t>
            </a:r>
            <a:r>
              <a:rPr sz="1800" b="0">
                <a:solidFill>
                  <a:srgbClr val="333333"/>
                </a:solidFill>
                <a:latin typeface="STKaiti"/>
              </a:rPr>
              <a:t>：第5杯达成奖励免费1杯，作为忠诚奖励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760976"/>
            <a:ext cx="45720" cy="27432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81328" y="4715256"/>
            <a:ext cx="21031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200" b="1">
                <a:solidFill>
                  <a:srgbClr val="0F3460"/>
                </a:solidFill>
                <a:latin typeface="STKaiti"/>
              </a:rPr>
              <a:t>具体活动设计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371600" y="5126736"/>
          <a:ext cx="21031200" cy="2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  <a:gridCol w="3505200"/>
                <a:gridCol w="3505200"/>
                <a:gridCol w="3505200"/>
              </a:tblGrid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优先级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活动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触发时机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内容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目的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预期效果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P0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首杯后召回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第1杯后3天内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限时7天优惠券(3折券)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突破最大流失点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7天转化率 40%→50%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P1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第2杯奖励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第2杯后立即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第3杯5折券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跨过12.7天瓶颈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缩短2→3杯周期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P2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3杯里程碑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第3杯达成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2.99券+进度条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固化习惯认知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提升用户参与感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P3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5杯免1杯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第5杯达成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免费1杯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忠诚奖励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提升用户满意度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1371600" y="7309616"/>
            <a:ext cx="45720" cy="27432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81328" y="7263896"/>
            <a:ext cx="21031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200" b="1">
                <a:solidFill>
                  <a:srgbClr val="0F3460"/>
                </a:solidFill>
                <a:latin typeface="STKaiti"/>
              </a:rPr>
              <a:t>活动参数建议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371600" y="7675376"/>
          <a:ext cx="21031200" cy="2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0400"/>
                <a:gridCol w="7010400"/>
                <a:gridCol w="7010400"/>
              </a:tblGrid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参数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建议值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依据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优惠券有效期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7天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2/3转化发生在7天内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首杯后触达时间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3天内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越早干预越好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里程碑设置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3杯、5杯、10杯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对应习惯养成关键节点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活动周期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长期有效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覆盖完整转化周期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371600" y="13262616"/>
            <a:ext cx="2103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999999"/>
                </a:solidFill>
                <a:latin typeface="STKaiti"/>
              </a:rPr>
              <a:t>*活动优先级基于流失率×用户基数的ROI排序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op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0"/>
            <a:ext cx="1874520" cy="1893888"/>
          </a:xfrm>
          <a:prstGeom prst="rect">
            <a:avLst/>
          </a:prstGeom>
        </p:spPr>
      </p:pic>
      <p:pic>
        <p:nvPicPr>
          <p:cNvPr id="3" name="Picture 2" descr="logo_bottom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0" y="12801600"/>
            <a:ext cx="3200400" cy="78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67128" y="320040"/>
            <a:ext cx="208788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4000" b="1">
                <a:solidFill>
                  <a:srgbClr val="0F3460"/>
                </a:solidFill>
                <a:latin typeface="STKaiti"/>
              </a:rPr>
              <a:t>四、预期收益与后续节奏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143000"/>
            <a:ext cx="21031200" cy="27432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234440"/>
            <a:ext cx="2103120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666666"/>
                </a:solidFill>
                <a:latin typeface="STKaiti"/>
              </a:rPr>
              <a:t>策略上线后的转化率提升预估及实施时间表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661160"/>
            <a:ext cx="21031200" cy="694944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752600"/>
            <a:ext cx="20665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STKaiti"/>
              </a:rPr>
              <a:t>总结：最关键干预点是1→2杯（46.57%流失），阶梯激励是最优设计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356104"/>
            <a:ext cx="21031200" cy="1700784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493264"/>
            <a:ext cx="20665440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1. </a:t>
            </a:r>
            <a:r>
              <a:rPr sz="1800" b="0">
                <a:solidFill>
                  <a:srgbClr val="333333"/>
                </a:solidFill>
                <a:latin typeface="STKaiti"/>
              </a:rPr>
              <a:t>用户习惯稳定点：</a:t>
            </a:r>
            <a:r>
              <a:rPr sz="1800" b="0">
                <a:solidFill>
                  <a:srgbClr val="D32F2F"/>
                </a:solidFill>
                <a:latin typeface="STKaiti"/>
              </a:rPr>
              <a:t>3杯后转化率开始稳定在70%+</a:t>
            </a:r>
            <a:r>
              <a:rPr sz="1800" b="0">
                <a:solidFill>
                  <a:srgbClr val="333333"/>
                </a:solidFill>
                <a:latin typeface="STKaiti"/>
              </a:rPr>
              <a:t>，5杯后达到80%+</a:t>
            </a:r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2. </a:t>
            </a:r>
            <a:r>
              <a:rPr sz="1800" b="0">
                <a:solidFill>
                  <a:srgbClr val="333333"/>
                </a:solidFill>
                <a:latin typeface="STKaiti"/>
              </a:rPr>
              <a:t>「5杯免1杯」：可以做，但更适合作为奖励——真正的杠杆在前3杯</a:t>
            </a:r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3. </a:t>
            </a:r>
            <a:r>
              <a:rPr sz="1800" b="0">
                <a:solidFill>
                  <a:srgbClr val="333333"/>
                </a:solidFill>
                <a:latin typeface="STKaiti"/>
              </a:rPr>
              <a:t>最优活动设计：阶梯式激励 — 首杯召回 → 2杯奖励 → 3杯里程碑 → 5杯免费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285488"/>
            <a:ext cx="45720" cy="27432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81328" y="4239768"/>
            <a:ext cx="21031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200" b="1">
                <a:solidFill>
                  <a:srgbClr val="0F3460"/>
                </a:solidFill>
                <a:latin typeface="STKaiti"/>
              </a:rPr>
              <a:t>预期收益：策略上线前后转化率对比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1371600" y="4651248"/>
          <a:ext cx="21031200" cy="4114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Rectangle 13"/>
          <p:cNvSpPr/>
          <p:nvPr/>
        </p:nvSpPr>
        <p:spPr>
          <a:xfrm>
            <a:off x="1371600" y="9086088"/>
            <a:ext cx="45720" cy="27432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81328" y="9040368"/>
            <a:ext cx="21031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200" b="1">
                <a:solidFill>
                  <a:srgbClr val="0F3460"/>
                </a:solidFill>
                <a:latin typeface="STKaiti"/>
              </a:rPr>
              <a:t>后续节奏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9451848"/>
            <a:ext cx="21031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1. 26年W5：确认任务方案及产品实现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2. 26年W6：完成策略配置和实验展示资源位曝光及站外push资源进行策略实验上线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3. 26年W7：评估策略收益进行策略迭代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13262616"/>
            <a:ext cx="2103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999999"/>
                </a:solidFill>
                <a:latin typeface="STKaiti"/>
              </a:rPr>
              <a:t>*预期收益基于转化率提升10pp的保守假设；实际效果需通过AB实验验证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