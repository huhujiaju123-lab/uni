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24387048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7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0" y="1280160"/>
            <a:ext cx="15361920" cy="219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STKaiti"/>
              </a:rPr>
              <a:t>3月运营动作与实验月报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3657600"/>
            <a:ext cx="13258800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STKaiti"/>
              </a:rPr>
              <a:t>老板汇报版 · 按当前已落数窗口 · 仅覆盖运营动作与实验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1161288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TKaiti"/>
              </a:rPr>
              <a:t>Lucky US Growth · March Ops Monthly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653760" y="1280160"/>
            <a:ext cx="4114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773"/>
                </a:solidFill>
                <a:latin typeface="STKaiti"/>
              </a:rPr>
              <a:t>实用版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16459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一、核心结论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6459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STKaiti"/>
              </a:rPr>
              <a:t>3月的价值，在于把有效方向和无效动作初步分清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2585680" cy="2743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22494240" cy="1234440"/>
          </a:xfrm>
          <a:prstGeom prst="round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3460"/>
                </a:solidFill>
                <a:latin typeface="STKaiti"/>
              </a:rPr>
              <a:t>3月从“多做动作”切到“跑实验、收结论”。时间优化和资源位优化更有效；周末提频弹窗和低频任务当前版本未成立；上月新客召回在 MTD 留存口径上跑出持续正向改善。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6666"/>
                </a:solidFill>
                <a:latin typeface="STKaiti"/>
              </a:rPr>
              <a:t>分享有礼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5.20%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STKaiti"/>
              </a:rPr>
              <a:t>拉新占比与2月持平，注册日均 +26%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6576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6666"/>
                </a:solidFill>
                <a:latin typeface="STKaiti"/>
              </a:rPr>
              <a:t>时段实验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9点胜出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STKaiti"/>
              </a:rPr>
              <a:t>周末 9 点优于 10 点；工作日 8 点略优于 9 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70080" y="36576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6666"/>
                </a:solidFill>
                <a:latin typeface="STKaiti"/>
              </a:rPr>
              <a:t>新客召回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32F2F"/>
                </a:solidFill>
                <a:latin typeface="STKaiti"/>
              </a:rPr>
              <a:t>+2.92pp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STKaiti"/>
              </a:rPr>
              <a:t>3/26-3/28 MTD 次月留存平均提升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47920" y="36576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66666"/>
                </a:solidFill>
                <a:latin typeface="STKaiti"/>
              </a:rPr>
              <a:t>弱策略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E7D32"/>
                </a:solidFill>
                <a:latin typeface="STKaiti"/>
              </a:rPr>
              <a:t>2条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STKaiti"/>
              </a:rPr>
              <a:t>周末提频支付返弹窗、一周3杯任务不建议放量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6035040"/>
            <a:ext cx="10789920" cy="6035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F3460"/>
                </a:solidFill>
                <a:latin typeface="STKaiti"/>
              </a:rPr>
              <a:t>本月判断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低摩擦优化更容易跑出结果。时间、资源位优化均优于高门槛玩法。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分享有礼仍是稳定拉新工具，不是裂变效率突破点。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4月重心应是收敛有效策略，而不是继续铺新动作。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70080" y="6035040"/>
            <a:ext cx="10789920" cy="6035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F3460"/>
                </a:solidFill>
                <a:latin typeface="STKaiti"/>
              </a:rPr>
              <a:t>项目分层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继续：0326/0401时段实验、上月新客召回、分享有礼素材优化。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观察：上月消费本月未消费新客 AB，优先保留实验组2。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收口：周末提频支付返弹窗、低频任务一周3杯当前版本。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293876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STKaiti"/>
              </a:rPr>
              <a:t>Lucky US Growth ·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16459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二、本月动作总览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6459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STKaiti"/>
              </a:rPr>
              <a:t>按动作-观察窗口-结果-判断整理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2585680" cy="2743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22585680" cy="987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7136"/>
                <a:gridCol w="4517136"/>
                <a:gridCol w="4517136"/>
                <a:gridCol w="4517136"/>
                <a:gridCol w="4517136"/>
              </a:tblGrid>
              <a:tr h="141078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项目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动作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观察窗口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关键结果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判断</a:t>
                      </a:r>
                    </a:p>
                  </a:txBody>
                  <a:tcPr>
                    <a:solidFill>
                      <a:srgbClr val="222773"/>
                    </a:solidFill>
                  </a:tcPr>
                </a:tc>
              </a:tr>
              <a:tr h="14107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分享有礼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4个资源位更新 + 弹层验证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3/1-3/23；3/12-3/17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注册日均 +26%，拉新占比 5.20%，弹层方向正向未显著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继续优化素材和资源位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14107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0326时段实验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工作日 8/9 点；周末 9/10 点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3/26-3/29；周末 3/28-3/29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工作日 8 点略优于 9 点，周末 9 点优于 10 点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继续前探时段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</a:tr>
              <a:tr h="14107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周末提频支付返弹窗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支付后返周末券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3/28-3/29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相对分享有礼支付后弹窗更弱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当前版本收口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14107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低频任务一周3杯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任务链路提频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3/25-3/29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下单率、人均杯量均弱于对照组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当前版本收口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</a:tr>
              <a:tr h="14107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上月新客召回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1.99/2.99+触达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3/25-3/29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MTD 次月留存平均 +2.92pp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继续跑并补验证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</a:tr>
              <a:tr h="141079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上月消费本月未消费新客 AB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双实验组触达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3/25-3/29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方向略正但均未显著，实验组2更优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保留实验组2观察</a:t>
                      </a:r>
                    </a:p>
                  </a:txBody>
                  <a:tcPr marL="54864" marR="36576" marT="27432" marB="27432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1293876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STKaiti"/>
              </a:rPr>
              <a:t>Lucky US Growth ·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16459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三、分享有礼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6459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STKaiti"/>
              </a:rPr>
              <a:t>3月做了两件事：资源位更新 + 弹层实验验证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2585680" cy="2743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10881360" cy="996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F3460"/>
                </a:solidFill>
                <a:latin typeface="STKaiti"/>
              </a:rPr>
              <a:t>月内整体结果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3/1-3/23 注册被邀请人 1,406，日均 61.1，较 2 月日均 +26%。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拉新占比 5.20%，与 2 月 5.23% 基本持平。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D0 转化率 57.3%，较 2 月提升 +2.2pp。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人均邀请 1.09，与 2 月 1.10 基本持平。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弹窗 CTR 61.5%，成为 3 月最核心的曝光入口。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0" y="1920240"/>
            <a:ext cx="10881360" cy="996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4472C4"/>
                </a:solidFill>
                <a:latin typeface="STKaiti"/>
              </a:rPr>
              <a:t>0312弹层实验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观察窗 3/12-3/17，实验组展示分享弹层，对照组不展示。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分享率 1.62% vs 1.45%，提升 +11.9%。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成功转化率 1.13% vs 0.96%，提升 +17.5%。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但主指标 p=0.455，统计上不显著。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结论：前链路方向正向，但不宜表述为已验证收益。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293876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STKaiti"/>
              </a:rPr>
              <a:t>Lucky US Growth ·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16459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四、提频实验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6459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STKaiti"/>
              </a:rPr>
              <a:t>时间优化有效，高门槛玩法暂未成立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2585680" cy="2743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132320" cy="10149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F3460"/>
                </a:solidFill>
                <a:latin typeface="STKaiti"/>
              </a:rPr>
              <a:t>0326时段实验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工作日：8点组到访率 4.96%、下单率 2.19%，略优于 9 点组 4.81%/2.14%。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周末：9点组下单率 0.96%，优于 10 点组 0.90%。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说明触达时间优化值得继续，已在 4/1 前探到 7:00 / 7:30 / 8:00。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828800"/>
            <a:ext cx="7132320" cy="10149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D32F2F"/>
                </a:solidFill>
                <a:latin typeface="STKaiti"/>
              </a:rPr>
              <a:t>周末提频支付返弹窗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业务口径以分享有礼支付后弹窗为对照组。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到访率 21.49% vs 25.30%，差值 -3.81pp（p=0.020）。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下单率 13.52% vs 16.19%，差值 -2.67pp（p=0.052）。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ITT 人均实收 -24.3%，当前版本不建议继续放量。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93440" y="1828800"/>
            <a:ext cx="6766560" cy="10149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E7D32"/>
                </a:solidFill>
                <a:latin typeface="STKaiti"/>
              </a:rPr>
              <a:t>低频任务一周3杯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实验组下单率 17.09%，低于对照组 17.71%。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人均杯量 0.2455，低于对照组 0.2721。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领券率 1.42%，使用率 0.07%。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问题在门槛过高、人群过冷、链路吸引力不够。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93876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STKaiti"/>
              </a:rPr>
              <a:t>Lucky US Growth ·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16459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五、新客召回与留存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6459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STKaiti"/>
              </a:rPr>
              <a:t>3月最值得继续打磨的正向方向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2585680" cy="2743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10881360" cy="996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F3460"/>
                </a:solidFill>
                <a:latin typeface="STKaiti"/>
              </a:rPr>
              <a:t>上月新客召回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3/25 上线，目标人群为上月新客本月未复购人群。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MTD 次月留存：3/26、3/27、3/28 分别较上月同期 +2.95pp、+2.92pp、+2.88pp。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三天平均提升 +2.92pp，3/29 MTD 达 23.19%。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当前是前后对比口径，适合表述为表现改善，不直接讲绝对因果增量。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0" y="1920240"/>
            <a:ext cx="10881360" cy="996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4472C4"/>
                </a:solidFill>
                <a:latin typeface="STKaiti"/>
              </a:rPr>
              <a:t>上月消费本月未消费新客 AB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对照组：到访率 6.48%，下单率 3.00%，ITT 人均实收 $0.1326。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实验组1：到访率 6.93%，下单率 3.15%，ITT 人均实收 $0.1133。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实验组2：到访率 7.04%，下单率 3.16%，ITT 人均实收 $0.1361。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两组均仅是方向略正，未形成显著证据；实验组2购买质量最好。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293876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STKaiti"/>
              </a:rPr>
              <a:t>Lucky US Growth ·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411480"/>
            <a:ext cx="1645920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六、4月动作建议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16459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STKaiti"/>
              </a:rPr>
              <a:t>4月重心：收敛有效策略，快速关停弱策略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22585680" cy="2743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7132320" cy="996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0F3460"/>
                </a:solidFill>
                <a:latin typeface="STKaiti"/>
              </a:rPr>
              <a:t>继续推进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继续跑 0326/0401时段实验，尽快收敛工作日和周末推荐时段。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继续跑上月新客召回，并补更硬的验证层。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分享有礼继续做素材与资源位优化，但不承担留存目标。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920240"/>
            <a:ext cx="7132320" cy="996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D32F2F"/>
                </a:solidFill>
                <a:latin typeface="STKaiti"/>
              </a:rPr>
              <a:t>优先收口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周末提频支付返弹窗当前版本停止放量，先回退到更强的既有方案。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低频任务一周3杯当前版本不继续放大，下一轮先降门槛或换人群。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对方向弱且证据不足的动作，避免继续占用资源位和分析时间。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93440" y="1920240"/>
            <a:ext cx="6766560" cy="9966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E7D32"/>
                </a:solidFill>
                <a:latin typeface="STKaiti"/>
              </a:rPr>
              <a:t>执行原则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少铺新动作，多做收敛。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所有项目统一保留动作、配置、结果三层归档。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• 对老板汇报只保留：动作、结果、判断、下月动作。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293876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9999"/>
                </a:solidFill>
                <a:latin typeface="STKaiti"/>
              </a:rPr>
              <a:t>Lucky US Growth ·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