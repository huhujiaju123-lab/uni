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3"/>
    <p:sldId id="260" r:id="rId4"/>
  </p:sldIdLst>
  <p:sldSz cx="12192000" cy="6858000" type="screen4x3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5DDDEE2-CA9C-4DB2-A0E7-BACA174741F2}" styleName="表样式 1 14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band2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3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299720" y="836295"/>
          <a:ext cx="6830695" cy="3204210"/>
        </p:xfrm>
        <a:graphic>
          <a:graphicData uri="http://schemas.openxmlformats.org/drawingml/2006/table">
            <a:tbl>
              <a:tblPr firstRow="1" bandRow="1">
                <a:tableStyleId>{15DDDEE2-CA9C-4DB2-A0E7-BACA174741F2}</a:tableStyleId>
              </a:tblPr>
              <a:tblGrid>
                <a:gridCol w="1079500"/>
                <a:gridCol w="2167890"/>
                <a:gridCol w="2139315"/>
                <a:gridCol w="1443990"/>
              </a:tblGrid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latin typeface="微软雅黑" charset="0"/>
                          <a:ea typeface="微软雅黑" charset="0"/>
                        </a:rPr>
                        <a:t>策略类型</a:t>
                      </a:r>
                      <a:endParaRPr lang="zh-CN" altLang="en-US" sz="12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latin typeface="微软雅黑" charset="0"/>
                          <a:ea typeface="微软雅黑" charset="0"/>
                        </a:rPr>
                        <a:t>策略详情</a:t>
                      </a:r>
                      <a:endParaRPr lang="zh-CN" altLang="en-US" sz="12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月进展</a:t>
                      </a:r>
                      <a:endParaRPr lang="zh-CN" altLang="en-US" sz="12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</a:rPr>
                        <a:t>月计划</a:t>
                      </a:r>
                      <a:endParaRPr lang="zh-CN" altLang="en-US" sz="12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12814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新人券包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人群：当天注册用户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策略：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 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（次日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2. 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（次日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日上线，拉齐后下单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+4.8%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，杯量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+2.5%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，单杯实收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+2.6%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日复购率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-0.6pp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。对首次转化影响较小，主要观察后续复购影响。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结合档当前实验结果与各方决策新客策略的数据效果。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16484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分享有礼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人群：全量用户群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策略：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利益点调整为拉新累计奖励，奖励金额从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free drink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调整为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。用户累计拉新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1/2/3/4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人分别获得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1/3/5/7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张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券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上线实时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push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触达策略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推进实物奖励方案：产品需求确认，采用随单赠送的产品形态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日均拉新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人（完单口径），占大盘拉新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6.93%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，占比整体在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5-7%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月下旬（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25-28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日）有明显上升达到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9-12%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，呈现月末走强趋势。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素材换新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点击率优化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实物奖励方案优化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2"/>
          <p:cNvSpPr txBox="1"/>
          <p:nvPr/>
        </p:nvSpPr>
        <p:spPr>
          <a:xfrm>
            <a:off x="300000" y="329555"/>
            <a:ext cx="9000000" cy="400000"/>
          </a:xfrm>
          <a:prstGeom prst="rect">
            <a:avLst/>
          </a:prstGeom>
          <a:noFill/>
        </p:spPr>
        <p:txBody>
          <a:bodyPr wrap="square" anchor="t"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zh-CN" altLang="en-US" sz="2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新客</a:t>
            </a:r>
            <a:r>
              <a:rPr lang="zh-CN" altLang="en-US" sz="2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策略</a:t>
            </a:r>
            <a:endParaRPr lang="zh-CN" altLang="en-US" sz="260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9" name="图片 8" descr="企业微信截图_b69a8bba-f6cf-47d3-a0ec-d0d0715206b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995" y="4088765"/>
            <a:ext cx="3787775" cy="2672715"/>
          </a:xfrm>
          <a:prstGeom prst="rect">
            <a:avLst/>
          </a:prstGeom>
        </p:spPr>
      </p:pic>
      <p:pic>
        <p:nvPicPr>
          <p:cNvPr id="10" name="图片 9" descr="wecom-temp-234211-cac947c8972fff2246835ac4147f8f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835" y="1257935"/>
            <a:ext cx="1130935" cy="2451735"/>
          </a:xfrm>
          <a:prstGeom prst="rect">
            <a:avLst/>
          </a:prstGeom>
        </p:spPr>
      </p:pic>
      <p:pic>
        <p:nvPicPr>
          <p:cNvPr id="11" name="图片 10" descr="wecom-temp-238943-1eba9bfae5419b53c934ec311a821c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3120" y="1257935"/>
            <a:ext cx="1117600" cy="24237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04070" y="1209675"/>
            <a:ext cx="2606040" cy="2499995"/>
          </a:xfrm>
          <a:prstGeom prst="rect">
            <a:avLst/>
          </a:prstGeom>
          <a:noFill/>
        </p:spPr>
        <p:txBody>
          <a:bodyPr wrap="square" anchor="t"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zh-CN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实验效果</a:t>
            </a:r>
            <a:endParaRPr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en-US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·</a:t>
            </a:r>
            <a:r>
              <a:rPr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下单 +4.8%</a:t>
            </a:r>
            <a:endParaRPr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en-US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·</a:t>
            </a:r>
            <a:r>
              <a:rPr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杯量 +2.5%</a:t>
            </a:r>
            <a:endParaRPr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en-US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·</a:t>
            </a:r>
            <a:r>
              <a:rPr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单杯实收 +2.6%</a:t>
            </a:r>
            <a:endParaRPr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endParaRPr sz="800">
              <a:solidFill>
                <a:srgbClr val="888888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3日复购率微降（-0.6pp），对首次转化</a:t>
            </a:r>
            <a:endParaRPr sz="140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影响较小，主要观察后续复购影响。</a:t>
            </a:r>
            <a:endParaRPr sz="140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785" y="4161155"/>
            <a:ext cx="6096635" cy="20885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963920" y="629793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latin typeface="微软雅黑" charset="0"/>
                <a:ea typeface="微软雅黑" charset="0"/>
                <a:sym typeface="+mn-ea"/>
              </a:rPr>
              <a:t>拉新</a:t>
            </a:r>
            <a:r>
              <a:rPr lang="zh-CN" altLang="en-US" sz="1400">
                <a:latin typeface="微软雅黑" charset="0"/>
                <a:ea typeface="微软雅黑" charset="0"/>
                <a:sym typeface="+mn-ea"/>
              </a:rPr>
              <a:t>贡献占比整体在</a:t>
            </a:r>
            <a:r>
              <a:rPr lang="en-US" altLang="zh-CN" sz="1400">
                <a:latin typeface="微软雅黑" charset="0"/>
                <a:ea typeface="微软雅黑" charset="0"/>
                <a:sym typeface="+mn-ea"/>
              </a:rPr>
              <a:t>5-7%</a:t>
            </a:r>
            <a:r>
              <a:rPr lang="zh-CN" altLang="en-US" sz="1400">
                <a:latin typeface="微软雅黑" charset="0"/>
                <a:ea typeface="微软雅黑" charset="0"/>
                <a:sym typeface="+mn-ea"/>
              </a:rPr>
              <a:t>，</a:t>
            </a:r>
            <a:r>
              <a:rPr lang="en-US" altLang="zh-CN" sz="1400">
                <a:latin typeface="微软雅黑" charset="0"/>
                <a:ea typeface="微软雅黑" charset="0"/>
                <a:sym typeface="+mn-ea"/>
              </a:rPr>
              <a:t>1</a:t>
            </a:r>
            <a:r>
              <a:rPr lang="zh-CN" altLang="en-US" sz="1400">
                <a:latin typeface="微软雅黑" charset="0"/>
                <a:ea typeface="微软雅黑" charset="0"/>
                <a:sym typeface="+mn-ea"/>
              </a:rPr>
              <a:t>月下旬（</a:t>
            </a:r>
            <a:r>
              <a:rPr lang="en-US" altLang="zh-CN" sz="1400">
                <a:latin typeface="微软雅黑" charset="0"/>
                <a:ea typeface="微软雅黑" charset="0"/>
                <a:sym typeface="+mn-ea"/>
              </a:rPr>
              <a:t>25-28</a:t>
            </a:r>
            <a:r>
              <a:rPr lang="zh-CN" altLang="en-US" sz="1400">
                <a:latin typeface="微软雅黑" charset="0"/>
                <a:ea typeface="微软雅黑" charset="0"/>
                <a:sym typeface="+mn-ea"/>
              </a:rPr>
              <a:t>日）有明显上升达到</a:t>
            </a:r>
            <a:r>
              <a:rPr lang="en-US" altLang="zh-CN" sz="1400">
                <a:latin typeface="微软雅黑" charset="0"/>
                <a:ea typeface="微软雅黑" charset="0"/>
                <a:sym typeface="+mn-ea"/>
              </a:rPr>
              <a:t>9-12%</a:t>
            </a:r>
            <a:r>
              <a:rPr lang="zh-CN" altLang="en-US" sz="1400">
                <a:latin typeface="微软雅黑" charset="0"/>
                <a:ea typeface="微软雅黑" charset="0"/>
                <a:sym typeface="+mn-ea"/>
              </a:rPr>
              <a:t>，呈现月末走强趋势</a:t>
            </a:r>
            <a:endParaRPr lang="zh-CN" altLang="en-US" sz="140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16" name="TextBox 18"/>
          <p:cNvSpPr txBox="1"/>
          <p:nvPr/>
        </p:nvSpPr>
        <p:spPr>
          <a:xfrm>
            <a:off x="124460" y="4261485"/>
            <a:ext cx="1841500" cy="2499995"/>
          </a:xfrm>
          <a:prstGeom prst="rect">
            <a:avLst/>
          </a:prstGeom>
          <a:noFill/>
        </p:spPr>
        <p:txBody>
          <a:bodyPr wrap="square" anchor="t"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zh-CN" sz="16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分享有礼</a:t>
            </a:r>
            <a:endParaRPr lang="zh-CN" sz="1600"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en-US" sz="16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·</a:t>
            </a:r>
            <a:r>
              <a:rPr lang="zh-CN" sz="16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梯度奖励</a:t>
            </a:r>
            <a:endParaRPr sz="1600"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en-US" sz="16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·</a:t>
            </a:r>
            <a:r>
              <a:rPr lang="zh-CN" altLang="en-US" sz="16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上线</a:t>
            </a:r>
            <a:r>
              <a:rPr lang="en-US" sz="16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push</a:t>
            </a:r>
            <a:r>
              <a:rPr lang="zh-CN" altLang="en-US" sz="16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实时推送</a:t>
            </a:r>
            <a:endParaRPr sz="1600"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endParaRPr sz="1600">
              <a:solidFill>
                <a:schemeClr val="accent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endParaRPr sz="700">
              <a:solidFill>
                <a:srgbClr val="888888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endParaRPr sz="700">
              <a:solidFill>
                <a:srgbClr val="888888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Box 18"/>
          <p:cNvSpPr txBox="1"/>
          <p:nvPr/>
        </p:nvSpPr>
        <p:spPr>
          <a:xfrm>
            <a:off x="7188835" y="836295"/>
            <a:ext cx="2606040" cy="368300"/>
          </a:xfrm>
          <a:prstGeom prst="rect">
            <a:avLst/>
          </a:prstGeom>
          <a:noFill/>
        </p:spPr>
        <p:txBody>
          <a:bodyPr wrap="square" anchor="t"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zh-CN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新客实验</a:t>
            </a:r>
            <a:endParaRPr sz="140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417195" y="838835"/>
          <a:ext cx="11080750" cy="5600700"/>
        </p:xfrm>
        <a:graphic>
          <a:graphicData uri="http://schemas.openxmlformats.org/drawingml/2006/table">
            <a:tbl>
              <a:tblPr firstRow="1" bandRow="1">
                <a:tableStyleId>{15DDDEE2-CA9C-4DB2-A0E7-BACA174741F2}</a:tableStyleId>
              </a:tblPr>
              <a:tblGrid>
                <a:gridCol w="1486535"/>
                <a:gridCol w="3425190"/>
                <a:gridCol w="3219450"/>
                <a:gridCol w="2949575"/>
              </a:tblGrid>
              <a:tr h="2444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0">
                          <a:latin typeface="微软雅黑" charset="0"/>
                          <a:ea typeface="微软雅黑" charset="0"/>
                        </a:rPr>
                        <a:t>策略类型</a:t>
                      </a:r>
                      <a:endParaRPr lang="zh-CN" altLang="en-US" sz="14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0">
                          <a:latin typeface="微软雅黑" charset="0"/>
                          <a:ea typeface="微软雅黑" charset="0"/>
                        </a:rPr>
                        <a:t>策略详情</a:t>
                      </a:r>
                      <a:endParaRPr lang="zh-CN" altLang="en-US" sz="14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4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月进展</a:t>
                      </a:r>
                      <a:endParaRPr lang="zh-CN" altLang="en-US" sz="14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 b="0"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400" b="0">
                          <a:latin typeface="微软雅黑" charset="0"/>
                          <a:ea typeface="微软雅黑" charset="0"/>
                        </a:rPr>
                        <a:t>月计划</a:t>
                      </a:r>
                      <a:endParaRPr lang="zh-CN" altLang="en-US" sz="14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8693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活跃用户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0-15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推送时间：每天，当天过期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人群：近期在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0~15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天有交易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策略：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折限品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X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50%</a:t>
                      </a:r>
                      <a:endParaRPr lang="en-US" altLang="zh-CN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50%</a:t>
                      </a:r>
                      <a:endParaRPr lang="en-US" altLang="zh-CN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日上线，拉齐后下单用户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+0.5%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，杯量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+1.2%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，单杯实收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+0.5%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。从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0-7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天看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折效果最好，建议考虑扩量并拓展为券包形态。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涨价实验覆盖：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每天循环发，当天有效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折限品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</a:t>
                      </a:r>
                      <a:endParaRPr lang="en-US" altLang="zh-CN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</a:t>
                      </a:r>
                      <a:endParaRPr lang="en-US" altLang="zh-CN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+75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折全品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</a:t>
                      </a:r>
                      <a:endParaRPr lang="en-US" altLang="zh-CN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10280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沉默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~30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天召回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推送时间：每天，当天过期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人群：近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16-30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天未交易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策略：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日上线，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折提升后单杯实收提升明显，但用户及单量下降。待权衡决策。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涨价实验覆盖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每天循环发，当天有效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15011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沉默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30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天以上召回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推送时间：每天，当天过期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人群：近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未交易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策略：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 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1.99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券包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30%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1.99,2.99-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次日生效，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2. 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折券包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50%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,2.99-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次日生效，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3. 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折券包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20%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,2.99-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次日生效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日上线，拉齐后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vs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折组下单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+10.8%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实收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+6.6%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折组下单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+0.6%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实收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+17.9%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。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折组实收效果最优，但人均杯量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-8%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，建议观察长期杯量影响后决策。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涨价实验覆盖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每周一循环发券包，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日有效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折券包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50%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,2.99,5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折券包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20%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4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,2.99-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次日生效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3.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折券包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20%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,3.99-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次日生效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,7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10280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浏览未购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推送时间：每天当天过期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 / 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周一、周五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人群：近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天浏览未购买用户（剔除新客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天内、沉默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30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天以上）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策略：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折券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日上线，收补后效果显著：下单用户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+1.4%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，杯量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+5.7%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，实收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+7.6%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日复购率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13.2% vs 9.9%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+3.3pp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）。用户质量好，建议全量。实时策略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8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日因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bug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下线，保留周一周五离线触达。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涨价实验覆盖：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每天循环发，当天有效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55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6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折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8693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注册未下单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推送时间：注册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/7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天未下单、券到期剩</a:t>
                      </a: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天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人群：注册未下单用户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策略：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对照组：空白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>
                          <a:latin typeface="微软雅黑" charset="0"/>
                          <a:ea typeface="微软雅黑" charset="0"/>
                        </a:rPr>
                        <a:t>实验组：触达提醒（未额外补券）</a:t>
                      </a:r>
                      <a:endParaRPr lang="zh-CN" altLang="en-US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12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月</a:t>
                      </a: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26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日上线，下单用户数</a:t>
                      </a: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+22%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，召回率提升</a:t>
                      </a: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0.24pp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至</a:t>
                      </a: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1.27%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3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日复购率</a:t>
                      </a: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+7.15pp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至</a:t>
                      </a:r>
                      <a:r>
                        <a:rPr lang="en-US" altLang="zh-CN" sz="1000">
                          <a:latin typeface="微软雅黑" charset="0"/>
                          <a:ea typeface="微软雅黑" charset="0"/>
                          <a:sym typeface="+mn-ea"/>
                        </a:rPr>
                        <a:t>18%</a:t>
                      </a:r>
                      <a:r>
                        <a:rPr lang="zh-CN" altLang="en-US" sz="1000">
                          <a:latin typeface="微软雅黑" charset="0"/>
                          <a:ea typeface="微软雅黑" charset="0"/>
                          <a:sym typeface="+mn-ea"/>
                        </a:rPr>
                        <a:t>。用户质量及成本合理，已作为常态化抓手。</a:t>
                      </a:r>
                      <a:endParaRPr lang="zh-CN" altLang="en-US" sz="1000" b="0"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latin typeface="微软雅黑" charset="0"/>
                          <a:ea typeface="微软雅黑" charset="0"/>
                        </a:rPr>
                        <a:t>--</a:t>
                      </a:r>
                      <a:endParaRPr lang="en-US" altLang="zh-CN" sz="1000" b="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2"/>
          <p:cNvSpPr txBox="1"/>
          <p:nvPr/>
        </p:nvSpPr>
        <p:spPr>
          <a:xfrm>
            <a:off x="300000" y="183505"/>
            <a:ext cx="9000000" cy="400000"/>
          </a:xfrm>
          <a:prstGeom prst="rect">
            <a:avLst/>
          </a:prstGeom>
          <a:noFill/>
        </p:spPr>
        <p:txBody>
          <a:bodyPr wrap="square" anchor="t"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zh-CN" altLang="en-US" sz="2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老客策略</a:t>
            </a:r>
            <a:endParaRPr lang="zh-CN" altLang="en-US" sz="260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Box 18"/>
          <p:cNvSpPr txBox="1"/>
          <p:nvPr/>
        </p:nvSpPr>
        <p:spPr>
          <a:xfrm>
            <a:off x="1820545" y="183515"/>
            <a:ext cx="7193915" cy="368300"/>
          </a:xfrm>
          <a:prstGeom prst="rect">
            <a:avLst/>
          </a:prstGeom>
          <a:noFill/>
        </p:spPr>
        <p:txBody>
          <a:bodyPr wrap="square" anchor="t"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lang="en-US" altLang="zh-CN" sz="24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zh-CN" altLang="en-US" sz="24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月</a:t>
            </a:r>
            <a:r>
              <a:rPr lang="zh-CN" sz="24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全链路涨价实验，</a:t>
            </a:r>
            <a:r>
              <a:rPr lang="en-US" altLang="zh-CN" sz="24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zh-CN" altLang="en-US" sz="24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月计划全链路</a:t>
            </a:r>
            <a:r>
              <a:rPr lang="zh-CN" altLang="en-US" sz="2400">
                <a:solidFill>
                  <a:schemeClr val="accent1"/>
                </a:solidFill>
                <a:latin typeface="微软雅黑" charset="0"/>
                <a:ea typeface="微软雅黑" charset="0"/>
                <a:cs typeface="微软雅黑" charset="0"/>
              </a:rPr>
              <a:t>继续逐层覆盖</a:t>
            </a:r>
            <a:endParaRPr lang="zh-CN" altLang="en-US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endParaRPr lang="zh-CN" altLang="en-US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37*249"/>
  <p:tag name="TABLE_ENDDRAG_RECT" val="23*65*537*249"/>
</p:tagLst>
</file>

<file path=ppt/tags/tag2.xml><?xml version="1.0" encoding="utf-8"?>
<p:tagLst xmlns:p="http://schemas.openxmlformats.org/presentationml/2006/main">
  <p:tag name="TABLE_ENDDRAG_ORIGIN_RECT" val="872*441"/>
  <p:tag name="TABLE_ENDDRAG_RECT" val="32*66*872*441"/>
</p:tagLst>
</file>

<file path=ppt/tags/tag3.xml><?xml version="1.0" encoding="utf-8"?>
<p:tagLst xmlns:p="http://schemas.openxmlformats.org/presentationml/2006/main">
  <p:tag name="resource_record_key" val="{&quot;29&quot;:[50000199,50000097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1634</Words>
  <Application>WPS 表格</Application>
  <PresentationFormat>On-screen Show (4:3)</PresentationFormat>
  <Paragraphs>145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微软雅黑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李宵霄</cp:lastModifiedBy>
  <cp:revision>3</cp:revision>
  <dcterms:created xsi:type="dcterms:W3CDTF">2026-02-11T11:18:04Z</dcterms:created>
  <dcterms:modified xsi:type="dcterms:W3CDTF">2026-02-11T11:18:04Z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EE56539507DD29626C658C69C22C5A75_43</vt:lpwstr>
  </property>
  <property fmtid="{D5CDD505-2E9C-101B-9397-08002B2CF9AE}" pid="3" name="KSOProductBuildVer">
    <vt:lpwstr>2052-7.2.2.8955</vt:lpwstr>
  </property>
</Properties>
</file>