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9"/>
  </p:handoutMasterIdLst>
  <p:sldIdLst>
    <p:sldId id="11922" r:id="rId4"/>
    <p:sldId id="11947" r:id="rId6"/>
    <p:sldId id="11952" r:id="rId7"/>
    <p:sldId id="11943" r:id="rId8"/>
  </p:sldIdLst>
  <p:sldSz cx="12192000" cy="6858000"/>
  <p:notesSz cx="7103745" cy="10234295"/>
  <p:embeddedFontLst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3" userDrawn="1">
          <p15:clr>
            <a:srgbClr val="A4A3A4"/>
          </p15:clr>
        </p15:guide>
        <p15:guide id="2" pos="388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amen" initials="X" lastIdx="1" clrIdx="0"/>
  <p:cmAuthor id="2" name="Administrator" initials="A" lastIdx="2" clrIdx="1"/>
  <p:cmAuthor id="7" name="lucky" initials="l" lastIdx="68" clrIdx="6"/>
  <p:cmAuthor id="77" name="mingkai.chen@lkcoffee.com" initials="" lastIdx="1" clrIdx="26"/>
  <p:cmAuthor id="8" name="ginger" initials="g" lastIdx="1" clrIdx="7"/>
  <p:cmAuthor id="3" name="86180" initials="8" lastIdx="1" clrIdx="2"/>
  <p:cmAuthor id="75" name="作者" initials="A" lastIdx="0" clrIdx="24"/>
  <p:cmAuthor id="5" name="高圣婴" initials="高" lastIdx="1" clrIdx="4"/>
  <p:cmAuthor id="76" name="lee yan" initials="ly" lastIdx="2" clrIdx="2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3D00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86438"/>
  </p:normalViewPr>
  <p:slideViewPr>
    <p:cSldViewPr snapToGrid="0" showGuides="1">
      <p:cViewPr varScale="1">
        <p:scale>
          <a:sx n="109" d="100"/>
          <a:sy n="109" d="100"/>
        </p:scale>
        <p:origin x="1360" y="184"/>
      </p:cViewPr>
      <p:guideLst>
        <p:guide orient="horz" pos="2233"/>
        <p:guide pos="3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24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P-0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560" y="-7831"/>
            <a:ext cx="12227560" cy="6877368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bg-PPT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664" y="0"/>
            <a:ext cx="12198664" cy="6861255"/>
          </a:xfrm>
          <a:prstGeom prst="rect">
            <a:avLst/>
          </a:prstGeom>
        </p:spPr>
      </p:pic>
      <p:sp>
        <p:nvSpPr>
          <p:cNvPr id="3" name="椭圆 2"/>
          <p:cNvSpPr/>
          <p:nvPr userDrawn="1"/>
        </p:nvSpPr>
        <p:spPr>
          <a:xfrm>
            <a:off x="4745990" y="2300915"/>
            <a:ext cx="2700000" cy="447670"/>
          </a:xfrm>
          <a:prstGeom prst="ellipse">
            <a:avLst/>
          </a:prstGeom>
          <a:solidFill>
            <a:srgbClr val="222773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5719" tIns="35719" rIns="35719" bIns="35719" numCol="1" spcCol="38100" rtlCol="0" anchor="ctr" forceAA="0">
            <a:spAutoFit/>
          </a:bodyPr>
          <a:lstStyle/>
          <a:p>
            <a:pPr marL="0" marR="0" indent="0" algn="ctr" defTabSz="41084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es-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328" y="199390"/>
            <a:ext cx="1709103" cy="465773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6FD4-5F51-444E-BEC0-17C1C0A6F9DE}" type="datetimeFigureOut">
              <a:rPr lang="zh-CN" altLang="en-US" smtClean="0"/>
            </a:fld>
            <a:endParaRPr lang="zh-CN" altLang="en-US" sz="900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es-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68790" y="6369050"/>
            <a:ext cx="2506028" cy="28194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 dirty="0"/>
          </a:p>
        </p:txBody>
      </p:sp>
      <p:pic>
        <p:nvPicPr>
          <p:cNvPr id="5" name="图片 4" descr="logoes-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995" y="199390"/>
            <a:ext cx="1623378" cy="44259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bg-PPT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664" y="0"/>
            <a:ext cx="12198664" cy="6861255"/>
          </a:xfrm>
          <a:prstGeom prst="rect">
            <a:avLst/>
          </a:prstGeom>
        </p:spPr>
      </p:pic>
      <p:sp>
        <p:nvSpPr>
          <p:cNvPr id="3" name="椭圆 2"/>
          <p:cNvSpPr/>
          <p:nvPr userDrawn="1"/>
        </p:nvSpPr>
        <p:spPr>
          <a:xfrm>
            <a:off x="4745990" y="2193925"/>
            <a:ext cx="2237105" cy="2158365"/>
          </a:xfrm>
          <a:prstGeom prst="ellipse">
            <a:avLst/>
          </a:prstGeom>
          <a:solidFill>
            <a:srgbClr val="222773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5719" tIns="35719" rIns="35719" bIns="35719" numCol="1" spcCol="38100" rtlCol="0" anchor="ctr" forceAA="0">
            <a:noAutofit/>
          </a:bodyPr>
          <a:lstStyle/>
          <a:p>
            <a:pPr marL="0" marR="0" indent="0" algn="ctr" defTabSz="41084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es-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2263" y="6391910"/>
            <a:ext cx="1709103" cy="465773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2193727" y="294742"/>
            <a:ext cx="7804547" cy="1518047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2193727" y="1830586"/>
            <a:ext cx="7804547" cy="442019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967907" y="6505277"/>
            <a:ext cx="338233" cy="328935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1200"/>
            </a:lvl1pPr>
          </a:lstStyle>
          <a:p>
            <a:fld id="{86CB4B4D-7CA3-9044-876B-883B54F8677D}" type="slidenum">
              <a:rPr/>
            </a:fld>
            <a:endParaRPr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936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B6FD4-5F51-444E-BEC0-17C1C0A6F9DE}" type="datetimeFigureOut">
              <a:rPr lang="zh-CN" altLang="en-US" smtClean="0"/>
            </a:fld>
            <a:endParaRPr lang="zh-CN" altLang="en-US" sz="90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med"/>
  <p:hf sldNum="0" hdr="0" ftr="0" dt="0"/>
  <p:txStyles>
    <p:titleStyle>
      <a:lvl1pPr marL="0" marR="0" indent="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30861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53086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75311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97536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119761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141986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164211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186436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208661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p:transition spd="med"/>
  <p:hf sldNum="0" hdr="0" ftr="0" dt="0"/>
  <p:txStyles>
    <p:titleStyle>
      <a:lvl1pPr marL="0" marR="0" indent="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30861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53086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75311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97536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119761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141986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164211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186436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2086610" marR="0" indent="-308610" algn="l" defTabSz="410845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08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image" Target="../media/image11.jpeg"/><Relationship Id="rId5" Type="http://schemas.openxmlformats.org/officeDocument/2006/relationships/tags" Target="../tags/tag7.xml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7" Type="http://schemas.openxmlformats.org/officeDocument/2006/relationships/notesSlide" Target="../notesSlides/notesSlide3.xml"/><Relationship Id="rId26" Type="http://schemas.openxmlformats.org/officeDocument/2006/relationships/slideLayout" Target="../slideLayouts/slideLayout11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image" Target="../media/image14.png"/><Relationship Id="rId2" Type="http://schemas.openxmlformats.org/officeDocument/2006/relationships/tags" Target="../tags/tag6.xml"/><Relationship Id="rId19" Type="http://schemas.openxmlformats.org/officeDocument/2006/relationships/image" Target="../media/image13.jpeg"/><Relationship Id="rId18" Type="http://schemas.openxmlformats.org/officeDocument/2006/relationships/tags" Target="../tags/tag18.xml"/><Relationship Id="rId17" Type="http://schemas.openxmlformats.org/officeDocument/2006/relationships/image" Target="../media/image12.jpeg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6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6921"/>
            <a:ext cx="5402554" cy="6341079"/>
          </a:xfrm>
          <a:prstGeom prst="rect">
            <a:avLst/>
          </a:prstGeom>
        </p:spPr>
      </p:pic>
      <p:sp>
        <p:nvSpPr>
          <p:cNvPr id="9" name="封面主标题 (思源黑体 Regular 70p)"/>
          <p:cNvSpPr txBox="1"/>
          <p:nvPr/>
        </p:nvSpPr>
        <p:spPr>
          <a:xfrm>
            <a:off x="4855675" y="3909475"/>
            <a:ext cx="7441965" cy="1187903"/>
          </a:xfrm>
          <a:prstGeom prst="rect">
            <a:avLst/>
          </a:prstGeom>
        </p:spPr>
        <p:txBody>
          <a:bodyPr vert="horz" lIns="45720" tIns="22860" rIns="45720" bIns="22860" rtlCol="0" anchor="ctr">
            <a:norm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defRPr>
            </a:lvl1pPr>
          </a:lstStyle>
          <a:p>
            <a:r>
              <a:rPr lang="en-US" altLang="zh-CN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Coffee Pass: 5 Drinks for $19.9</a:t>
            </a:r>
            <a:endParaRPr lang="en-US" altLang="zh-CN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55675" y="4983078"/>
            <a:ext cx="7160734" cy="5067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defTabSz="821055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  <a:sym typeface="Helvetica Light"/>
              </a:rPr>
              <a:t>15/01/2026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503050405090304" pitchFamily="18" charset="0"/>
              <a:cs typeface="Times New Roman" panose="02020503050405090304" pitchFamily="18" charset="0"/>
              <a:sym typeface="Helvetica Light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内容页主标题（思源黑体Bold 42p）"/>
          <p:cNvSpPr txBox="1"/>
          <p:nvPr/>
        </p:nvSpPr>
        <p:spPr>
          <a:xfrm>
            <a:off x="621665" y="213974"/>
            <a:ext cx="10852785" cy="455295"/>
          </a:xfrm>
          <a:prstGeom prst="rect">
            <a:avLst/>
          </a:prstGeom>
          <a:ln w="12700">
            <a:miter lim="400000"/>
          </a:ln>
        </p:spPr>
        <p:txBody>
          <a:bodyPr wrap="square" lIns="35718" tIns="35718" rIns="35718" bIns="35718" anchor="ctr">
            <a:spAutoFit/>
          </a:bodyPr>
          <a:lstStyle>
            <a:lvl1pPr algn="l">
              <a:defRPr sz="4200">
                <a:solidFill>
                  <a:srgbClr val="1D4389"/>
                </a:solidFill>
                <a:latin typeface="Source Han Sans CN Bold Bold"/>
                <a:ea typeface="Source Han Sans CN Bold Bold"/>
                <a:cs typeface="Source Han Sans CN Bold Bold"/>
                <a:sym typeface="Source Han Sans CN Bold Bold"/>
              </a:defRPr>
            </a:lvl1pPr>
          </a:lstStyle>
          <a:p>
            <a:pPr marL="342900" marR="0" lvl="0" indent="-342900" algn="l" defTabSz="8210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9A3D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Source Han Sans CN Bold Bold"/>
              </a:rPr>
              <a:t>Promotion Event: </a:t>
            </a:r>
            <a:r>
              <a:rPr lang="en-US" altLang="zh-CN" sz="2500" b="1" kern="0" noProof="0" dirty="0">
                <a:ln>
                  <a:noFill/>
                </a:ln>
                <a:solidFill>
                  <a:srgbClr val="9A3D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「Coffee Pass: 5 Drinks for $19.9 」</a:t>
            </a:r>
            <a:r>
              <a:rPr kumimoji="0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9A3D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Han Sans CN Bold Bold"/>
              </a:rPr>
              <a:t> </a:t>
            </a:r>
            <a:endParaRPr kumimoji="0" lang="zh-CN" altLang="en-US" sz="2500" b="1" i="0" u="none" strike="noStrike" kern="0" cap="none" spc="0" normalizeH="0" baseline="0" noProof="0" dirty="0">
              <a:ln>
                <a:noFill/>
              </a:ln>
              <a:solidFill>
                <a:srgbClr val="9A3D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urce Han Sans CN Bold Bold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1665" y="2624455"/>
            <a:ext cx="11083925" cy="3946525"/>
          </a:xfrm>
          <a:prstGeom prst="rect">
            <a:avLst/>
          </a:prstGeom>
          <a:noFill/>
          <a:ln>
            <a:solidFill>
              <a:srgbClr val="B2B2B2"/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Price: $19.9 for the Coffee Pass</a:t>
            </a:r>
            <a:r>
              <a:rPr lang="zh-CN" altLang="en-US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（</a:t>
            </a:r>
            <a:r>
              <a:rPr lang="en-US" altLang="zh-CN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tax included</a:t>
            </a:r>
            <a:r>
              <a:rPr lang="zh-CN" altLang="en-US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）</a:t>
            </a:r>
            <a:r>
              <a:rPr lang="en-US" altLang="zh-CN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Available to all eligible participants. Limit one purchase per user.</a:t>
            </a:r>
            <a:endParaRPr lang="en-US" altLang="zh-CN" sz="14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Redeemable Items: Each voucher included in the Coffee Pass can be used to redeem one drink at any Luckin Coffee store in New York City (customization options may incur additional charges; certain store types may be excluded).</a:t>
            </a:r>
            <a:endParaRPr lang="en-US" altLang="zh-CN" sz="14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Note: If a voucher is not used within 14 days of purchase, it may be canceled and a full refund will be issued.</a:t>
            </a:r>
            <a:endParaRPr lang="en-US" altLang="zh-CN" sz="14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How to Use:</a:t>
            </a:r>
            <a:endParaRPr lang="en-US" altLang="zh-CN" sz="14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1.Purchase the Coffee Pass on th</a:t>
            </a:r>
            <a:r>
              <a:rPr lang="en-US" altLang="zh-CN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 page. After completing payment, the vouchers will be added to your account.</a:t>
            </a:r>
            <a:endParaRPr lang="en-US" altLang="zh-CN" sz="14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2.Visit any Luckin Coffee store and place your drink order through the app.</a:t>
            </a:r>
            <a:endParaRPr lang="en-US" altLang="zh-CN" sz="14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3.At checkout, if the vouchers are in your account, they will be automatically applied — each voucher redeems one drink.</a:t>
            </a:r>
            <a:endParaRPr lang="en-US" altLang="zh-CN" sz="14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Refund Policy:</a:t>
            </a:r>
            <a:endParaRPr lang="en-US" altLang="zh-CN" sz="14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Refund Policy: You may request a refund at any time, provided the voucher remains unused. If a refund is needed, please send the request to our customer service email at cs@luckincoffee.us. YOUR UNUSED VOUCHER MAY BE CANCELED, AND YOU WILL RECEIVE A FULL REFUND OF THE PURCHASE PRICE IF YOUR VOUCHER REMAINS UNUSED FOR fourteen (14) DAYS OR LONGER AFTER PURCHASE AND IS CANCELED BY LUCKIN COFFEE AT ITS SOLE DISCRETION. </a:t>
            </a:r>
            <a:endParaRPr lang="en-US" altLang="zh-CN" sz="14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504825" y="789305"/>
            <a:ext cx="2534920" cy="45593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3665" tIns="51833" rIns="103665" bIns="51833" rtlCol="0" anchor="ctr">
            <a:no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8210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00" kern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Helvetica Light"/>
              </a:rPr>
              <a:t>Effective Date</a:t>
            </a:r>
            <a:endParaRPr lang="en-US" altLang="zh-CN" sz="18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charset="-122"/>
              <a:cs typeface="Times New Roman" panose="02020503050405090304" pitchFamily="18" charset="0"/>
              <a:sym typeface="Helvetica Ligh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04825" y="1441450"/>
            <a:ext cx="2534920" cy="45593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3665" tIns="51833" rIns="103665" bIns="51833" rtlCol="0" anchor="ctr">
            <a:no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8210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00" kern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Helvetica Light"/>
              </a:rPr>
              <a:t>Effective Scope</a:t>
            </a:r>
            <a:endParaRPr lang="en-US" altLang="zh-CN" sz="18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charset="-122"/>
              <a:cs typeface="Times New Roman" panose="02020503050405090304" pitchFamily="18" charset="0"/>
              <a:sym typeface="Helvetica Light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504825" y="2124710"/>
            <a:ext cx="2534920" cy="45593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3665" tIns="51833" rIns="103665" bIns="51833" rtlCol="0" anchor="ctr">
            <a:no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8210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00" kern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Helvetica Light"/>
              </a:rPr>
              <a:t>Promotional Products</a:t>
            </a:r>
            <a:endParaRPr lang="en-US" altLang="zh-CN" sz="18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charset="-122"/>
              <a:cs typeface="Times New Roman" panose="02020503050405090304" pitchFamily="18" charset="0"/>
              <a:sym typeface="Helvetica Ligh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4705" y="7893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8210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Helvetica Light"/>
              </a:rPr>
              <a:t>From Jan 21 to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Helvetica Light"/>
              </a:rPr>
              <a:t>Jan 27</a:t>
            </a:r>
            <a:endParaRPr lang="en-US" altLang="zh-CN" kern="0" dirty="0">
              <a:solidFill>
                <a:srgbClr val="000000"/>
              </a:solidFill>
              <a:latin typeface="Times New Roman" panose="02020503050405090304" pitchFamily="18" charset="0"/>
              <a:ea typeface="微软雅黑" panose="020B0503020204020204" charset="-122"/>
              <a:cs typeface="Times New Roman" panose="02020503050405090304" pitchFamily="18" charset="0"/>
              <a:sym typeface="Helvetica Light"/>
            </a:endParaRPr>
          </a:p>
        </p:txBody>
      </p:sp>
    </p:spTree>
    <p:custDataLst>
      <p:tags r:id="rId4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>
            <p:custDataLst>
              <p:tags r:id="rId1"/>
            </p:custDataLst>
          </p:nvPr>
        </p:nvSpPr>
        <p:spPr>
          <a:xfrm>
            <a:off x="7694295" y="1124585"/>
            <a:ext cx="4497705" cy="55079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>
            <p:custDataLst>
              <p:tags r:id="rId2"/>
            </p:custDataLst>
          </p:nvPr>
        </p:nvSpPr>
        <p:spPr>
          <a:xfrm>
            <a:off x="2578735" y="1146810"/>
            <a:ext cx="4551680" cy="55079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wecom-temp-299262-6ace848ce1467c137a74d37a0c4665d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460" y="2479040"/>
            <a:ext cx="1743710" cy="378015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3195" y="2251710"/>
            <a:ext cx="1918970" cy="4159885"/>
          </a:xfrm>
          <a:prstGeom prst="rect">
            <a:avLst/>
          </a:prstGeom>
        </p:spPr>
      </p:pic>
      <p:sp>
        <p:nvSpPr>
          <p:cNvPr id="202" name="奖品设置"/>
          <p:cNvSpPr txBox="1"/>
          <p:nvPr/>
        </p:nvSpPr>
        <p:spPr>
          <a:xfrm>
            <a:off x="890133" y="1919571"/>
            <a:ext cx="764540" cy="26606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800" b="1">
                <a:solidFill>
                  <a:srgbClr val="FFFFFF"/>
                </a:solidFill>
              </a:defRPr>
            </a:lvl1pPr>
          </a:lstStyle>
          <a:p>
            <a:r>
              <a:rPr sz="1400"/>
              <a:t>奖品设置</a:t>
            </a:r>
            <a:endParaRPr sz="1400"/>
          </a:p>
        </p:txBody>
      </p:sp>
      <p:pic>
        <p:nvPicPr>
          <p:cNvPr id="248" name="已粘贴的影片.png" descr="已粘贴的影片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130" t="217" r="311" b="224"/>
          <a:stretch>
            <a:fillRect/>
          </a:stretch>
        </p:blipFill>
        <p:spPr>
          <a:xfrm>
            <a:off x="4126230" y="3769360"/>
            <a:ext cx="11430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07" y="0"/>
                </a:moveTo>
                <a:cubicBezTo>
                  <a:pt x="9329" y="17"/>
                  <a:pt x="8733" y="40"/>
                  <a:pt x="8647" y="75"/>
                </a:cubicBezTo>
                <a:cubicBezTo>
                  <a:pt x="8484" y="142"/>
                  <a:pt x="8322" y="198"/>
                  <a:pt x="8273" y="187"/>
                </a:cubicBezTo>
                <a:cubicBezTo>
                  <a:pt x="8113" y="151"/>
                  <a:pt x="6701" y="619"/>
                  <a:pt x="6701" y="711"/>
                </a:cubicBezTo>
                <a:cubicBezTo>
                  <a:pt x="6701" y="761"/>
                  <a:pt x="6646" y="785"/>
                  <a:pt x="6589" y="749"/>
                </a:cubicBezTo>
                <a:cubicBezTo>
                  <a:pt x="6531" y="713"/>
                  <a:pt x="6514" y="753"/>
                  <a:pt x="6514" y="824"/>
                </a:cubicBezTo>
                <a:cubicBezTo>
                  <a:pt x="6514" y="895"/>
                  <a:pt x="6475" y="897"/>
                  <a:pt x="6439" y="861"/>
                </a:cubicBezTo>
                <a:cubicBezTo>
                  <a:pt x="6403" y="825"/>
                  <a:pt x="6233" y="886"/>
                  <a:pt x="6064" y="973"/>
                </a:cubicBezTo>
                <a:cubicBezTo>
                  <a:pt x="5896" y="1060"/>
                  <a:pt x="5718" y="1088"/>
                  <a:pt x="5653" y="1048"/>
                </a:cubicBezTo>
                <a:cubicBezTo>
                  <a:pt x="5588" y="1008"/>
                  <a:pt x="5546" y="1033"/>
                  <a:pt x="5578" y="1086"/>
                </a:cubicBezTo>
                <a:cubicBezTo>
                  <a:pt x="5610" y="1138"/>
                  <a:pt x="5559" y="1223"/>
                  <a:pt x="5466" y="1310"/>
                </a:cubicBezTo>
                <a:cubicBezTo>
                  <a:pt x="5372" y="1397"/>
                  <a:pt x="5292" y="1451"/>
                  <a:pt x="5278" y="1423"/>
                </a:cubicBezTo>
                <a:cubicBezTo>
                  <a:pt x="5264" y="1394"/>
                  <a:pt x="5167" y="1438"/>
                  <a:pt x="5054" y="1535"/>
                </a:cubicBezTo>
                <a:cubicBezTo>
                  <a:pt x="4941" y="1631"/>
                  <a:pt x="4818" y="1711"/>
                  <a:pt x="4792" y="1685"/>
                </a:cubicBezTo>
                <a:cubicBezTo>
                  <a:pt x="4765" y="1658"/>
                  <a:pt x="4594" y="1770"/>
                  <a:pt x="4417" y="1947"/>
                </a:cubicBezTo>
                <a:cubicBezTo>
                  <a:pt x="4241" y="2123"/>
                  <a:pt x="4064" y="2284"/>
                  <a:pt x="4006" y="2284"/>
                </a:cubicBezTo>
                <a:cubicBezTo>
                  <a:pt x="3947" y="2284"/>
                  <a:pt x="3790" y="2391"/>
                  <a:pt x="3669" y="2546"/>
                </a:cubicBezTo>
                <a:cubicBezTo>
                  <a:pt x="3547" y="2700"/>
                  <a:pt x="3348" y="2893"/>
                  <a:pt x="3219" y="2957"/>
                </a:cubicBezTo>
                <a:cubicBezTo>
                  <a:pt x="3091" y="3021"/>
                  <a:pt x="2957" y="3114"/>
                  <a:pt x="2957" y="3182"/>
                </a:cubicBezTo>
                <a:cubicBezTo>
                  <a:pt x="2957" y="3250"/>
                  <a:pt x="2917" y="3372"/>
                  <a:pt x="2845" y="3444"/>
                </a:cubicBezTo>
                <a:cubicBezTo>
                  <a:pt x="2773" y="3516"/>
                  <a:pt x="2695" y="3530"/>
                  <a:pt x="2695" y="3481"/>
                </a:cubicBezTo>
                <a:cubicBezTo>
                  <a:pt x="2695" y="3433"/>
                  <a:pt x="2624" y="3521"/>
                  <a:pt x="2508" y="3669"/>
                </a:cubicBezTo>
                <a:cubicBezTo>
                  <a:pt x="2392" y="3816"/>
                  <a:pt x="2284" y="3994"/>
                  <a:pt x="2284" y="4043"/>
                </a:cubicBezTo>
                <a:cubicBezTo>
                  <a:pt x="2284" y="4092"/>
                  <a:pt x="2177" y="4156"/>
                  <a:pt x="2059" y="4230"/>
                </a:cubicBezTo>
                <a:cubicBezTo>
                  <a:pt x="1941" y="4304"/>
                  <a:pt x="1878" y="4442"/>
                  <a:pt x="1909" y="4492"/>
                </a:cubicBezTo>
                <a:cubicBezTo>
                  <a:pt x="1940" y="4542"/>
                  <a:pt x="1892" y="4606"/>
                  <a:pt x="1797" y="4642"/>
                </a:cubicBezTo>
                <a:cubicBezTo>
                  <a:pt x="1702" y="4678"/>
                  <a:pt x="1653" y="4723"/>
                  <a:pt x="1685" y="4754"/>
                </a:cubicBezTo>
                <a:cubicBezTo>
                  <a:pt x="1716" y="4785"/>
                  <a:pt x="1633" y="4945"/>
                  <a:pt x="1497" y="5091"/>
                </a:cubicBezTo>
                <a:cubicBezTo>
                  <a:pt x="1362" y="5237"/>
                  <a:pt x="1235" y="5483"/>
                  <a:pt x="1198" y="5653"/>
                </a:cubicBezTo>
                <a:cubicBezTo>
                  <a:pt x="1161" y="5822"/>
                  <a:pt x="1058" y="5952"/>
                  <a:pt x="1011" y="5952"/>
                </a:cubicBezTo>
                <a:cubicBezTo>
                  <a:pt x="941" y="5952"/>
                  <a:pt x="792" y="6383"/>
                  <a:pt x="786" y="6589"/>
                </a:cubicBezTo>
                <a:cubicBezTo>
                  <a:pt x="785" y="6618"/>
                  <a:pt x="767" y="6667"/>
                  <a:pt x="711" y="6701"/>
                </a:cubicBezTo>
                <a:cubicBezTo>
                  <a:pt x="656" y="6735"/>
                  <a:pt x="571" y="6875"/>
                  <a:pt x="562" y="7000"/>
                </a:cubicBezTo>
                <a:cubicBezTo>
                  <a:pt x="552" y="7125"/>
                  <a:pt x="501" y="7225"/>
                  <a:pt x="449" y="7225"/>
                </a:cubicBezTo>
                <a:cubicBezTo>
                  <a:pt x="397" y="7225"/>
                  <a:pt x="380" y="7292"/>
                  <a:pt x="412" y="7375"/>
                </a:cubicBezTo>
                <a:cubicBezTo>
                  <a:pt x="444" y="7458"/>
                  <a:pt x="427" y="7544"/>
                  <a:pt x="374" y="7562"/>
                </a:cubicBezTo>
                <a:cubicBezTo>
                  <a:pt x="322" y="7580"/>
                  <a:pt x="290" y="7786"/>
                  <a:pt x="262" y="8011"/>
                </a:cubicBezTo>
                <a:cubicBezTo>
                  <a:pt x="234" y="8237"/>
                  <a:pt x="136" y="8474"/>
                  <a:pt x="75" y="8535"/>
                </a:cubicBezTo>
                <a:cubicBezTo>
                  <a:pt x="38" y="8572"/>
                  <a:pt x="18" y="9096"/>
                  <a:pt x="0" y="10107"/>
                </a:cubicBezTo>
                <a:lnTo>
                  <a:pt x="0" y="12279"/>
                </a:lnTo>
                <a:lnTo>
                  <a:pt x="187" y="12990"/>
                </a:lnTo>
                <a:cubicBezTo>
                  <a:pt x="927" y="16338"/>
                  <a:pt x="3006" y="19050"/>
                  <a:pt x="6027" y="20552"/>
                </a:cubicBezTo>
                <a:cubicBezTo>
                  <a:pt x="7083" y="21077"/>
                  <a:pt x="8595" y="21505"/>
                  <a:pt x="9658" y="21600"/>
                </a:cubicBezTo>
                <a:lnTo>
                  <a:pt x="12765" y="21600"/>
                </a:lnTo>
                <a:lnTo>
                  <a:pt x="13701" y="21301"/>
                </a:lnTo>
                <a:cubicBezTo>
                  <a:pt x="15642" y="20703"/>
                  <a:pt x="17159" y="19814"/>
                  <a:pt x="18493" y="18493"/>
                </a:cubicBezTo>
                <a:cubicBezTo>
                  <a:pt x="19818" y="17180"/>
                  <a:pt x="20852" y="15432"/>
                  <a:pt x="21375" y="13589"/>
                </a:cubicBezTo>
                <a:cubicBezTo>
                  <a:pt x="21554" y="12959"/>
                  <a:pt x="21572" y="12696"/>
                  <a:pt x="21600" y="9845"/>
                </a:cubicBezTo>
                <a:lnTo>
                  <a:pt x="21600" y="8835"/>
                </a:lnTo>
                <a:lnTo>
                  <a:pt x="21301" y="7899"/>
                </a:lnTo>
                <a:cubicBezTo>
                  <a:pt x="20706" y="5970"/>
                  <a:pt x="19950" y="4647"/>
                  <a:pt x="18568" y="3219"/>
                </a:cubicBezTo>
                <a:cubicBezTo>
                  <a:pt x="17185" y="1792"/>
                  <a:pt x="15636" y="885"/>
                  <a:pt x="13626" y="299"/>
                </a:cubicBezTo>
                <a:lnTo>
                  <a:pt x="12653" y="0"/>
                </a:lnTo>
                <a:lnTo>
                  <a:pt x="10107" y="0"/>
                </a:lnTo>
                <a:close/>
                <a:moveTo>
                  <a:pt x="11043" y="1423"/>
                </a:moveTo>
                <a:cubicBezTo>
                  <a:pt x="11620" y="1435"/>
                  <a:pt x="12196" y="1527"/>
                  <a:pt x="12765" y="1647"/>
                </a:cubicBezTo>
                <a:cubicBezTo>
                  <a:pt x="16478" y="2431"/>
                  <a:pt x="19373" y="5415"/>
                  <a:pt x="20065" y="9172"/>
                </a:cubicBezTo>
                <a:cubicBezTo>
                  <a:pt x="20227" y="10050"/>
                  <a:pt x="20243" y="11780"/>
                  <a:pt x="20065" y="12616"/>
                </a:cubicBezTo>
                <a:cubicBezTo>
                  <a:pt x="19878" y="13495"/>
                  <a:pt x="19628" y="14198"/>
                  <a:pt x="19242" y="14974"/>
                </a:cubicBezTo>
                <a:cubicBezTo>
                  <a:pt x="17822" y="17827"/>
                  <a:pt x="14997" y="19797"/>
                  <a:pt x="11829" y="20140"/>
                </a:cubicBezTo>
                <a:cubicBezTo>
                  <a:pt x="11508" y="20175"/>
                  <a:pt x="10998" y="20183"/>
                  <a:pt x="10706" y="20177"/>
                </a:cubicBezTo>
                <a:cubicBezTo>
                  <a:pt x="6160" y="20095"/>
                  <a:pt x="2353" y="16867"/>
                  <a:pt x="1572" y="12428"/>
                </a:cubicBezTo>
                <a:cubicBezTo>
                  <a:pt x="850" y="8321"/>
                  <a:pt x="2968" y="4168"/>
                  <a:pt x="6738" y="2358"/>
                </a:cubicBezTo>
                <a:cubicBezTo>
                  <a:pt x="7911" y="1796"/>
                  <a:pt x="9203" y="1510"/>
                  <a:pt x="10482" y="1460"/>
                </a:cubicBezTo>
                <a:cubicBezTo>
                  <a:pt x="10674" y="1452"/>
                  <a:pt x="10851" y="1418"/>
                  <a:pt x="11043" y="1423"/>
                </a:cubicBezTo>
                <a:close/>
                <a:moveTo>
                  <a:pt x="10781" y="4380"/>
                </a:moveTo>
                <a:cubicBezTo>
                  <a:pt x="10367" y="4394"/>
                  <a:pt x="9963" y="4630"/>
                  <a:pt x="9771" y="5091"/>
                </a:cubicBezTo>
                <a:cubicBezTo>
                  <a:pt x="9508" y="5720"/>
                  <a:pt x="9860" y="6439"/>
                  <a:pt x="10519" y="6626"/>
                </a:cubicBezTo>
                <a:cubicBezTo>
                  <a:pt x="10810" y="6709"/>
                  <a:pt x="10818" y="6726"/>
                  <a:pt x="11156" y="6626"/>
                </a:cubicBezTo>
                <a:cubicBezTo>
                  <a:pt x="11825" y="6427"/>
                  <a:pt x="12145" y="5636"/>
                  <a:pt x="11829" y="5016"/>
                </a:cubicBezTo>
                <a:cubicBezTo>
                  <a:pt x="11601" y="4569"/>
                  <a:pt x="11196" y="4366"/>
                  <a:pt x="10781" y="4380"/>
                </a:cubicBezTo>
                <a:close/>
                <a:moveTo>
                  <a:pt x="8273" y="8011"/>
                </a:moveTo>
                <a:lnTo>
                  <a:pt x="8273" y="8498"/>
                </a:lnTo>
                <a:lnTo>
                  <a:pt x="8273" y="8984"/>
                </a:lnTo>
                <a:lnTo>
                  <a:pt x="8984" y="9209"/>
                </a:lnTo>
                <a:lnTo>
                  <a:pt x="9658" y="9434"/>
                </a:lnTo>
                <a:lnTo>
                  <a:pt x="9658" y="12653"/>
                </a:lnTo>
                <a:lnTo>
                  <a:pt x="9658" y="15872"/>
                </a:lnTo>
                <a:lnTo>
                  <a:pt x="8984" y="16097"/>
                </a:lnTo>
                <a:lnTo>
                  <a:pt x="8273" y="16322"/>
                </a:lnTo>
                <a:lnTo>
                  <a:pt x="8273" y="16771"/>
                </a:lnTo>
                <a:lnTo>
                  <a:pt x="8273" y="17258"/>
                </a:lnTo>
                <a:lnTo>
                  <a:pt x="10819" y="17258"/>
                </a:lnTo>
                <a:lnTo>
                  <a:pt x="13364" y="17258"/>
                </a:lnTo>
                <a:lnTo>
                  <a:pt x="13364" y="16771"/>
                </a:lnTo>
                <a:lnTo>
                  <a:pt x="13364" y="16322"/>
                </a:lnTo>
                <a:lnTo>
                  <a:pt x="12690" y="16097"/>
                </a:lnTo>
                <a:lnTo>
                  <a:pt x="11979" y="15872"/>
                </a:lnTo>
                <a:lnTo>
                  <a:pt x="11979" y="11942"/>
                </a:lnTo>
                <a:lnTo>
                  <a:pt x="11979" y="8011"/>
                </a:lnTo>
                <a:lnTo>
                  <a:pt x="10145" y="8011"/>
                </a:lnTo>
                <a:lnTo>
                  <a:pt x="8273" y="8011"/>
                </a:ln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230" name="【赠品加入订单】…"/>
          <p:cNvSpPr/>
          <p:nvPr>
            <p:custDataLst>
              <p:tags r:id="rId7"/>
            </p:custDataLst>
          </p:nvPr>
        </p:nvSpPr>
        <p:spPr>
          <a:xfrm>
            <a:off x="7670925" y="1473944"/>
            <a:ext cx="2145188" cy="554624"/>
          </a:xfrm>
          <a:prstGeom prst="roundRect">
            <a:avLst>
              <a:gd name="adj" fmla="val 18837"/>
            </a:avLst>
          </a:prstGeom>
          <a:solidFill>
            <a:srgbClr val="23276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r>
              <a:rPr lang="en-US" altLang="zh-CN" sz="1000" dirty="0">
                <a:latin typeface="Times New Roman Medium" charset="0"/>
                <a:cs typeface="Times New Roman Medium" charset="0"/>
              </a:rPr>
              <a:t>After the new store opens, starting from August 24th, you can use the voucher when </a:t>
            </a:r>
            <a:r>
              <a:rPr lang="en-US" altLang="zh-CN" sz="1000" dirty="0">
                <a:latin typeface="Times New Roman Medium" charset="0"/>
                <a:cs typeface="Times New Roman Medium" charset="0"/>
              </a:rPr>
              <a:t>placing an order.</a:t>
            </a:r>
            <a:endParaRPr lang="en-US" altLang="zh-CN" sz="1000" dirty="0">
              <a:latin typeface="Times New Roman Medium" charset="0"/>
              <a:cs typeface="Times New Roman Medium" charset="0"/>
            </a:endParaRPr>
          </a:p>
        </p:txBody>
      </p:sp>
      <p:sp>
        <p:nvSpPr>
          <p:cNvPr id="225" name="【同抽奖流程】…"/>
          <p:cNvSpPr/>
          <p:nvPr>
            <p:custDataLst>
              <p:tags r:id="rId8"/>
            </p:custDataLst>
          </p:nvPr>
        </p:nvSpPr>
        <p:spPr>
          <a:xfrm>
            <a:off x="229553" y="1519449"/>
            <a:ext cx="2128868" cy="554623"/>
          </a:xfrm>
          <a:prstGeom prst="roundRect">
            <a:avLst>
              <a:gd name="adj" fmla="val 18837"/>
            </a:avLst>
          </a:prstGeom>
          <a:solidFill>
            <a:srgbClr val="23276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r>
              <a:rPr lang="en-US" sz="1000" dirty="0">
                <a:latin typeface="Times New Roman Medium" charset="0"/>
                <a:cs typeface="Times New Roman Medium" charset="0"/>
              </a:rPr>
              <a:t>Event info shown on  </a:t>
            </a:r>
            <a:r>
              <a:rPr lang="en-US" altLang="zh-CN" sz="1000" dirty="0">
                <a:latin typeface="Times New Roman Medium" charset="0"/>
                <a:cs typeface="Times New Roman Medium" charset="0"/>
              </a:rPr>
              <a:t>Resource positions </a:t>
            </a:r>
            <a:r>
              <a:rPr lang="en-US" altLang="zh-CN" sz="1000" dirty="0">
                <a:latin typeface="Times New Roman Medium" charset="0"/>
                <a:cs typeface="Times New Roman Medium" charset="0"/>
              </a:rPr>
              <a:t>below</a:t>
            </a:r>
            <a:endParaRPr lang="en-US" altLang="zh-CN" sz="1000" dirty="0">
              <a:latin typeface="Times New Roman Medium" charset="0"/>
              <a:cs typeface="Times New Roman Medium" charset="0"/>
            </a:endParaRPr>
          </a:p>
        </p:txBody>
      </p:sp>
      <p:sp>
        <p:nvSpPr>
          <p:cNvPr id="226" name="【中奖结果提示】…"/>
          <p:cNvSpPr/>
          <p:nvPr>
            <p:custDataLst>
              <p:tags r:id="rId9"/>
            </p:custDataLst>
          </p:nvPr>
        </p:nvSpPr>
        <p:spPr>
          <a:xfrm>
            <a:off x="2578557" y="1519744"/>
            <a:ext cx="2167809" cy="554624"/>
          </a:xfrm>
          <a:prstGeom prst="roundRect">
            <a:avLst>
              <a:gd name="adj" fmla="val 19981"/>
            </a:avLst>
          </a:prstGeom>
          <a:solidFill>
            <a:srgbClr val="23276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r>
              <a:rPr lang="en-US" altLang="zh-CN" sz="1000" dirty="0">
                <a:latin typeface="Times New Roman Medium" charset="0"/>
                <a:cs typeface="Times New Roman Medium" charset="0"/>
              </a:rPr>
              <a:t>Click to jump to the coffee </a:t>
            </a:r>
            <a:r>
              <a:rPr lang="en-US" altLang="zh-CN" sz="1000" dirty="0">
                <a:latin typeface="Times New Roman Medium" charset="0"/>
                <a:cs typeface="Times New Roman Medium" charset="0"/>
              </a:rPr>
              <a:t>pass purchase page</a:t>
            </a:r>
            <a:endParaRPr lang="en-US" altLang="zh-CN" sz="1000" dirty="0">
              <a:latin typeface="Times New Roman Medium" charset="0"/>
              <a:cs typeface="Times New Roman Medium" charset="0"/>
            </a:endParaRPr>
          </a:p>
        </p:txBody>
      </p:sp>
      <p:sp>
        <p:nvSpPr>
          <p:cNvPr id="235" name="1"/>
          <p:cNvSpPr txBox="1"/>
          <p:nvPr>
            <p:custDataLst>
              <p:tags r:id="rId10"/>
            </p:custDataLst>
          </p:nvPr>
        </p:nvSpPr>
        <p:spPr>
          <a:xfrm>
            <a:off x="1232852" y="1174912"/>
            <a:ext cx="183515" cy="4000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5200" i="1">
                <a:solidFill>
                  <a:srgbClr val="A4BAE5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600"/>
              <a:t>1</a:t>
            </a:r>
            <a:endParaRPr sz="2600"/>
          </a:p>
        </p:txBody>
      </p:sp>
      <p:sp>
        <p:nvSpPr>
          <p:cNvPr id="236" name="2"/>
          <p:cNvSpPr txBox="1"/>
          <p:nvPr>
            <p:custDataLst>
              <p:tags r:id="rId11"/>
            </p:custDataLst>
          </p:nvPr>
        </p:nvSpPr>
        <p:spPr>
          <a:xfrm>
            <a:off x="3514964" y="1161725"/>
            <a:ext cx="183515" cy="4000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5200" i="1">
                <a:solidFill>
                  <a:srgbClr val="A4BAE5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600" dirty="0"/>
              <a:t>2</a:t>
            </a:r>
            <a:endParaRPr sz="2600" dirty="0"/>
          </a:p>
        </p:txBody>
      </p:sp>
      <p:sp>
        <p:nvSpPr>
          <p:cNvPr id="237" name="3"/>
          <p:cNvSpPr txBox="1"/>
          <p:nvPr>
            <p:custDataLst>
              <p:tags r:id="rId12"/>
            </p:custDataLst>
          </p:nvPr>
        </p:nvSpPr>
        <p:spPr>
          <a:xfrm>
            <a:off x="5870825" y="1150863"/>
            <a:ext cx="183515" cy="4000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5200" i="1">
                <a:solidFill>
                  <a:srgbClr val="A4BAE5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600" dirty="0"/>
              <a:t>3</a:t>
            </a:r>
            <a:endParaRPr sz="2600" dirty="0"/>
          </a:p>
        </p:txBody>
      </p:sp>
      <p:sp>
        <p:nvSpPr>
          <p:cNvPr id="238" name="4"/>
          <p:cNvSpPr txBox="1"/>
          <p:nvPr>
            <p:custDataLst>
              <p:tags r:id="rId13"/>
            </p:custDataLst>
          </p:nvPr>
        </p:nvSpPr>
        <p:spPr>
          <a:xfrm>
            <a:off x="8593579" y="1124328"/>
            <a:ext cx="183515" cy="4000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5200" i="1">
                <a:solidFill>
                  <a:srgbClr val="A4BAE5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600"/>
              <a:t>4</a:t>
            </a:r>
            <a:endParaRPr sz="2600"/>
          </a:p>
        </p:txBody>
      </p:sp>
      <p:sp>
        <p:nvSpPr>
          <p:cNvPr id="8" name="【中奖结果提示】…"/>
          <p:cNvSpPr/>
          <p:nvPr>
            <p:custDataLst>
              <p:tags r:id="rId14"/>
            </p:custDataLst>
          </p:nvPr>
        </p:nvSpPr>
        <p:spPr>
          <a:xfrm>
            <a:off x="4924675" y="1503019"/>
            <a:ext cx="2164715" cy="554624"/>
          </a:xfrm>
          <a:prstGeom prst="roundRect">
            <a:avLst>
              <a:gd name="adj" fmla="val 19981"/>
            </a:avLst>
          </a:prstGeom>
          <a:solidFill>
            <a:srgbClr val="23276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r>
              <a:rPr lang="en-US" altLang="zh-CN" sz="1000" dirty="0">
                <a:solidFill>
                  <a:srgbClr val="FFFFFF"/>
                </a:solidFill>
                <a:latin typeface="Times New Roman Medium" charset="0"/>
                <a:ea typeface="宋体" charset="0"/>
              </a:rPr>
              <a:t>After payment, you will see the order  page.</a:t>
            </a:r>
            <a:endParaRPr lang="en-US" altLang="zh-CN" sz="1000" dirty="0">
              <a:solidFill>
                <a:srgbClr val="FFFFFF"/>
              </a:solidFill>
              <a:latin typeface="Times New Roman Medium" charset="0"/>
              <a:ea typeface="宋体" charset="0"/>
            </a:endParaRPr>
          </a:p>
        </p:txBody>
      </p:sp>
      <p:sp>
        <p:nvSpPr>
          <p:cNvPr id="32" name="【赠品加入订单】…"/>
          <p:cNvSpPr/>
          <p:nvPr>
            <p:custDataLst>
              <p:tags r:id="rId15"/>
            </p:custDataLst>
          </p:nvPr>
        </p:nvSpPr>
        <p:spPr>
          <a:xfrm>
            <a:off x="9949569" y="1473944"/>
            <a:ext cx="2145189" cy="554624"/>
          </a:xfrm>
          <a:prstGeom prst="roundRect">
            <a:avLst>
              <a:gd name="adj" fmla="val 18837"/>
            </a:avLst>
          </a:prstGeom>
          <a:solidFill>
            <a:srgbClr val="23276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indent="0" algn="ctr" defTabSz="82550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r>
              <a:rPr lang="en-US" altLang="zh-CN" sz="1000" dirty="0">
                <a:latin typeface="Times New Roman Medium" charset="0"/>
                <a:cs typeface="Times New Roman Medium" charset="0"/>
              </a:rPr>
              <a:t>You can check the usage status of the </a:t>
            </a:r>
            <a:r>
              <a:rPr lang="en-US" altLang="zh-CN" sz="1000" dirty="0">
                <a:latin typeface="Times New Roman Medium" charset="0"/>
                <a:cs typeface="Times New Roman Medium" charset="0"/>
              </a:rPr>
              <a:t>voucher on the order completion page.</a:t>
            </a:r>
            <a:endParaRPr lang="en-US" altLang="zh-CN" sz="1000" dirty="0">
              <a:latin typeface="Times New Roman Medium" charset="0"/>
              <a:cs typeface="Times New Roman Medium" charset="0"/>
            </a:endParaRPr>
          </a:p>
        </p:txBody>
      </p:sp>
      <p:sp>
        <p:nvSpPr>
          <p:cNvPr id="33" name="4"/>
          <p:cNvSpPr txBox="1"/>
          <p:nvPr>
            <p:custDataLst>
              <p:tags r:id="rId16"/>
            </p:custDataLst>
          </p:nvPr>
        </p:nvSpPr>
        <p:spPr>
          <a:xfrm>
            <a:off x="10872224" y="1124328"/>
            <a:ext cx="183515" cy="4000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5200" i="1">
                <a:solidFill>
                  <a:srgbClr val="A4BAE5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600" dirty="0"/>
              <a:t>5</a:t>
            </a:r>
            <a:endParaRPr sz="2600" dirty="0"/>
          </a:p>
        </p:txBody>
      </p:sp>
      <p:sp>
        <p:nvSpPr>
          <p:cNvPr id="3" name="矩形 2"/>
          <p:cNvSpPr/>
          <p:nvPr/>
        </p:nvSpPr>
        <p:spPr>
          <a:xfrm>
            <a:off x="6506210" y="2571750"/>
            <a:ext cx="118110" cy="14097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556375"/>
            <a:ext cx="5713730" cy="2552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8" tIns="35718" rIns="35718" bIns="35718" numCol="1" spcCol="38100" rtlCol="0" anchor="ctr">
            <a:spAutoFit/>
          </a:bodyPr>
          <a:p>
            <a:pPr marL="0" marR="0" lvl="0" indent="0" algn="l" defTabSz="8210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Helvetica Light"/>
              </a:rPr>
              <a:t>* App Version Number Requirement (if any):ALL VERSION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charset="-122"/>
              <a:cs typeface="Times New Roman" panose="02020503050405090304" pitchFamily="18" charset="0"/>
              <a:sym typeface="Helvetica Light"/>
            </a:endParaRPr>
          </a:p>
        </p:txBody>
      </p:sp>
      <p:pic>
        <p:nvPicPr>
          <p:cNvPr id="12" name="图片 11" descr="wecom-temp-236009-9740cf6392ab8e43a44ba6748e08942f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54270" y="2248535"/>
            <a:ext cx="1919605" cy="4163060"/>
          </a:xfrm>
          <a:prstGeom prst="rect">
            <a:avLst/>
          </a:prstGeom>
        </p:spPr>
      </p:pic>
      <p:sp>
        <p:nvSpPr>
          <p:cNvPr id="19" name="矩形 18"/>
          <p:cNvSpPr/>
          <p:nvPr>
            <p:custDataLst>
              <p:tags r:id="rId18"/>
            </p:custDataLst>
          </p:nvPr>
        </p:nvSpPr>
        <p:spPr>
          <a:xfrm>
            <a:off x="7871460" y="4923155"/>
            <a:ext cx="1743710" cy="16954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wecom-temp-323592-dc6821df48ea6d228c8ece40167a824a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59670" y="2465705"/>
            <a:ext cx="1680845" cy="364617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9900" y="2379980"/>
            <a:ext cx="1628140" cy="3519170"/>
          </a:xfrm>
          <a:prstGeom prst="rect">
            <a:avLst/>
          </a:prstGeom>
        </p:spPr>
      </p:pic>
      <p:sp>
        <p:nvSpPr>
          <p:cNvPr id="28" name="矩形 27"/>
          <p:cNvSpPr/>
          <p:nvPr>
            <p:custDataLst>
              <p:tags r:id="rId21"/>
            </p:custDataLst>
          </p:nvPr>
        </p:nvSpPr>
        <p:spPr>
          <a:xfrm>
            <a:off x="3798570" y="6007100"/>
            <a:ext cx="935990" cy="35623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>
            <p:custDataLst>
              <p:tags r:id="rId22"/>
            </p:custDataLst>
          </p:nvPr>
        </p:nvSpPr>
        <p:spPr>
          <a:xfrm>
            <a:off x="10016490" y="4961255"/>
            <a:ext cx="1743710" cy="14097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17"/>
          <p:cNvSpPr txBox="1"/>
          <p:nvPr>
            <p:custDataLst>
              <p:tags r:id="rId23"/>
            </p:custDataLst>
          </p:nvPr>
        </p:nvSpPr>
        <p:spPr>
          <a:xfrm>
            <a:off x="4044315" y="1092835"/>
            <a:ext cx="3073400" cy="514350"/>
          </a:xfrm>
          <a:prstGeom prst="rect">
            <a:avLst/>
          </a:prstGeom>
          <a:noFill/>
        </p:spPr>
        <p:txBody>
          <a:bodyPr wrap="none" anchor="ctr" anchorCtr="0"/>
          <a:lstStyle>
            <a:lvl1pPr marL="0" lvl="0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1pPr>
            <a:lvl2pPr marL="457200" lvl="1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2pPr>
            <a:lvl3pPr marL="914400" lvl="2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3pPr>
            <a:lvl4pPr marL="1371600" lvl="3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4pPr>
            <a:lvl5pPr marL="1828800" lvl="4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5pPr>
            <a:lvl6pPr marL="2286000" lvl="5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6pPr>
            <a:lvl7pPr marL="2743200" lvl="6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7pPr>
            <a:lvl8pPr marL="3200400" lvl="7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8pPr>
            <a:lvl9pPr marL="3657600" lvl="8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9pPr>
          </a:lstStyle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Purchase first</a:t>
            </a:r>
            <a:endParaRPr lang="en-US" altLang="zh-CN" sz="16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31" name="文本框 17"/>
          <p:cNvSpPr txBox="1"/>
          <p:nvPr>
            <p:custDataLst>
              <p:tags r:id="rId24"/>
            </p:custDataLst>
          </p:nvPr>
        </p:nvSpPr>
        <p:spPr>
          <a:xfrm>
            <a:off x="8851900" y="1016635"/>
            <a:ext cx="2680970" cy="514350"/>
          </a:xfrm>
          <a:prstGeom prst="rect">
            <a:avLst/>
          </a:prstGeom>
          <a:noFill/>
        </p:spPr>
        <p:txBody>
          <a:bodyPr wrap="none" anchor="ctr" anchorCtr="0"/>
          <a:lstStyle>
            <a:lvl1pPr marL="0" lvl="0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1pPr>
            <a:lvl2pPr marL="457200" lvl="1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2pPr>
            <a:lvl3pPr marL="914400" lvl="2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3pPr>
            <a:lvl4pPr marL="1371600" lvl="3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4pPr>
            <a:lvl5pPr marL="1828800" lvl="4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5pPr>
            <a:lvl6pPr marL="2286000" lvl="5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6pPr>
            <a:lvl7pPr marL="2743200" lvl="6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7pPr>
            <a:lvl8pPr marL="3200400" lvl="7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8pPr>
            <a:lvl9pPr marL="3657600" lvl="8" algn="l" defTabSz="914400">
              <a:lnSpc>
                <a:spcPct val="130000"/>
              </a:lnSpc>
              <a:defRPr sz="1800" kern="1200">
                <a:solidFill>
                  <a:schemeClr val="tx1"/>
                </a:solidFill>
                <a:latin typeface="Arial" panose="020B0604020202090204"/>
                <a:ea typeface="微软雅黑" panose="020B0503020204020204" charset="-122"/>
              </a:defRPr>
            </a:lvl9pPr>
          </a:lstStyle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Redeemable right after purchase.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7" name="右箭头 36"/>
          <p:cNvSpPr/>
          <p:nvPr/>
        </p:nvSpPr>
        <p:spPr>
          <a:xfrm>
            <a:off x="7098030" y="4144010"/>
            <a:ext cx="777875" cy="4508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内容页主标题（思源黑体Bold 42p）"/>
          <p:cNvSpPr txBox="1"/>
          <p:nvPr/>
        </p:nvSpPr>
        <p:spPr>
          <a:xfrm>
            <a:off x="370840" y="213974"/>
            <a:ext cx="10852785" cy="455295"/>
          </a:xfrm>
          <a:prstGeom prst="rect">
            <a:avLst/>
          </a:prstGeom>
          <a:ln w="12700">
            <a:miter lim="400000"/>
          </a:ln>
        </p:spPr>
        <p:txBody>
          <a:bodyPr wrap="square" lIns="35718" tIns="35718" rIns="35718" bIns="35718" anchor="ctr">
            <a:spAutoFit/>
          </a:bodyPr>
          <a:lstStyle>
            <a:lvl1pPr algn="l">
              <a:defRPr sz="4200">
                <a:solidFill>
                  <a:srgbClr val="1D4389"/>
                </a:solidFill>
                <a:latin typeface="Source Han Sans CN Bold Bold"/>
                <a:ea typeface="Source Han Sans CN Bold Bold"/>
                <a:cs typeface="Source Han Sans CN Bold Bold"/>
                <a:sym typeface="Source Han Sans CN Bold Bold"/>
              </a:defRPr>
            </a:lvl1pPr>
          </a:lstStyle>
          <a:p>
            <a:pPr marL="342900" marR="0" lvl="0" indent="-342900" algn="l" defTabSz="8210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9A3D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Source Han Sans CN Bold Bold"/>
              </a:rPr>
              <a:t>Promotion Event: </a:t>
            </a:r>
            <a:r>
              <a:rPr lang="en-US" altLang="zh-CN" sz="2500" b="1" kern="0" noProof="0" dirty="0">
                <a:ln>
                  <a:noFill/>
                </a:ln>
                <a:solidFill>
                  <a:srgbClr val="9A3D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「Coffee Pass: 5 Drinks for $19.9 」</a:t>
            </a:r>
            <a:r>
              <a:rPr kumimoji="0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9A3D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Han Sans CN Bold Bold"/>
              </a:rPr>
              <a:t> </a:t>
            </a:r>
            <a:endParaRPr kumimoji="0" lang="zh-CN" altLang="en-US" sz="2500" b="1" i="0" u="none" strike="noStrike" kern="0" cap="none" spc="0" normalizeH="0" baseline="0" noProof="0" dirty="0">
              <a:ln>
                <a:noFill/>
              </a:ln>
              <a:solidFill>
                <a:srgbClr val="9A3D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urce Han Sans CN Bold Bold"/>
            </a:endParaRPr>
          </a:p>
        </p:txBody>
      </p:sp>
      <p:sp>
        <p:nvSpPr>
          <p:cNvPr id="4" name="矩形 3"/>
          <p:cNvSpPr/>
          <p:nvPr>
            <p:custDataLst>
              <p:tags r:id="rId25"/>
            </p:custDataLst>
          </p:nvPr>
        </p:nvSpPr>
        <p:spPr>
          <a:xfrm>
            <a:off x="296545" y="4605020"/>
            <a:ext cx="2047240" cy="110299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9610" y="567055"/>
            <a:ext cx="1018349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C00000"/>
                </a:solidFill>
              </a:rPr>
              <a:t>Kindly Noet:This page is for reference only. The final event details are subject to the official online page.</a:t>
            </a:r>
            <a:endParaRPr lang="en-US" altLang="zh-CN" sz="160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P-02"/>
          <p:cNvPicPr>
            <a:picLocks noChangeAspect="1"/>
          </p:cNvPicPr>
          <p:nvPr/>
        </p:nvPicPr>
        <p:blipFill rotWithShape="1">
          <a:blip r:embed="rId1"/>
          <a:srcRect t="64338"/>
          <a:stretch>
            <a:fillRect/>
          </a:stretch>
        </p:blipFill>
        <p:spPr>
          <a:xfrm>
            <a:off x="-33338" y="4437000"/>
            <a:ext cx="12225338" cy="24521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920197" y="3008212"/>
            <a:ext cx="2351606" cy="8415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35719" tIns="35719" rIns="35719" bIns="35719" numCol="1" spcCol="38100" rtlCol="0" anchor="ctr" forceAA="0">
            <a:spAutoFit/>
          </a:bodyPr>
          <a:lstStyle/>
          <a:p>
            <a:pPr algn="ctr" defTabSz="410845" hangingPunct="0">
              <a:defRPr/>
            </a:pPr>
            <a:r>
              <a:rPr lang="en-US" altLang="zh-CN" sz="5000" b="1" kern="0" dirty="0">
                <a:solidFill>
                  <a:srgbClr val="0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Helvetica Light"/>
              </a:rPr>
              <a:t>Thanks!</a:t>
            </a:r>
            <a:endParaRPr lang="zh-CN" altLang="en-US" sz="5000" b="1" kern="0" dirty="0">
              <a:solidFill>
                <a:srgbClr val="000000"/>
              </a:solidFill>
              <a:latin typeface="Times New Roman" panose="02020503050405090304" pitchFamily="18" charset="0"/>
              <a:ea typeface="+mj-ea"/>
              <a:cs typeface="Times New Roman" panose="02020503050405090304" pitchFamily="18" charset="0"/>
              <a:sym typeface="Helvetica Light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DIAGRAM_VIRTUALLY_FRAME" val="{&quot;height&quot;:264.0423622047244,&quot;left&quot;:71.75,&quot;top&quot;:215.6272440944882,&quot;width&quot;:816.5}"/>
</p:tagLst>
</file>

<file path=ppt/tags/tag2.xml><?xml version="1.0" encoding="utf-8"?>
<p:tagLst xmlns:p="http://schemas.openxmlformats.org/presentationml/2006/main">
  <p:tag name="KSO_WM_DIAGRAM_VIRTUALLY_FRAME" val="{&quot;height&quot;:264.0423622047244,&quot;left&quot;:71.75,&quot;top&quot;:215.6272440944882,&quot;width&quot;:816.5}"/>
</p:tagLst>
</file>

<file path=ppt/tags/tag3.xml><?xml version="1.0" encoding="utf-8"?>
<p:tagLst xmlns:p="http://schemas.openxmlformats.org/presentationml/2006/main">
  <p:tag name="KSO_WM_DIAGRAM_VIRTUALLY_FRAME" val="{&quot;height&quot;:264.0423622047244,&quot;left&quot;:71.75,&quot;top&quot;:215.6272440944882,&quot;width&quot;:816.5}"/>
</p:tagLst>
</file>

<file path=ppt/tags/tag4.xml><?xml version="1.0" encoding="utf-8"?>
<p:tagLst xmlns:p="http://schemas.openxmlformats.org/presentationml/2006/main">
  <p:tag name="ISLIDE.DIAGRAM" val="#363026;#331434;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COMMONDATA" val="eyJoZGlkIjoiM2FiNWQxMTc4ODllMjlhYTUzY2ViM2ZkMjlmN2Y5Mjk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2_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05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05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市镇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1951</Words>
  <Application>WPS 演示</Application>
  <PresentationFormat>Widescreen</PresentationFormat>
  <Paragraphs>58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34" baseType="lpstr">
      <vt:lpstr>Arial</vt:lpstr>
      <vt:lpstr>宋体</vt:lpstr>
      <vt:lpstr>Wingdings</vt:lpstr>
      <vt:lpstr>Helvetica Light</vt:lpstr>
      <vt:lpstr>Times New Roman</vt:lpstr>
      <vt:lpstr>微软雅黑</vt:lpstr>
      <vt:lpstr>汉仪旗黑</vt:lpstr>
      <vt:lpstr>Source Han Sans CN Bold Bold</vt:lpstr>
      <vt:lpstr>Thonburi</vt:lpstr>
      <vt:lpstr>Helvetica Neue Medium</vt:lpstr>
      <vt:lpstr>Times New Roman Medium</vt:lpstr>
      <vt:lpstr>Helvetica</vt:lpstr>
      <vt:lpstr>宋体</vt:lpstr>
      <vt:lpstr>Arial</vt:lpstr>
      <vt:lpstr>Times New Roman Bold</vt:lpstr>
      <vt:lpstr>Arial Unicode MS</vt:lpstr>
      <vt:lpstr>汉仪书宋二KW</vt:lpstr>
      <vt:lpstr>Franklin Gothic Book</vt:lpstr>
      <vt:lpstr>苹方-简</vt:lpstr>
      <vt:lpstr>隶书</vt:lpstr>
      <vt:lpstr>报隶-简</vt:lpstr>
      <vt:lpstr>Calibri</vt:lpstr>
      <vt:lpstr>Helvetica Neue</vt:lpstr>
      <vt:lpstr>Helvetica</vt:lpstr>
      <vt:lpstr>Helvetica Light</vt:lpstr>
      <vt:lpstr>Helvetica Neue Medium</vt:lpstr>
      <vt:lpstr>Source Han Sans CN Bold Bold</vt:lpstr>
      <vt:lpstr>微软雅黑</vt:lpstr>
      <vt:lpstr>2_White</vt:lpstr>
      <vt:lpstr>市镇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李宵霄</cp:lastModifiedBy>
  <cp:revision>315</cp:revision>
  <dcterms:created xsi:type="dcterms:W3CDTF">2026-01-15T09:40:15Z</dcterms:created>
  <dcterms:modified xsi:type="dcterms:W3CDTF">2026-01-15T09:40:15Z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2052-7.2.2.8955</vt:lpwstr>
  </property>
  <property fmtid="{D5CDD505-2E9C-101B-9397-08002B2CF9AE}" pid="3" name="ICV">
    <vt:lpwstr>2AC3933D81B2C939FFB5686959CD6F7E_43</vt:lpwstr>
  </property>
</Properties>
</file>