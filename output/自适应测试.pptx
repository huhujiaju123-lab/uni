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24384000" cy="1371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77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deco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5720" y="1042416"/>
            <a:ext cx="10810872" cy="12697464"/>
          </a:xfrm>
          <a:prstGeom prst="rect">
            <a:avLst/>
          </a:prstGeom>
        </p:spPr>
      </p:pic>
      <p:pic>
        <p:nvPicPr>
          <p:cNvPr id="3" name="Picture 2" descr="cov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53832" y="530352"/>
            <a:ext cx="3840480" cy="10130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01200" y="4984272"/>
            <a:ext cx="12747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sz="5400" b="1">
                <a:solidFill>
                  <a:srgbClr val="FFFFFF"/>
                </a:solidFill>
                <a:latin typeface="STKaiti"/>
              </a:rPr>
              <a:t>自适应测试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25200" y="10015200"/>
            <a:ext cx="2540000" cy="15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>
                <a:solidFill>
                  <a:srgbClr val="FFFFFF"/>
                </a:solidFill>
                <a:latin typeface="STKaiti"/>
              </a:rPr>
              <a:t>李宵霄</a:t>
            </a:r>
          </a:p>
          <a:p>
            <a:pPr algn="ctr"/>
            <a:r>
              <a:rPr sz="2400">
                <a:solidFill>
                  <a:srgbClr val="FFFFFF"/>
                </a:solidFill>
                <a:latin typeface="STKaiti"/>
              </a:rPr>
              <a:t>2026年3月12日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top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0"/>
            <a:ext cx="1874520" cy="1893888"/>
          </a:xfrm>
          <a:prstGeom prst="rect">
            <a:avLst/>
          </a:prstGeom>
        </p:spPr>
      </p:pic>
      <p:pic>
        <p:nvPicPr>
          <p:cNvPr id="3" name="Picture 2" descr="logo_bottom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0" y="12801600"/>
            <a:ext cx="3200400" cy="7863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67128" y="320040"/>
            <a:ext cx="2087880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4000" b="1">
                <a:solidFill>
                  <a:srgbClr val="0F3460"/>
                </a:solidFill>
                <a:latin typeface="STKaiti"/>
              </a:rPr>
              <a:t>US用户运营提频任务方案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143000"/>
            <a:ext cx="21031200" cy="27432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234440"/>
            <a:ext cx="2103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666666"/>
                </a:solidFill>
                <a:latin typeface="STKaiti"/>
              </a:rPr>
              <a:t>目标：提高用户购买频率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554480"/>
            <a:ext cx="21031200" cy="579120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623060"/>
            <a:ext cx="20665440" cy="487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STKaiti"/>
              </a:rPr>
              <a:t>结论：基于02-12至03-04数据分析，涨价实验整体可行。涨价组单杯实收提升8-10%，虽然转化率下降约1个百分点，但总收入影响可控。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133600"/>
            <a:ext cx="21031200" cy="1722120"/>
          </a:xfrm>
          <a:prstGeom prst="rect">
            <a:avLst/>
          </a:prstGeom>
          <a:solidFill>
            <a:srgbClr val="ED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202180"/>
            <a:ext cx="20665440" cy="163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r>
              <a:rPr sz="1800">
                <a:solidFill>
                  <a:srgbClr val="333333"/>
                </a:solidFill>
                <a:latin typeface="STKaiti"/>
              </a:rPr>
              <a:t>1. </a:t>
            </a:r>
            <a:r>
              <a:rPr sz="1800" b="0">
                <a:solidFill>
                  <a:srgbClr val="333333"/>
                </a:solidFill>
                <a:latin typeface="STKaiti"/>
              </a:rPr>
              <a:t>单杯实收：涨价组1(75折系) </a:t>
            </a:r>
            <a:r>
              <a:rPr sz="1800" b="0">
                <a:solidFill>
                  <a:srgbClr val="D32F2F"/>
                </a:solidFill>
                <a:latin typeface="STKaiti"/>
              </a:rPr>
              <a:t>+8.2%</a:t>
            </a:r>
            <a:r>
              <a:rPr sz="1800" b="0">
                <a:solidFill>
                  <a:srgbClr val="333333"/>
                </a:solidFill>
                <a:latin typeface="STKaiti"/>
              </a:rPr>
              <a:t>，涨价组2(7折系) </a:t>
            </a:r>
            <a:r>
              <a:rPr sz="1800" b="0">
                <a:solidFill>
                  <a:srgbClr val="D32F2F"/>
                </a:solidFill>
                <a:latin typeface="STKaiti"/>
              </a:rPr>
              <a:t>+10.1%</a:t>
            </a:r>
          </a:p>
          <a:p>
            <a:pPr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r>
              <a:rPr sz="1800">
                <a:solidFill>
                  <a:srgbClr val="333333"/>
                </a:solidFill>
                <a:latin typeface="STKaiti"/>
              </a:rPr>
              <a:t>2. </a:t>
            </a:r>
            <a:r>
              <a:rPr sz="1800" b="0">
                <a:solidFill>
                  <a:srgbClr val="333333"/>
                </a:solidFill>
                <a:latin typeface="STKaiti"/>
              </a:rPr>
              <a:t>转化率：涨价组1 </a:t>
            </a:r>
            <a:r>
              <a:rPr sz="1800" b="0">
                <a:solidFill>
                  <a:srgbClr val="2E7D32"/>
                </a:solidFill>
                <a:latin typeface="STKaiti"/>
              </a:rPr>
              <a:t>-0.8pp</a:t>
            </a:r>
            <a:r>
              <a:rPr sz="1800" b="0">
                <a:solidFill>
                  <a:srgbClr val="333333"/>
                </a:solidFill>
                <a:latin typeface="STKaiti"/>
              </a:rPr>
              <a:t>，涨价组2 </a:t>
            </a:r>
            <a:r>
              <a:rPr sz="1800" b="0">
                <a:solidFill>
                  <a:srgbClr val="2E7D32"/>
                </a:solidFill>
                <a:latin typeface="STKaiti"/>
              </a:rPr>
              <a:t>-1.2pp</a:t>
            </a:r>
            <a:r>
              <a:rPr sz="1800" b="0">
                <a:solidFill>
                  <a:srgbClr val="333333"/>
                </a:solidFill>
                <a:latin typeface="STKaiti"/>
              </a:rPr>
              <a:t>，影响有限</a:t>
            </a:r>
          </a:p>
          <a:p>
            <a:pPr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r>
              <a:rPr sz="1800">
                <a:solidFill>
                  <a:srgbClr val="333333"/>
                </a:solidFill>
                <a:latin typeface="STKaiti"/>
              </a:rPr>
              <a:t>3. </a:t>
            </a:r>
            <a:r>
              <a:rPr sz="1800" b="0">
                <a:solidFill>
                  <a:srgbClr val="333333"/>
                </a:solidFill>
                <a:latin typeface="STKaiti"/>
              </a:rPr>
              <a:t>分层分析：30天以上流失用户对涨价敏感度最低，实收 </a:t>
            </a:r>
            <a:r>
              <a:rPr sz="1800" b="0">
                <a:solidFill>
                  <a:srgbClr val="D32F2F"/>
                </a:solidFill>
                <a:latin typeface="STKaiti"/>
              </a:rPr>
              <a:t>+12~15%</a:t>
            </a:r>
          </a:p>
          <a:p>
            <a:pPr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r>
              <a:rPr sz="1800">
                <a:solidFill>
                  <a:srgbClr val="333333"/>
                </a:solidFill>
                <a:latin typeface="STKaiti"/>
              </a:rPr>
              <a:t>4. </a:t>
            </a:r>
            <a:r>
              <a:rPr sz="1800" b="0">
                <a:solidFill>
                  <a:srgbClr val="333333"/>
                </a:solidFill>
                <a:latin typeface="STKaiti"/>
              </a:rPr>
              <a:t>建议：可考虑对不同用户群体实施差异化定价策略，重点关注活跃用户留存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4084320"/>
            <a:ext cx="45720" cy="274320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81328" y="4038600"/>
            <a:ext cx="21031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200" b="1">
                <a:solidFill>
                  <a:srgbClr val="0F3460"/>
                </a:solidFill>
                <a:latin typeface="STKaiti"/>
              </a:rPr>
              <a:t>一、核心指标概览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371600" y="4450080"/>
          <a:ext cx="21031200" cy="16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4206240"/>
                <a:gridCol w="4206240"/>
                <a:gridCol w="4206240"/>
                <a:gridCol w="4206240"/>
              </a:tblGrid>
              <a:tr h="4050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指标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涨价组1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涨价组2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对照组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差异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050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单杯实收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$6.82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$7.01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$6.31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D32F2F"/>
                          </a:solidFill>
                          <a:latin typeface="STKaiti"/>
                        </a:rPr>
                        <a:t>+8.1%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050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转化率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32.1%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31.5%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33.0%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2E7D32"/>
                          </a:solidFill>
                          <a:latin typeface="STKaiti"/>
                        </a:rPr>
                        <a:t>-0.9pp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050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人均杯量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2.3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2.1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2.4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2E7D32"/>
                          </a:solidFill>
                          <a:latin typeface="STKaiti"/>
                        </a:rPr>
                        <a:t>-4.2%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1371600" y="6207240"/>
            <a:ext cx="21031200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以上数据基于02-12至03-04期间的实验数据，涨价组1为75折券系（38,093人），涨价组2为7折券系（38,058人），对照组为原价（50,295人）。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