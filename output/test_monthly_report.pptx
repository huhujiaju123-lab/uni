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>
                <a:solidFill>
                  <a:srgbClr val="333333"/>
                </a:solidFill>
                <a:latin typeface="Kaiti SC" panose="02010600040101010101" charset="-122"/>
              </a:rPr>
              <a:t>周拉新人数</a:t>
            </a:r>
            <a:endParaRPr sz="1800">
              <a:solidFill>
                <a:srgbClr val="333333"/>
              </a:solidFill>
              <a:latin typeface="Kaiti SC" panose="02010600040101010101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拉新人数</c:v>
                </c:pt>
              </c:strCache>
            </c:strRef>
          </c:tx>
          <c:spPr>
            <a:solidFill>
              <a:srgbClr val="222773"/>
            </a:solidFill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88</c:v>
                </c:pt>
                <c:pt idx="3">
                  <c:v>76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5074ee6-0aff-4f5b-b50a-2d3939d31e29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800">
                <a:solidFill>
                  <a:srgbClr val="333333"/>
                </a:solidFill>
                <a:latin typeface="Kaiti SC" panose="02010600040101010101" charset="-122"/>
              </a:rPr>
              <a:t>月卡用户占比</a:t>
            </a:r>
            <a:endParaRPr sz="1800">
              <a:solidFill>
                <a:srgbClr val="333333"/>
              </a:solidFill>
              <a:latin typeface="Kaiti SC" panose="02010600040101010101" charset="-122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222773"/>
              </a:solidFill>
            </c:spPr>
          </c:dPt>
          <c:dPt>
            <c:idx val="1"/>
            <c:bubble3D val="0"/>
            <c:spPr>
              <a:solidFill>
                <a:srgbClr val="4A6FA5"/>
              </a:solidFill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月卡用户</c:v>
                </c:pt>
                <c:pt idx="1">
                  <c:v>非月卡用户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</c:v>
                </c:pt>
                <c:pt idx="1">
                  <c:v>77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270f613-994e-4e49-97de-90e65ab727b1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77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decor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" y="1042416"/>
            <a:ext cx="10810872" cy="12697464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3832" y="530352"/>
            <a:ext cx="3840480" cy="10130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0" y="4984272"/>
            <a:ext cx="1274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微软雅黑"/>
              </a:rPr>
              <a:t>美国用户运营2月工作进展</a:t>
            </a:r>
            <a:endParaRPr sz="6000" b="1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25200" y="10015200"/>
            <a:ext cx="2540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FFFFFF"/>
                </a:solidFill>
                <a:latin typeface="微软雅黑"/>
              </a:rPr>
              <a:t>李宵霄</a:t>
            </a:r>
            <a:endParaRPr sz="2800">
              <a:solidFill>
                <a:srgbClr val="FFFFFF"/>
              </a:solidFill>
              <a:latin typeface="微软雅黑"/>
            </a:endParaRPr>
          </a:p>
          <a:p>
            <a:pPr algn="ctr"/>
            <a:r>
              <a:rPr sz="2800">
                <a:solidFill>
                  <a:srgbClr val="FFFFFF"/>
                </a:solidFill>
                <a:latin typeface="微软雅黑"/>
              </a:rPr>
              <a:t>2026年3月</a:t>
            </a:r>
            <a:endParaRPr sz="2800">
              <a:solidFill>
                <a:srgbClr val="FFFFFF"/>
              </a:solidFill>
              <a:latin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4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微软雅黑"/>
              </a:rPr>
              <a:t>老客涨价实验</a:t>
            </a:r>
            <a:endParaRPr sz="4800" b="1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13488" y="1310640"/>
            <a:ext cx="16652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Kaiti SC" panose="02010600040101010101" charset="-122"/>
              </a:rPr>
              <a:t>实验: 2026-02-12 ~ 2026-02-28 | 涨价组1(75折系, 30%, 38,093人) vs 涨价组2(7折系, 30%, 38,058人) vs 对照组3(原价, 40%, 50,295人)</a:t>
            </a:r>
            <a:endParaRPr sz="1800">
              <a:solidFill>
                <a:srgbClr val="666666"/>
              </a:solidFill>
              <a:latin typeface="Kaiti SC" panose="020106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328" y="1859280"/>
            <a:ext cx="2109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结论：整体可以涨价，推荐涨价组1为基础方案。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359280"/>
            <a:ext cx="2109232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1.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整体涨价实验中，涨价组1定价更高但表现更好，杯实收显著提升：组1 </a:t>
            </a:r>
            <a:r>
              <a:rPr sz="2200" b="0">
                <a:solidFill>
                  <a:srgbClr val="D32F2F"/>
                </a:solidFill>
                <a:latin typeface="Kaiti SC" panose="02010600040101010101" charset="-122"/>
              </a:rPr>
              <a:t>+9.39%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、组2 </a:t>
            </a:r>
            <a:r>
              <a:rPr sz="2200" b="0">
                <a:solidFill>
                  <a:srgbClr val="D32F2F"/>
                </a:solidFill>
                <a:latin typeface="Kaiti SC" panose="02010600040101010101" charset="-122"/>
              </a:rPr>
              <a:t>+7.88%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；转化率代价可控：组1 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-0.83pp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、组2 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-1.00pp</a:t>
            </a:r>
            <a:endParaRPr sz="2200" b="0">
              <a:solidFill>
                <a:srgbClr val="2E7D32"/>
              </a:solidFill>
              <a:latin typeface="Kaiti SC" panose="02010600040101010101" charset="-122"/>
            </a:endParaR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2.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0-15天活跃客群建议下调涨价幅度：涨价组1单杯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-2.38%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，转化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-6pp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，涨价组2单杯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-2.91%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，转化</a:t>
            </a:r>
            <a:r>
              <a:rPr sz="2200" b="0">
                <a:solidFill>
                  <a:srgbClr val="D32F2F"/>
                </a:solidFill>
                <a:latin typeface="Kaiti SC" panose="02010600040101010101" charset="-122"/>
              </a:rPr>
              <a:t>+0.97pp</a:t>
            </a:r>
            <a:endParaRPr sz="2200" b="0">
              <a:solidFill>
                <a:srgbClr val="D32F2F"/>
              </a:solidFill>
              <a:latin typeface="Kaiti SC" panose="02010600040101010101" charset="-122"/>
            </a:endParaR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3.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16-30天活跃客群当前5折合理，可小幅测试55折，31+未消费人群可以继续扩量组1策略</a:t>
            </a:r>
            <a:endParaRPr sz="2200" b="0">
              <a:solidFill>
                <a:srgbClr val="333333"/>
              </a:solidFill>
              <a:latin typeface="Kaiti SC" panose="02010600040101010101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89888" y="3810720"/>
            <a:ext cx="2027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总体实验效果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463040" y="4359360"/>
          <a:ext cx="212751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866"/>
                <a:gridCol w="3545866"/>
                <a:gridCol w="3545866"/>
                <a:gridCol w="3545866"/>
                <a:gridCol w="3545866"/>
                <a:gridCol w="354586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组别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转化率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单杯实收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3日复购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7日复购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拉齐实收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涨价组1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10.79%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(-0.83pp)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$3.61 </a:t>
                      </a:r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(+9.39%)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31.54% </a:t>
                      </a:r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(+0.46pp)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50.73%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(-0.91pp)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$54,720.24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(-1.94%)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涨价组2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10.62%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(-1.00pp)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$3.56 </a:t>
                      </a:r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(+7.88%)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30.44%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(-0.64pp)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49.39%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(-2.25pp)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$53,402.96 </a:t>
                      </a:r>
                      <a:r>
                        <a:rPr sz="2000" b="0">
                          <a:solidFill>
                            <a:srgbClr val="2E7D32"/>
                          </a:solidFill>
                          <a:latin typeface="Kaiti SC" panose="02010600040101010101" charset="-122"/>
                        </a:rPr>
                        <a:t>(-4.30%)</a:t>
                      </a:r>
                      <a:endParaRPr sz="2000" b="0">
                        <a:solidFill>
                          <a:srgbClr val="2E7D32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对照组3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11.62%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$3.30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31.08%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51.64%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$55,803.70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389888" y="6371040"/>
            <a:ext cx="2027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分人群策略效果与定价建议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463040" y="6919680"/>
          <a:ext cx="2127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800"/>
                <a:gridCol w="5318800"/>
                <a:gridCol w="5318800"/>
                <a:gridCol w="531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用户分段</a:t>
                      </a:r>
                      <a:endParaRPr sz="18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涨价组1（75折系）</a:t>
                      </a:r>
                      <a:endParaRPr sz="18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涨价组2（7折系）</a:t>
                      </a:r>
                      <a:endParaRPr sz="18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下月计划</a:t>
                      </a:r>
                      <a:endParaRPr sz="18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0-15天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75折全品×2
单杯-2.38%，转化-6.00pp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7折全品×2
单杯-2.91%，转化+0.97pp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定价偏高，建议新客维持7折或更深折扣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16-30天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5折
单杯+5.76%，转化-0.85pp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5折
单杯+6.05%，转化+0.91pp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当前5折合理，可小幅测试55折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31天+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4折+$2.99+7折(t7)
单杯+9.76%，转化-0.79pp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4折(t7)+$2.99+6折(t7)
单杯+7.93%，转化-1.14pp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维持组1策略，可探索45折替代4折</a:t>
                      </a:r>
                      <a:endParaRPr sz="18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316736" y="13262616"/>
            <a:ext cx="2027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999999"/>
                </a:solidFill>
                <a:latin typeface="Kaiti SC" panose="02010600040101010101" charset="-122"/>
              </a:rPr>
              <a:t>*3日复购截至2026-02-25，7日复购截至2026-02-21，转化率=下单用户/总用户，拉齐=按对照组人数归一化。</a:t>
            </a:r>
            <a:endParaRPr sz="1800">
              <a:solidFill>
                <a:srgbClr val="999999"/>
              </a:solidFill>
              <a:latin typeface="Kaiti SC" panose="0201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4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微软雅黑"/>
              </a:rPr>
              <a:t>分享有礼活动</a:t>
            </a:r>
            <a:endParaRPr sz="4800" b="1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89888" y="1310640"/>
            <a:ext cx="21275200" cy="1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1328" y="1402080"/>
            <a:ext cx="2109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结论：2月拉新占比下降，需优化裂变链路。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328" y="1902080"/>
            <a:ext cx="2109232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1.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拉新占比从6.78%降至5.23% </a:t>
            </a:r>
            <a:r>
              <a:rPr sz="2200" b="0">
                <a:solidFill>
                  <a:srgbClr val="2E7D32"/>
                </a:solidFill>
                <a:latin typeface="Kaiti SC" panose="02010600040101010101" charset="-122"/>
              </a:rPr>
              <a:t>(-1.55pp)</a:t>
            </a:r>
            <a:endParaRPr sz="2200" b="0">
              <a:solidFill>
                <a:srgbClr val="2E7D32"/>
              </a:solidFill>
              <a:latin typeface="Kaiti SC" panose="02010600040101010101" charset="-122"/>
            </a:endParaR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2.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注册转化与下单转化双降，裂变系数停滞（人均1.1，84%仅邀1人）</a:t>
            </a:r>
            <a:endParaRPr sz="2200" b="0">
              <a:solidFill>
                <a:srgbClr val="333333"/>
              </a:solidFill>
              <a:latin typeface="Kaiti SC" panose="0201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9888" y="2933520"/>
            <a:ext cx="2027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2月拉新趋势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463040" y="3482160"/>
          <a:ext cx="2127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logo_top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0"/>
            <a:ext cx="1874520" cy="1893888"/>
          </a:xfrm>
          <a:prstGeom prst="rect">
            <a:avLst/>
          </a:prstGeom>
        </p:spPr>
      </p:pic>
      <p:pic>
        <p:nvPicPr>
          <p:cNvPr id="3" name="Picture 2" descr="logo_bottom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0" y="12801600"/>
            <a:ext cx="3200400" cy="7863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67128" y="320040"/>
            <a:ext cx="20878800" cy="1406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0000"/>
                </a:solidFill>
                <a:latin typeface="微软雅黑"/>
              </a:rPr>
              <a:t>Coffee Pass 月卡</a:t>
            </a:r>
            <a:endParaRPr sz="4800" b="1">
              <a:solidFill>
                <a:srgbClr val="000000"/>
              </a:solidFill>
              <a:latin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89888" y="1310640"/>
            <a:ext cx="21275200" cy="14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81328" y="1402080"/>
            <a:ext cx="2109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结论：月卡用户ARPU显著高于非月卡用户。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328" y="1902080"/>
            <a:ext cx="2109232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1.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月卡用户月均消费 </a:t>
            </a:r>
            <a:r>
              <a:rPr sz="2200" b="0">
                <a:solidFill>
                  <a:srgbClr val="D32F2F"/>
                </a:solidFill>
                <a:latin typeface="Kaiti SC" panose="02010600040101010101" charset="-122"/>
              </a:rPr>
              <a:t>$42.3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，非月卡 $18.7，差异 </a:t>
            </a:r>
            <a:r>
              <a:rPr sz="2200" b="0">
                <a:solidFill>
                  <a:srgbClr val="D32F2F"/>
                </a:solidFill>
                <a:latin typeface="Kaiti SC" panose="02010600040101010101" charset="-122"/>
              </a:rPr>
              <a:t>+126%</a:t>
            </a:r>
            <a:endParaRPr sz="2200" b="0">
              <a:solidFill>
                <a:srgbClr val="D32F2F"/>
              </a:solidFill>
              <a:latin typeface="Kaiti SC" panose="02010600040101010101" charset="-122"/>
            </a:endParaRP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2200">
                <a:solidFill>
                  <a:srgbClr val="333333"/>
                </a:solidFill>
                <a:latin typeface="Kaiti SC" panose="02010600040101010101" charset="-122"/>
              </a:rPr>
              <a:t>2. </a:t>
            </a:r>
            <a:r>
              <a:rPr sz="2200" b="0">
                <a:solidFill>
                  <a:srgbClr val="333333"/>
                </a:solidFill>
                <a:latin typeface="Kaiti SC" panose="02010600040101010101" charset="-122"/>
              </a:rPr>
              <a:t>月卡续费率 67%，30日留存 85%</a:t>
            </a:r>
            <a:endParaRPr sz="2200" b="0">
              <a:solidFill>
                <a:srgbClr val="333333"/>
              </a:solidFill>
              <a:latin typeface="Kaiti SC" panose="02010600040101010101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89888" y="2933520"/>
            <a:ext cx="2027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月卡 vs 非月卡对比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463040" y="3482160"/>
          <a:ext cx="2127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800"/>
                <a:gridCol w="5318800"/>
                <a:gridCol w="5318800"/>
                <a:gridCol w="531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指标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月卡用户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非月卡用户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差异</a:t>
                      </a:r>
                      <a:endParaRPr sz="2000" b="1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月均消费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$42.3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$18.7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+126%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月均杯量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12.1杯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4.8杯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+152%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30日留存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85%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33333"/>
                          </a:solidFill>
                          <a:latin typeface="Kaiti SC" panose="02010600040101010101" charset="-122"/>
                        </a:rPr>
                        <a:t>41%</a:t>
                      </a:r>
                      <a:endParaRPr sz="2000" b="0">
                        <a:solidFill>
                          <a:srgbClr val="333333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D32F2F"/>
                          </a:solidFill>
                          <a:latin typeface="Kaiti SC" panose="02010600040101010101" charset="-122"/>
                        </a:rPr>
                        <a:t>+44pp</a:t>
                      </a:r>
                      <a:endParaRPr sz="2000" b="0">
                        <a:solidFill>
                          <a:srgbClr val="D32F2F"/>
                        </a:solidFill>
                        <a:latin typeface="Kaiti SC" panose="02010600040101010101" charset="-122"/>
                      </a:endParaRPr>
                    </a:p>
                  </a:txBody>
                  <a:tcPr marL="101917" marR="101917" marT="51117" marB="51117" anchor="ctr">
                    <a:lnL w="12700" cap="flat" cmpd="sng">
                      <a:solidFill>
                        <a:srgbClr val="DDDDDD"/>
                      </a:solidFill>
                    </a:lnL>
                    <a:lnR w="12700" cap="flat" cmpd="sng">
                      <a:solidFill>
                        <a:srgbClr val="DDDDDD"/>
                      </a:solidFill>
                    </a:lnR>
                    <a:lnT w="12700" cap="flat" cmpd="sng">
                      <a:solidFill>
                        <a:srgbClr val="DDDDDD"/>
                      </a:solidFill>
                    </a:lnT>
                    <a:lnB w="12700" cap="flat" cmpd="sng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89888" y="5493840"/>
            <a:ext cx="2027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F3460"/>
                </a:solidFill>
                <a:latin typeface="Kaiti SC" panose="02010600040101010101" charset="-122"/>
              </a:rPr>
              <a:t>用户构成</a:t>
            </a:r>
            <a:endParaRPr sz="3200" b="1">
              <a:solidFill>
                <a:srgbClr val="0F3460"/>
              </a:solidFill>
              <a:latin typeface="Kaiti SC" panose="02010600040101010101" charset="-122"/>
            </a:endParaRP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1463040" y="6042480"/>
          <a:ext cx="106376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1185</Words>
  <Application>WPS 演示</Application>
  <PresentationFormat>On-screen Show (4:3)</PresentationFormat>
  <Paragraphs>153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汉仪旗黑</vt:lpstr>
      <vt:lpstr>Kaiti SC</vt:lpstr>
      <vt:lpstr>Calibri</vt:lpstr>
      <vt:lpstr>Helvetica Neue</vt:lpstr>
      <vt:lpstr>宋体</vt:lpstr>
      <vt:lpstr>汉仪书宋二KW</vt:lpstr>
      <vt:lpstr>微软雅黑</vt:lpstr>
      <vt:lpstr>Arial Unicode MS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李宵霄</cp:lastModifiedBy>
  <cp:revision>2</cp:revision>
  <dcterms:created xsi:type="dcterms:W3CDTF">2026-03-12T11:00:36Z</dcterms:created>
  <dcterms:modified xsi:type="dcterms:W3CDTF">2026-03-12T11:00:36Z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0D85AE1BD7492567D39CB2698C70FF08_42</vt:lpwstr>
  </property>
  <property fmtid="{D5CDD505-2E9C-101B-9397-08002B2CF9AE}" pid="3" name="KSOProductBuildVer">
    <vt:lpwstr>2052-7.2.2.8955</vt:lpwstr>
  </property>
</Properties>
</file>