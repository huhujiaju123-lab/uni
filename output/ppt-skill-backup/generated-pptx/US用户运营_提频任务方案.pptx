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rPr sz="1800">
                <a:solidFill>
                  <a:srgbClr val="333333"/>
                </a:solidFill>
                <a:latin typeface="STKaiti"/>
              </a:rPr>
              <a:t>周频次分布（W07-W10 四周均值）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rgbClr val="222773"/>
            </a:solidFill>
          </c:spPr>
          <c:cat>
            <c:strRef>
              <c:f>Sheet1!$A$2:$A$6</c:f>
              <c:strCache>
                <c:ptCount val="5"/>
                <c:pt idx="0">
                  <c:v>1次</c:v>
                </c:pt>
                <c:pt idx="1">
                  <c:v>2次</c:v>
                </c:pt>
                <c:pt idx="2">
                  <c:v>3次</c:v>
                </c:pt>
                <c:pt idx="3">
                  <c:v>4次</c:v>
                </c:pt>
                <c:pt idx="4">
                  <c:v>5+次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10511</c:v>
                </c:pt>
                <c:pt idx="1">
                  <c:v>2067</c:v>
                </c:pt>
                <c:pt idx="2">
                  <c:v>671</c:v>
                </c:pt>
                <c:pt idx="3">
                  <c:v>279</c:v>
                </c:pt>
                <c:pt idx="4">
                  <c:v>189</c:v>
                </c:pt>
              </c:numCache>
            </c:numRef>
          </c:val>
        </c:ser>
        <c:dLbls>
          <c:numFmt sourceLinked="0"/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STKait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200">
                <a:latin typeface="STKait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200">
                <a:latin typeface="STKait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rPr sz="1800">
                <a:solidFill>
                  <a:srgbClr val="333333"/>
                </a:solidFill>
                <a:latin typeface="STKaiti"/>
              </a:rPr>
              <a:t>7天转化率变化趋势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7天内转化率(%)</c:v>
                </c:pt>
              </c:strCache>
            </c:strRef>
          </c:tx>
          <c:spPr>
            <a:ln w="31750">
              <a:solidFill>
                <a:srgbClr val="222773"/>
              </a:solidFill>
            </a:ln>
          </c:spPr>
          <c:cat>
            <c:strRef>
              <c:f>Sheet1!$A$2:$A$6</c:f>
              <c:strCache>
                <c:ptCount val="5"/>
                <c:pt idx="0">
                  <c:v>1→2杯</c:v>
                </c:pt>
                <c:pt idx="1">
                  <c:v>2→3杯</c:v>
                </c:pt>
                <c:pt idx="2">
                  <c:v>3→4杯</c:v>
                </c:pt>
                <c:pt idx="3">
                  <c:v>4→5杯</c:v>
                </c:pt>
                <c:pt idx="4">
                  <c:v>5→6杯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40.24</c:v>
                </c:pt>
                <c:pt idx="1">
                  <c:v>40.17</c:v>
                </c:pt>
                <c:pt idx="2">
                  <c:v>51.18</c:v>
                </c:pt>
                <c:pt idx="3">
                  <c:v>52.29</c:v>
                </c:pt>
                <c:pt idx="4">
                  <c:v>57.29</c:v>
                </c:pt>
              </c:numCache>
            </c:numRef>
          </c:val>
          <c:smooth val="0"/>
          <c:marker>
            <c:symbol val="circle"/>
            <c:size val="8"/>
            <c:spPr>
              <a:solidFill>
                <a:srgbClr val="222773"/>
              </a:solidFill>
            </c:spPr>
          </c:marker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200">
                <a:latin typeface="STKait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200">
                <a:latin typeface="STKait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77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dec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1042416"/>
            <a:ext cx="10810872" cy="12697464"/>
          </a:xfrm>
          <a:prstGeom prst="rect">
            <a:avLst/>
          </a:prstGeom>
        </p:spPr>
      </p:pic>
      <p:pic>
        <p:nvPicPr>
          <p:cNvPr id="3" name="Picture 2" descr="cov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3832" y="530352"/>
            <a:ext cx="3840480" cy="10130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0" y="4984272"/>
            <a:ext cx="1274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sz="5400" b="1">
                <a:solidFill>
                  <a:srgbClr val="FFFFFF"/>
                </a:solidFill>
                <a:latin typeface="STKaiti"/>
              </a:rPr>
              <a:t>US 用户运营任务方案 — 提频任务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5200" y="10015200"/>
            <a:ext cx="2540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STKaiti"/>
              </a:rPr>
              <a:t>李宵霄</a:t>
            </a:r>
          </a:p>
          <a:p>
            <a:pPr algn="ctr"/>
            <a:r>
              <a:rPr sz="2400">
                <a:solidFill>
                  <a:srgbClr val="FFFFFF"/>
                </a:solidFill>
                <a:latin typeface="STKaiti"/>
              </a:rP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分析背景与频次现状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800">
                <a:solidFill>
                  <a:srgbClr val="444444"/>
                </a:solidFill>
                <a:latin typeface="STKaiti"/>
              </a:rPr>
              <a:t>核心问题：频次基线摸底 → 消费节奏验证 → 用户分层 → 方案测算 → 推荐方案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700784"/>
            <a:ext cx="21031200" cy="694944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792224"/>
            <a:ext cx="2066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结论：76%用户每周仅消费1次，提频空间巨大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395728"/>
            <a:ext cx="21031200" cy="170078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532888"/>
            <a:ext cx="2066544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1">
                <a:solidFill>
                  <a:srgbClr val="333333"/>
                </a:solidFill>
                <a:latin typeface="STKaiti"/>
              </a:rPr>
              <a:t>76%</a:t>
            </a:r>
            <a:r>
              <a:rPr sz="1800" b="0">
                <a:solidFill>
                  <a:srgbClr val="333333"/>
                </a:solidFill>
                <a:latin typeface="STKaiti"/>
              </a:rPr>
              <a:t> 的活跃用户每周仅消费 1 次，仅 </a:t>
            </a:r>
            <a:r>
              <a:rPr sz="1800" b="1">
                <a:solidFill>
                  <a:srgbClr val="333333"/>
                </a:solidFill>
                <a:latin typeface="STKaiti"/>
              </a:rPr>
              <a:t>8.3%</a:t>
            </a:r>
            <a:r>
              <a:rPr sz="1800" b="0">
                <a:solidFill>
                  <a:srgbClr val="333333"/>
                </a:solidFill>
                <a:latin typeface="STKaiti"/>
              </a:rPr>
              <a:t> 用户周消费 ≥3 次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0">
                <a:solidFill>
                  <a:srgbClr val="333333"/>
                </a:solidFill>
                <a:latin typeface="STKaiti"/>
              </a:rPr>
              <a:t>周活跃用户约 </a:t>
            </a:r>
            <a:r>
              <a:rPr sz="1800" b="1">
                <a:solidFill>
                  <a:srgbClr val="333333"/>
                </a:solidFill>
                <a:latin typeface="STKaiti"/>
              </a:rPr>
              <a:t>13,716人</a:t>
            </a:r>
            <a:r>
              <a:rPr sz="1800" b="0">
                <a:solidFill>
                  <a:srgbClr val="333333"/>
                </a:solidFill>
                <a:latin typeface="STKaiti"/>
              </a:rPr>
              <a:t>（W07-W10 四周均值），1次用户占绝对多数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0">
                <a:solidFill>
                  <a:srgbClr val="333333"/>
                </a:solidFill>
                <a:latin typeface="STKaiti"/>
              </a:rPr>
              <a:t>提频任务的核心机会：将 1次/周用户推向 2-3次/周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325112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279392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周频次分布（W07-W10 四周均值）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4690872"/>
          <a:ext cx="21031199" cy="27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/>
                <a:gridCol w="3004457"/>
                <a:gridCol w="3004457"/>
                <a:gridCol w="3004457"/>
                <a:gridCol w="3004457"/>
                <a:gridCol w="3004457"/>
                <a:gridCol w="3004457"/>
              </a:tblGrid>
              <a:tr h="39428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周频次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W07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W08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W09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W10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4周均值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占比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428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1次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10,157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9,923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10,317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11,648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10,511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1">
                          <a:solidFill>
                            <a:srgbClr val="333333"/>
                          </a:solidFill>
                          <a:latin typeface="STKaiti"/>
                        </a:rPr>
                        <a:t>76.20%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428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2次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2,196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1,943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1,824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2,303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2,067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15.00%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428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3次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653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643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589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799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671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4.90%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428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4次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284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266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212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352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279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2.00%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428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5+次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152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196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154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254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189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1.40%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42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1">
                          <a:solidFill>
                            <a:srgbClr val="333333"/>
                          </a:solidFill>
                          <a:latin typeface="STKaiti"/>
                        </a:rPr>
                        <a:t>合计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1">
                          <a:solidFill>
                            <a:srgbClr val="333333"/>
                          </a:solidFill>
                          <a:latin typeface="STKaiti"/>
                        </a:rPr>
                        <a:t>13,442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1">
                          <a:solidFill>
                            <a:srgbClr val="333333"/>
                          </a:solidFill>
                          <a:latin typeface="STKaiti"/>
                        </a:rPr>
                        <a:t>12,971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1">
                          <a:solidFill>
                            <a:srgbClr val="333333"/>
                          </a:solidFill>
                          <a:latin typeface="STKaiti"/>
                        </a:rPr>
                        <a:t>13,096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1">
                          <a:solidFill>
                            <a:srgbClr val="333333"/>
                          </a:solidFill>
                          <a:latin typeface="STKaiti"/>
                        </a:rPr>
                        <a:t>15,356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1">
                          <a:solidFill>
                            <a:srgbClr val="333333"/>
                          </a:solidFill>
                          <a:latin typeface="STKaiti"/>
                        </a:rPr>
                        <a:t>13,716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/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1371600" y="7588032"/>
          <a:ext cx="21031200" cy="35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*数据来源：W07-W10（2026年2月10日-3月9日）活跃用户消费频次统计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转化漏斗分析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800">
                <a:solidFill>
                  <a:srgbClr val="444444"/>
                </a:solidFill>
                <a:latin typeface="STKaiti"/>
              </a:rPr>
              <a:t>7天转化窗口验证 + 习惯养成拐点识别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700784"/>
            <a:ext cx="21031200" cy="694944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792224"/>
            <a:ext cx="2066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结论：7天是最佳任务周期，3杯是习惯养成拐点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395728"/>
            <a:ext cx="21031200" cy="170078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532888"/>
            <a:ext cx="2066544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1">
                <a:solidFill>
                  <a:srgbClr val="333333"/>
                </a:solidFill>
                <a:latin typeface="STKaiti"/>
              </a:rPr>
              <a:t>7天是关键转化窗口</a:t>
            </a:r>
            <a:r>
              <a:rPr sz="1800" b="0">
                <a:solidFill>
                  <a:srgbClr val="333333"/>
                </a:solidFill>
                <a:latin typeface="STKaiti"/>
              </a:rPr>
              <a:t>：约2/3转化发生在7天内，超过7天未转化的用户流失风险大增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1">
                <a:solidFill>
                  <a:srgbClr val="333333"/>
                </a:solidFill>
                <a:latin typeface="STKaiti"/>
              </a:rPr>
              <a:t>转化加速点在第3杯后</a:t>
            </a:r>
            <a:r>
              <a:rPr sz="1800" b="0">
                <a:solidFill>
                  <a:srgbClr val="333333"/>
                </a:solidFill>
                <a:latin typeface="STKaiti"/>
              </a:rPr>
              <a:t>：3杯后7天内转化率从40%跳升至 </a:t>
            </a:r>
            <a:r>
              <a:rPr sz="1800" b="0">
                <a:solidFill>
                  <a:srgbClr val="D32F2F"/>
                </a:solidFill>
                <a:latin typeface="STKaiti"/>
              </a:rPr>
              <a:t>51%+</a:t>
            </a:r>
            <a:r>
              <a:rPr sz="1800" b="0">
                <a:solidFill>
                  <a:srgbClr val="333333"/>
                </a:solidFill>
                <a:latin typeface="STKaiti"/>
              </a:rPr>
              <a:t>，说明3杯是习惯养成起点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1">
                <a:solidFill>
                  <a:srgbClr val="333333"/>
                </a:solidFill>
                <a:latin typeface="STKaiti"/>
              </a:rPr>
              <a:t>转化周期逐步缩短</a:t>
            </a:r>
            <a:r>
              <a:rPr sz="1800" b="0">
                <a:solidFill>
                  <a:srgbClr val="333333"/>
                </a:solidFill>
                <a:latin typeface="STKaiti"/>
              </a:rPr>
              <a:t>：用户买得越多，下一杯来得越快（平均转化天数从10.4天→9.4天）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325112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279392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用户生命周期阶段转化率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4690872"/>
          <a:ext cx="21031199" cy="23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/>
                <a:gridCol w="3004457"/>
                <a:gridCol w="3004457"/>
                <a:gridCol w="3004457"/>
                <a:gridCol w="3004457"/>
                <a:gridCol w="3004457"/>
                <a:gridCol w="3004457"/>
              </a:tblGrid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阶段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队列用户数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7天内转化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14天内转化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30天内转化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最终转化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平均转化天数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1→2杯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107,301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40.24%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44.83%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49.32%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55.57%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10.4天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2→3杯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56,983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40.17%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46.70%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53.98%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62.89%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12.7天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3→4杯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33,581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D32F2F"/>
                          </a:solidFill>
                          <a:latin typeface="STKaiti"/>
                        </a:rPr>
                        <a:t>51.18%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59.21%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68.84%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77.76%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10.8天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4→5杯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24,325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D32F2F"/>
                          </a:solidFill>
                          <a:latin typeface="STKaiti"/>
                        </a:rPr>
                        <a:t>52.29%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61.86%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72.39%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81.48%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10.6天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7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5→6杯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18,324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D32F2F"/>
                          </a:solidFill>
                          <a:latin typeface="STKaiti"/>
                        </a:rPr>
                        <a:t>57.29%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67.07%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77.72%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85.76%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9.4天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1371600" y="7208032"/>
          <a:ext cx="21031200" cy="32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*7天转化率口径：在最终会转化的人里，有多少比例是在7天内完成的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用户分层与任务方案设计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800">
                <a:solidFill>
                  <a:srgbClr val="444444"/>
                </a:solidFill>
                <a:latin typeface="STKaiti"/>
              </a:rPr>
              <a:t>基于近4周消费频次的分层策略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700784"/>
            <a:ext cx="21031200" cy="694944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792224"/>
            <a:ext cx="2066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结论：分两层下发任务，高频用户不下发避免白送奖励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395728"/>
            <a:ext cx="21031200" cy="170078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532888"/>
            <a:ext cx="2066544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1">
                <a:solidFill>
                  <a:srgbClr val="333333"/>
                </a:solidFill>
                <a:latin typeface="STKaiti"/>
              </a:rPr>
              <a:t>Tier 1</a:t>
            </a:r>
            <a:r>
              <a:rPr sz="1800" b="0">
                <a:solidFill>
                  <a:srgbClr val="333333"/>
                </a:solidFill>
                <a:latin typeface="STKaiti"/>
              </a:rPr>
              <a:t>（极低频+低频，34,278人）：基线0.34杯/周，目标为 7天 x 杯，奖励50%折扣券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1">
                <a:solidFill>
                  <a:srgbClr val="333333"/>
                </a:solidFill>
                <a:latin typeface="STKaiti"/>
              </a:rPr>
              <a:t>Tier 2</a:t>
            </a:r>
            <a:r>
              <a:rPr sz="1800" b="0">
                <a:solidFill>
                  <a:srgbClr val="333333"/>
                </a:solidFill>
                <a:latin typeface="STKaiti"/>
              </a:rPr>
              <a:t>（中低频+中频，4,399人）：基线1.43杯/周，目标更高，奖励免费饮品券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1">
                <a:solidFill>
                  <a:srgbClr val="333333"/>
                </a:solidFill>
                <a:latin typeface="STKaiti"/>
              </a:rPr>
              <a:t>高频用户</a:t>
            </a:r>
            <a:r>
              <a:rPr sz="1800" b="0">
                <a:solidFill>
                  <a:srgbClr val="333333"/>
                </a:solidFill>
                <a:latin typeface="STKaiti"/>
              </a:rPr>
              <a:t>（486人，1.2%）已形成消费习惯，任务无增量价值，</a:t>
            </a:r>
            <a:r>
              <a:rPr sz="1800" b="1">
                <a:solidFill>
                  <a:srgbClr val="333333"/>
                </a:solidFill>
                <a:latin typeface="STKaiti"/>
              </a:rPr>
              <a:t>不下发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325112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279392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近4周频次分层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4690872"/>
          <a:ext cx="21031200" cy="23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  <a:gridCol w="4206240"/>
                <a:gridCol w="4206240"/>
                <a:gridCol w="4206240"/>
              </a:tblGrid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频次层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用户数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占比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周均单量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是否下发任务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极低频 (&lt;0.5/周)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25,011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63.90%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0.25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1">
                          <a:solidFill>
                            <a:srgbClr val="333333"/>
                          </a:solidFill>
                          <a:latin typeface="STKaiti"/>
                        </a:rPr>
                        <a:t>Tier 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低频 (0.5-1/周)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9,267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23.70%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0.58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1">
                          <a:solidFill>
                            <a:srgbClr val="333333"/>
                          </a:solidFill>
                          <a:latin typeface="STKaiti"/>
                        </a:rPr>
                        <a:t>Tier 1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中低频 (1-2/周)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3,645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9.30%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1.25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1">
                          <a:solidFill>
                            <a:srgbClr val="333333"/>
                          </a:solidFill>
                          <a:latin typeface="STKaiti"/>
                        </a:rPr>
                        <a:t>Tier 2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中频 (2-3/周)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754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1.90%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2.28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1">
                          <a:solidFill>
                            <a:srgbClr val="333333"/>
                          </a:solidFill>
                          <a:latin typeface="STKaiti"/>
                        </a:rPr>
                        <a:t>Tier 2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7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高频 (3+/周)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486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1.20%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4.53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D32F2F"/>
                          </a:solidFill>
                          <a:latin typeface="STKaiti"/>
                        </a:rPr>
                        <a:t>不下发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7253752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7208032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分层任务设计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371600" y="7619512"/>
          <a:ext cx="210312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  <a:gridCol w="3505200"/>
                <a:gridCol w="3505200"/>
                <a:gridCol w="3505200"/>
              </a:tblGrid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层级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覆盖人群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合计用户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加权基线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任务目标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奖励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1">
                          <a:solidFill>
                            <a:srgbClr val="333333"/>
                          </a:solidFill>
                          <a:latin typeface="STKaiti"/>
                        </a:rPr>
                        <a:t>Tier 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STKaiti"/>
                        </a:rPr>
                        <a:t>极低频 + 低频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STKaiti"/>
                        </a:rPr>
                        <a:t>34,278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STKaiti"/>
                        </a:rPr>
                        <a:t>0.34/周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STKaiti"/>
                        </a:rPr>
                        <a:t>7天 x 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STKaiti"/>
                        </a:rPr>
                        <a:t>50%折扣券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1">
                          <a:solidFill>
                            <a:srgbClr val="333333"/>
                          </a:solidFill>
                          <a:latin typeface="STKaiti"/>
                        </a:rPr>
                        <a:t>Tier 2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STKaiti"/>
                        </a:rPr>
                        <a:t>中低频 + 中频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STKaiti"/>
                        </a:rPr>
                        <a:t>4,399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STKaiti"/>
                        </a:rPr>
                        <a:t>1.43/周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STKaiti"/>
                        </a:rPr>
                        <a:t>7天 x 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STKaiti"/>
                        </a:rPr>
                        <a:t>免费饮品券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STKaiti"/>
                        </a:rPr>
                        <a:t>不下发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STKaiti"/>
                        </a:rPr>
                        <a:t>高频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STKaiti"/>
                        </a:rPr>
                        <a:t>486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STKaiti"/>
                        </a:rPr>
                        <a:t>4.53/周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STKaiti"/>
                        </a:rPr>
                        <a:t>-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STKaiti"/>
                        </a:rPr>
                        <a:t>-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*Tier 2 奖励更高（免费券）：因为这部分用户已有消费习惯，目标杯数更高，需要更强激励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方案测算与推荐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800">
                <a:solidFill>
                  <a:srgbClr val="444444"/>
                </a:solidFill>
                <a:latin typeface="STKaiti"/>
              </a:rPr>
              <a:t>方案A（3/5杯）vs 方案B（2/4杯）ROI 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700784"/>
            <a:ext cx="21031200" cy="694944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792224"/>
            <a:ext cx="2066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推荐方案A（Tier1目标3杯 / Tier2目标5杯）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395728"/>
            <a:ext cx="21031200" cy="2176272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532888"/>
            <a:ext cx="2066544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1">
                <a:solidFill>
                  <a:srgbClr val="333333"/>
                </a:solidFill>
                <a:latin typeface="STKaiti"/>
              </a:rPr>
              <a:t>ROI 15.0x</a:t>
            </a:r>
            <a:r>
              <a:rPr sz="1800" b="0">
                <a:solidFill>
                  <a:srgbClr val="333333"/>
                </a:solidFill>
                <a:latin typeface="STKaiti"/>
              </a:rPr>
              <a:t> vs 方案B 7.4x，</a:t>
            </a:r>
            <a:r>
              <a:rPr sz="1800" b="0">
                <a:solidFill>
                  <a:srgbClr val="D32F2F"/>
                </a:solidFill>
                <a:latin typeface="STKaiti"/>
              </a:rPr>
              <a:t>A高103%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0">
                <a:solidFill>
                  <a:srgbClr val="333333"/>
                </a:solidFill>
                <a:latin typeface="STKaiti"/>
              </a:rPr>
              <a:t>免费增量占比 </a:t>
            </a:r>
            <a:r>
              <a:rPr sz="1800" b="1">
                <a:solidFill>
                  <a:srgbClr val="333333"/>
                </a:solidFill>
                <a:latin typeface="STKaiti"/>
              </a:rPr>
              <a:t>67%</a:t>
            </a:r>
            <a:r>
              <a:rPr sz="1800" b="0">
                <a:solidFill>
                  <a:srgbClr val="333333"/>
                </a:solidFill>
                <a:latin typeface="STKaiti"/>
              </a:rPr>
              <a:t> vs 40%，</a:t>
            </a:r>
            <a:r>
              <a:rPr sz="1800" b="0">
                <a:solidFill>
                  <a:srgbClr val="D32F2F"/>
                </a:solidFill>
                <a:latin typeface="STKaiti"/>
              </a:rPr>
              <a:t>A高27pp</a:t>
            </a:r>
            <a:r>
              <a:rPr sz="1800" b="0">
                <a:solidFill>
                  <a:srgbClr val="333333"/>
                </a:solidFill>
                <a:latin typeface="STKaiti"/>
              </a:rPr>
              <a:t> — 大部分增量来自自然提频而非奖励驱动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0">
                <a:solidFill>
                  <a:srgbClr val="333333"/>
                </a:solidFill>
                <a:latin typeface="STKaiti"/>
              </a:rPr>
              <a:t>单杯提频成本 </a:t>
            </a:r>
            <a:r>
              <a:rPr sz="1800" b="1">
                <a:solidFill>
                  <a:srgbClr val="333333"/>
                </a:solidFill>
                <a:latin typeface="STKaiti"/>
              </a:rPr>
              <a:t>$0.30</a:t>
            </a:r>
            <a:r>
              <a:rPr sz="1800" b="0">
                <a:solidFill>
                  <a:srgbClr val="333333"/>
                </a:solidFill>
                <a:latin typeface="STKaiti"/>
              </a:rPr>
              <a:t> vs $0.61，</a:t>
            </a:r>
            <a:r>
              <a:rPr sz="1800" b="0">
                <a:solidFill>
                  <a:srgbClr val="2E7D32"/>
                </a:solidFill>
                <a:latin typeface="STKaiti"/>
              </a:rPr>
              <a:t>A省51%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4. </a:t>
            </a:r>
            <a:r>
              <a:rPr sz="1800" b="0">
                <a:solidFill>
                  <a:srgbClr val="333333"/>
                </a:solidFill>
                <a:latin typeface="STKaiti"/>
              </a:rPr>
              <a:t>虽然方案B增量杯数略多4%，但奖励成本高出 </a:t>
            </a:r>
            <a:r>
              <a:rPr sz="1800" b="0">
                <a:solidFill>
                  <a:srgbClr val="D32F2F"/>
                </a:solidFill>
                <a:latin typeface="STKaiti"/>
              </a:rPr>
              <a:t>53%</a:t>
            </a:r>
            <a:r>
              <a:rPr sz="1800" b="0">
                <a:solidFill>
                  <a:srgbClr val="333333"/>
                </a:solidFill>
                <a:latin typeface="STKaiti"/>
              </a:rPr>
              <a:t>，净收入方案A更优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800600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754880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Tier 1 测算对比（5,000人，基线 0.34杯/周）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5166360"/>
          <a:ext cx="21031200" cy="3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0"/>
                <a:gridCol w="7010400"/>
                <a:gridCol w="7010400"/>
              </a:tblGrid>
              <a:tr h="3925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指标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方案A（目标3杯）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方案B（目标2杯）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25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增量杯数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960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1,011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25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完成人数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144 (8.4%)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405 (23.6%)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25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免费增量占比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1">
                          <a:solidFill>
                            <a:srgbClr val="333333"/>
                          </a:solidFill>
                          <a:latin typeface="STKaiti"/>
                        </a:rPr>
                        <a:t>70%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38%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25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增量收入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$4,320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$4,550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25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奖励成本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2E7D32"/>
                          </a:solidFill>
                          <a:latin typeface="STKaiti"/>
                        </a:rPr>
                        <a:t>$187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$527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25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净收入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1">
                          <a:solidFill>
                            <a:srgbClr val="333333"/>
                          </a:solidFill>
                          <a:latin typeface="STKaiti"/>
                        </a:rPr>
                        <a:t>$4,133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$4,023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25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ROI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D32F2F"/>
                          </a:solidFill>
                          <a:latin typeface="STKaiti"/>
                        </a:rPr>
                        <a:t>23.1x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8.6x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8489240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8443520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汇总对比与推荐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371600" y="8855000"/>
          <a:ext cx="21031200" cy="3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  <a:gridCol w="5257800"/>
                <a:gridCol w="5257800"/>
              </a:tblGrid>
              <a:tr h="391111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指标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方案A（3/5杯）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方案B（2/4杯）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对比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1111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参与用户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2,154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2,154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-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1111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总增量杯数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1,826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1,900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B多4%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1111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总增量收入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$8,217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$8,551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B多4%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1111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总奖励成本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2E7D32"/>
                          </a:solidFill>
                          <a:latin typeface="STKaiti"/>
                        </a:rPr>
                        <a:t>$547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$1,157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2E7D32"/>
                          </a:solidFill>
                          <a:latin typeface="STKaiti"/>
                        </a:rPr>
                        <a:t>A省53%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1111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净收入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1">
                          <a:solidFill>
                            <a:srgbClr val="333333"/>
                          </a:solidFill>
                          <a:latin typeface="STKaiti"/>
                        </a:rPr>
                        <a:t>$7,670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$7,394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D32F2F"/>
                          </a:solidFill>
                          <a:latin typeface="STKaiti"/>
                        </a:rPr>
                        <a:t>A多4%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1111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1">
                          <a:solidFill>
                            <a:srgbClr val="333333"/>
                          </a:solidFill>
                          <a:latin typeface="STKaiti"/>
                        </a:rPr>
                        <a:t>ROI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D32F2F"/>
                          </a:solidFill>
                          <a:latin typeface="STKaiti"/>
                        </a:rPr>
                        <a:t>15.0x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7.4x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D32F2F"/>
                          </a:solidFill>
                          <a:latin typeface="STKaiti"/>
                        </a:rPr>
                        <a:t>A高103%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1111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免费增量占比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1">
                          <a:solidFill>
                            <a:srgbClr val="333333"/>
                          </a:solidFill>
                          <a:latin typeface="STKaiti"/>
                        </a:rPr>
                        <a:t>67%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40%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D32F2F"/>
                          </a:solidFill>
                          <a:latin typeface="STKaiti"/>
                        </a:rPr>
                        <a:t>A高27pp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111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单杯提频成本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2E7D32"/>
                          </a:solidFill>
                          <a:latin typeface="STKaiti"/>
                        </a:rPr>
                        <a:t>$0.30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STKaiti"/>
                        </a:rPr>
                        <a:t>$0.61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2E7D32"/>
                          </a:solidFill>
                          <a:latin typeface="STKaiti"/>
                        </a:rPr>
                        <a:t>A省51%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*测算假设：参与率 Tier1 5% / Tier2 10%，杯均价$4.50，50%券成本$1.30/张，免费券成本$2.50/张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