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本周</c:v>
                </c:pt>
              </c:strCache>
            </c:strRef>
          </c:tx>
          <c:spPr>
            <a:ln w="31750">
              <a:solidFill>
                <a:srgbClr val="222773"/>
              </a:solidFill>
            </a:ln>
          </c:spPr>
          <c:cat>
            <c:strRef>
              <c:f>Sheet1!$A$2:$A$8</c:f>
              <c:strCache>
                <c:ptCount val="7"/>
                <c:pt idx="0">
                  <c:v>周一</c:v>
                </c:pt>
                <c:pt idx="1">
                  <c:v>周二</c:v>
                </c:pt>
                <c:pt idx="2">
                  <c:v>周三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2100</c:v>
                </c:pt>
                <c:pt idx="1">
                  <c:v>2200</c:v>
                </c:pt>
                <c:pt idx="2">
                  <c:v>2150</c:v>
                </c:pt>
                <c:pt idx="3">
                  <c:v>2300</c:v>
                </c:pt>
                <c:pt idx="4">
                  <c:v>2400</c:v>
                </c:pt>
                <c:pt idx="5">
                  <c:v>1900</c:v>
                </c:pt>
                <c:pt idx="6">
                  <c:v>2180</c:v>
                </c:pt>
              </c:numCache>
            </c:numRef>
          </c:val>
          <c:smooth val="0"/>
          <c:marker>
            <c:symbol val="circle"/>
            <c:size val="8"/>
            <c:spPr>
              <a:solidFill>
                <a:srgbClr val="222773"/>
              </a:solidFill>
            </c:spPr>
          </c:marker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上周</c:v>
                </c:pt>
              </c:strCache>
            </c:strRef>
          </c:tx>
          <c:spPr>
            <a:ln w="31750">
              <a:solidFill>
                <a:srgbClr val="4472C4"/>
              </a:solidFill>
            </a:ln>
          </c:spPr>
          <c:cat>
            <c:strRef>
              <c:f>Sheet1!$A$2:$A$8</c:f>
              <c:strCache>
                <c:ptCount val="7"/>
                <c:pt idx="0">
                  <c:v>周一</c:v>
                </c:pt>
                <c:pt idx="1">
                  <c:v>周二</c:v>
                </c:pt>
                <c:pt idx="2">
                  <c:v>周三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2000</c:v>
                </c:pt>
                <c:pt idx="1">
                  <c:v>2050</c:v>
                </c:pt>
                <c:pt idx="2">
                  <c:v>2100</c:v>
                </c:pt>
                <c:pt idx="3">
                  <c:v>2150</c:v>
                </c:pt>
                <c:pt idx="4">
                  <c:v>2200</c:v>
                </c:pt>
                <c:pt idx="5">
                  <c:v>1800</c:v>
                </c:pt>
                <c:pt idx="6">
                  <c:v>2178</c:v>
                </c:pt>
              </c:numCache>
            </c:numRef>
          </c:val>
          <c:smooth val="0"/>
          <c:marker>
            <c:symbol val="circle"/>
            <c:size val="8"/>
            <c:spPr>
              <a:solidFill>
                <a:srgbClr val="4472C4"/>
              </a:solidFill>
            </c:spPr>
          </c:marker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200">
                <a:latin typeface="STKait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200">
                <a:latin typeface="STKaiti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400">
              <a:latin typeface="STKait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222773"/>
              </a:solidFill>
            </c:spPr>
          </c:dPt>
          <c:dPt>
            <c:idx val="1"/>
            <c:spPr>
              <a:solidFill>
                <a:srgbClr val="4472C4"/>
              </a:solidFill>
            </c:spPr>
          </c:dPt>
          <c:dPt>
            <c:idx val="2"/>
            <c:spPr>
              <a:solidFill>
                <a:srgbClr val="8BB8D0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cat>
            <c:strRef>
              <c:f>Sheet1!$A$2:$A$5</c:f>
              <c:strCache>
                <c:ptCount val="4"/>
                <c:pt idx="0">
                  <c:v>拿铁</c:v>
                </c:pt>
                <c:pt idx="1">
                  <c:v>美式</c:v>
                </c:pt>
                <c:pt idx="2">
                  <c:v>特调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333333"/>
                  </a:solidFill>
                  <a:latin typeface="STKaiti"/>
                </a:defRPr>
              </a:pPr>
            </a:p>
          </c:txPr>
          <c:showLegendKey val="0"/>
          <c:showBubbleSize val="0"/>
          <c:showLeaderLines val="1"/>
          <c:showCatName val="1"/>
          <c:showPercent val="1"/>
          <c:showVal val="0"/>
          <c:showSerName val="0"/>
        </c:dLbls>
      </c:pieChart>
    </c:plotArea>
    <c:legend>
      <c:legendPos val="t"/>
      <c:overlay val="0"/>
      <c:txPr>
        <a:bodyPr/>
        <a:lstStyle/>
        <a:p>
          <a:pPr>
            <a:defRPr sz="1400">
              <a:latin typeface="STKait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杯量</c:v>
                </c:pt>
              </c:strCache>
            </c:strRef>
          </c:tx>
          <c:spPr>
            <a:solidFill>
              <a:srgbClr val="222773"/>
            </a:solidFill>
          </c:spPr>
          <c:cat>
            <c:strRef>
              <c:f>Sheet1!$A$2:$A$6</c:f>
              <c:strCache>
                <c:ptCount val="5"/>
                <c:pt idx="0">
                  <c:v>Flushing</c:v>
                </c:pt>
                <c:pt idx="1">
                  <c:v>Chinatown</c:v>
                </c:pt>
                <c:pt idx="2">
                  <c:v>Sunset Park</c:v>
                </c:pt>
                <c:pt idx="3">
                  <c:v>Elmhurst</c:v>
                </c:pt>
                <c:pt idx="4">
                  <c:v>Bay Ridge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3200</c:v>
                </c:pt>
                <c:pt idx="1">
                  <c:v>2800</c:v>
                </c:pt>
                <c:pt idx="2">
                  <c:v>2500</c:v>
                </c:pt>
                <c:pt idx="3">
                  <c:v>2100</c:v>
                </c:pt>
                <c:pt idx="4">
                  <c:v>1800</c:v>
                </c:pt>
              </c:numCache>
            </c:numRef>
          </c:val>
        </c:ser>
        <c:dLbls>
          <c:numFmt sourceLinked="0"/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STKait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200">
                <a:latin typeface="STKait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200">
                <a:latin typeface="STKait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77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dec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1042416"/>
            <a:ext cx="10810872" cy="12697464"/>
          </a:xfrm>
          <a:prstGeom prst="rect">
            <a:avLst/>
          </a:prstGeom>
        </p:spPr>
      </p:pic>
      <p:pic>
        <p:nvPicPr>
          <p:cNvPr id="3" name="Picture 2" descr="cov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3832" y="530352"/>
            <a:ext cx="3840480" cy="10130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0" y="4984272"/>
            <a:ext cx="1274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sz="5400" b="1">
                <a:solidFill>
                  <a:srgbClr val="FFFFFF"/>
                </a:solidFill>
                <a:latin typeface="STKaiti"/>
              </a:rPr>
              <a:t>设计规范测试报告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25200" y="10015200"/>
            <a:ext cx="2540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STKaiti"/>
              </a:rPr>
              <a:t>李宵霄</a:t>
            </a:r>
          </a:p>
          <a:p>
            <a:pPr algn="ctr"/>
            <a:r>
              <a:rPr sz="2400">
                <a:solidFill>
                  <a:srgbClr val="FFFFFF"/>
                </a:solidFill>
                <a:latin typeface="STKaiti"/>
              </a:rPr>
              <a:t>2026年3月12日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1006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4000" b="1">
                <a:solidFill>
                  <a:srgbClr val="000000"/>
                </a:solidFill>
                <a:latin typeface="STKaiti"/>
              </a:rPr>
              <a:t>整体业务表现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2103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2026年3月第2周 vs 第1周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37360"/>
            <a:ext cx="50800" cy="164000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2400" y="1737360"/>
            <a:ext cx="20980400" cy="1640000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9560" y="1828800"/>
            <a:ext cx="2070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结论：本周整体业绩稳中有升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9560" y="2286000"/>
            <a:ext cx="20706080" cy="1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1. </a:t>
            </a:r>
            <a:r>
              <a:rPr sz="2000" b="0">
                <a:solidFill>
                  <a:srgbClr val="333333"/>
                </a:solidFill>
                <a:latin typeface="STKaiti"/>
              </a:rPr>
              <a:t>杯量环比 </a:t>
            </a:r>
            <a:r>
              <a:rPr sz="2000" b="0">
                <a:solidFill>
                  <a:srgbClr val="D32F2F"/>
                </a:solidFill>
                <a:latin typeface="STKaiti"/>
              </a:rPr>
              <a:t>+5.2%</a:t>
            </a:r>
            <a:r>
              <a:rPr sz="2000" b="0">
                <a:solidFill>
                  <a:srgbClr val="333333"/>
                </a:solidFill>
                <a:latin typeface="STKaiti"/>
              </a:rPr>
              <a:t>，连续3周增长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2. </a:t>
            </a:r>
            <a:r>
              <a:rPr sz="2000" b="0">
                <a:solidFill>
                  <a:srgbClr val="333333"/>
                </a:solidFill>
                <a:latin typeface="STKaiti"/>
              </a:rPr>
              <a:t>单杯实收 </a:t>
            </a:r>
            <a:r>
              <a:rPr sz="2000" b="0">
                <a:solidFill>
                  <a:srgbClr val="2E7D32"/>
                </a:solidFill>
                <a:latin typeface="STKaiti"/>
              </a:rPr>
              <a:t>-0.3%</a:t>
            </a:r>
            <a:r>
              <a:rPr sz="2000" b="0">
                <a:solidFill>
                  <a:srgbClr val="333333"/>
                </a:solidFill>
                <a:latin typeface="STKaiti"/>
              </a:rPr>
              <a:t>，基本持平 </a:t>
            </a:r>
            <a:r>
              <a:rPr sz="2000" b="0">
                <a:solidFill>
                  <a:srgbClr val="888888"/>
                </a:solidFill>
                <a:latin typeface="STKaiti"/>
              </a:rPr>
              <a:t>(差0.02元)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3. </a:t>
            </a:r>
            <a:r>
              <a:rPr sz="2000" b="0">
                <a:solidFill>
                  <a:srgbClr val="333333"/>
                </a:solidFill>
                <a:latin typeface="STKaiti"/>
              </a:rPr>
              <a:t>新客占比提升至 </a:t>
            </a:r>
            <a:r>
              <a:rPr sz="2000" b="1">
                <a:solidFill>
                  <a:srgbClr val="333333"/>
                </a:solidFill>
                <a:latin typeface="STKaiti"/>
              </a:rPr>
              <a:t>12.3%</a:t>
            </a:r>
            <a:r>
              <a:rPr sz="2000" b="0">
                <a:solidFill>
                  <a:srgbClr val="333333"/>
                </a:solidFill>
                <a:latin typeface="STKaiti"/>
              </a:rPr>
              <a:t>，</a:t>
            </a:r>
            <a:r>
              <a:rPr sz="2000" b="0">
                <a:solidFill>
                  <a:srgbClr val="D32F2F"/>
                </a:solidFill>
                <a:latin typeface="STKaiti"/>
              </a:rPr>
              <a:t>+1.5pp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1680"/>
            <a:ext cx="2103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1600"/>
              </a:spcBef>
              <a:spcAft>
                <a:spcPts val="800"/>
              </a:spcAft>
            </a:pPr>
            <a:r>
              <a:rPr sz="2400" b="1">
                <a:solidFill>
                  <a:srgbClr val="0F3460"/>
                </a:solidFill>
                <a:latin typeface="STKaiti"/>
              </a:rPr>
              <a:t>核心指标概览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71600" y="4200320"/>
          <a:ext cx="210312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  <a:gridCol w="5257800"/>
                <a:gridCol w="5257800"/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指标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本周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上周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环比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总杯量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15,230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14,478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+5.2%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总实收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$42,560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$41,890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+1.6%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单杯实收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$2.79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$2.80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2E7D32"/>
                          </a:solidFill>
                          <a:latin typeface="STKaiti"/>
                        </a:rPr>
                        <a:t>-0.3%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下单用户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8,450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8,120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+4.1%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*数据来源：CyberData，统计口径为饮品类目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1006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4000" b="1">
                <a:solidFill>
                  <a:srgbClr val="000000"/>
                </a:solidFill>
                <a:latin typeface="STKaiti"/>
              </a:rPr>
              <a:t>趋势分析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2103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1600"/>
              </a:spcBef>
              <a:spcAft>
                <a:spcPts val="800"/>
              </a:spcAft>
            </a:pPr>
            <a:r>
              <a:rPr sz="2400" b="1">
                <a:solidFill>
                  <a:srgbClr val="0F3460"/>
                </a:solidFill>
                <a:latin typeface="STKaiti"/>
              </a:rPr>
              <a:t>日杯量趋势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371600" y="1920240"/>
          <a:ext cx="21031200" cy="4572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71600" y="6766560"/>
            <a:ext cx="2103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1600"/>
              </a:spcBef>
              <a:spcAft>
                <a:spcPts val="800"/>
              </a:spcAft>
            </a:pPr>
            <a:r>
              <a:rPr sz="2400" b="1">
                <a:solidFill>
                  <a:srgbClr val="0F3460"/>
                </a:solidFill>
                <a:latin typeface="STKaiti"/>
              </a:rPr>
              <a:t>品类杯量占比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371600" y="7315200"/>
          <a:ext cx="10637600" cy="4572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1006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4000" b="1">
                <a:solidFill>
                  <a:srgbClr val="000000"/>
                </a:solidFill>
                <a:latin typeface="STKaiti"/>
              </a:rPr>
              <a:t>门店排名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2103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TOP5 门店杯量对比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37360"/>
            <a:ext cx="50800" cy="50000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2400" y="1737360"/>
            <a:ext cx="20980400" cy="500000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9560" y="1828800"/>
            <a:ext cx="2070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结论：Flushing 门店持续领先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11680"/>
            <a:ext cx="2103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1600"/>
              </a:spcBef>
              <a:spcAft>
                <a:spcPts val="800"/>
              </a:spcAft>
            </a:pPr>
            <a:r>
              <a:rPr sz="2400" b="1">
                <a:solidFill>
                  <a:srgbClr val="0F3460"/>
                </a:solidFill>
                <a:latin typeface="STKaiti"/>
              </a:rPr>
              <a:t>门店杯量 TOP5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371600" y="3060320"/>
          <a:ext cx="21031200" cy="4572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