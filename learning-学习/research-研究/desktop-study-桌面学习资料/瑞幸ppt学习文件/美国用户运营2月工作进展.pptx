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8" r:id="rId3"/>
    <p:sldMasterId id="2147483669" r:id="rId4"/>
  </p:sldMasterIdLst>
  <p:notesMasterIdLst>
    <p:notesMasterId r:id="rId6"/>
  </p:notesMasterIdLst>
  <p:handoutMasterIdLst>
    <p:handoutMasterId r:id="rId10"/>
  </p:handoutMasterIdLst>
  <p:sldIdLst>
    <p:sldId id="315" r:id="rId5"/>
    <p:sldId id="910" r:id="rId7"/>
    <p:sldId id="9935" r:id="rId8"/>
    <p:sldId id="9937" r:id="rId9"/>
  </p:sldIdLst>
  <p:sldSz cx="24384000" cy="13716000"/>
  <p:notesSz cx="6858000" cy="9144000"/>
  <p:embeddedFontLst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05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521415D9-36F7-43E2-AB2F-B90AF26B5E84}">
      <p14:sectionLst xmlns:p14="http://schemas.microsoft.com/office/powerpoint/2010/main">
        <p14:section name="PPT模板正文" id="{675974F0-77EE-48B5-8BD8-C6AD6BEB2200}">
          <p14:sldIdLst>
            <p14:sldId id="315"/>
            <p14:sldId id="910"/>
            <p14:sldId id="9935"/>
            <p14:sldId id="99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418" userDrawn="1">
          <p15:clr>
            <a:srgbClr val="A4A3A4"/>
          </p15:clr>
        </p15:guide>
        <p15:guide id="2" pos="76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d-td@lkcoffee.com" initials="o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773"/>
    <a:srgbClr val="1D3E82"/>
    <a:srgbClr val="212774"/>
    <a:srgbClr val="000D42"/>
    <a:srgbClr val="525252"/>
    <a:srgbClr val="8497B0"/>
    <a:srgbClr val="CD1032"/>
    <a:srgbClr val="248BC3"/>
    <a:srgbClr val="0065C4"/>
    <a:srgbClr val="00A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44" autoAdjust="0"/>
    <p:restoredTop sz="95632" autoAdjust="0"/>
  </p:normalViewPr>
  <p:slideViewPr>
    <p:cSldViewPr snapToObjects="1" showGuides="1">
      <p:cViewPr varScale="1">
        <p:scale>
          <a:sx n="47" d="100"/>
          <a:sy n="47" d="100"/>
        </p:scale>
        <p:origin x="76" y="96"/>
      </p:cViewPr>
      <p:guideLst>
        <p:guide orient="horz" pos="4418"/>
        <p:guide pos="76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53AF8-936C-42F8-ABD6-D8AE4F3A48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124A4-1C5B-4DEA-88E9-4D029CE3D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.jpe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.jpe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 descr="logoes-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493990" y="398780"/>
            <a:ext cx="3246755" cy="8851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es-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493990" y="398780"/>
            <a:ext cx="3246755" cy="885190"/>
          </a:xfrm>
          <a:prstGeom prst="rect">
            <a:avLst/>
          </a:prstGeom>
        </p:spPr>
      </p:pic>
      <p:pic>
        <p:nvPicPr>
          <p:cNvPr id="5" name="图片 4" descr="P-0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1755" y="-43815"/>
            <a:ext cx="24455120" cy="1375473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bg-PP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327" y="0"/>
            <a:ext cx="24397327" cy="13722510"/>
          </a:xfrm>
          <a:prstGeom prst="rect">
            <a:avLst/>
          </a:prstGeom>
        </p:spPr>
      </p:pic>
      <p:sp>
        <p:nvSpPr>
          <p:cNvPr id="3" name="椭圆 2"/>
          <p:cNvSpPr/>
          <p:nvPr userDrawn="1"/>
        </p:nvSpPr>
        <p:spPr>
          <a:xfrm>
            <a:off x="9491980" y="2349500"/>
            <a:ext cx="5400000" cy="5400000"/>
          </a:xfrm>
          <a:prstGeom prst="ellipse">
            <a:avLst/>
          </a:prstGeom>
          <a:solidFill>
            <a:srgbClr val="222773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7" tIns="71437" rIns="71437" bIns="71437" numCol="1" spcCol="38100" rtlCol="0" anchor="ctr" forceAA="0">
            <a:spAutoFit/>
          </a:bodyPr>
          <a:lstStyle/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es-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8655" y="398780"/>
            <a:ext cx="3418205" cy="93154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三级和内文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17774" y="13010554"/>
            <a:ext cx="530593" cy="5136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Number"/>
          <p:cNvSpPr>
            <a:spLocks noGrp="1"/>
          </p:cNvSpPr>
          <p:nvPr>
            <p:ph type="sldNum" sz="quarter" idx="10"/>
          </p:nvPr>
        </p:nvSpPr>
        <p:spPr>
          <a:xfrm>
            <a:off x="18448854" y="12701588"/>
            <a:ext cx="4682068" cy="714376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3C5482B9-D11D-4067-B360-F1AA9B4F5826}" type="slidenum">
              <a:rPr lang="en-US" noProof="1" smtClean="0"/>
            </a:fld>
            <a:endParaRPr lang="en-US" noProof="1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88540" y="480063"/>
            <a:ext cx="20866660" cy="141097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1828800" rtl="0" eaLnBrk="1" fontAlgn="auto" latinLnBrk="0" hangingPunct="1">
              <a:lnSpc>
                <a:spcPct val="100000"/>
              </a:lnSpc>
              <a:buNone/>
              <a:defRPr kumimoji="0" lang="zh-CN" altLang="en-US" sz="4800" b="1" i="0" u="none" strike="noStrike" kern="1200" cap="none" spc="600" normalizeH="0" baseline="0" noProof="1" dirty="0">
                <a:solidFill>
                  <a:srgbClr val="212773"/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216800" y="2980800"/>
            <a:ext cx="21938400" cy="95184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1828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90204" pitchFamily="34" charset="0"/>
              <a:buNone/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914400" marR="0" lvl="1" indent="0" algn="l" defTabSz="1828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90204" pitchFamily="34" charset="0"/>
              <a:buNone/>
              <a:tabLst>
                <a:tab pos="3219450" algn="l"/>
              </a:tabLst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828800" marR="0" lvl="2" indent="0" algn="l" defTabSz="1828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90204" pitchFamily="34" charset="0"/>
              <a:buNone/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2743200" marR="0" lvl="3" indent="0" algn="l" defTabSz="1828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3657600" marR="0" lvl="4" indent="0" algn="l" defTabSz="1828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None/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4572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953042" y="13010555"/>
            <a:ext cx="530592" cy="513601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object 13"/>
          <p:cNvSpPr/>
          <p:nvPr userDrawn="1"/>
        </p:nvSpPr>
        <p:spPr>
          <a:xfrm>
            <a:off x="19863281" y="12800702"/>
            <a:ext cx="4272234" cy="6286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 descr="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2080" y="3"/>
            <a:ext cx="1874520" cy="18910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608682" y="2557408"/>
            <a:ext cx="18287468" cy="4775200"/>
          </a:xfrm>
        </p:spPr>
        <p:txBody>
          <a:bodyPr anchor="b"/>
          <a:lstStyle>
            <a:lvl1pPr algn="ctr">
              <a:defRPr sz="1077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047913" y="7204076"/>
            <a:ext cx="18287468" cy="3311524"/>
          </a:xfrm>
        </p:spPr>
        <p:txBody>
          <a:bodyPr/>
          <a:lstStyle>
            <a:lvl1pPr marL="0" indent="0" algn="ctr">
              <a:buNone/>
              <a:defRPr sz="4310"/>
            </a:lvl1pPr>
            <a:lvl2pPr marL="820420" indent="0" algn="ctr">
              <a:buNone/>
              <a:defRPr sz="3590"/>
            </a:lvl2pPr>
            <a:lvl3pPr marL="1642110" indent="0" algn="ctr">
              <a:buNone/>
              <a:defRPr sz="3230"/>
            </a:lvl3pPr>
            <a:lvl4pPr marL="2462530" indent="0" algn="ctr">
              <a:buNone/>
              <a:defRPr sz="2870"/>
            </a:lvl4pPr>
            <a:lvl5pPr marL="3284220" indent="0" algn="ctr">
              <a:buNone/>
              <a:defRPr sz="2870"/>
            </a:lvl5pPr>
            <a:lvl6pPr marL="4104640" indent="0" algn="ctr">
              <a:buNone/>
              <a:defRPr sz="2870"/>
            </a:lvl6pPr>
            <a:lvl7pPr marL="4925060" indent="0" algn="ctr">
              <a:buNone/>
              <a:defRPr sz="2870"/>
            </a:lvl7pPr>
            <a:lvl8pPr marL="5746750" indent="0" algn="ctr">
              <a:buNone/>
              <a:defRPr sz="2870"/>
            </a:lvl8pPr>
            <a:lvl9pPr marL="6567170" indent="0" algn="ctr">
              <a:buNone/>
              <a:defRPr sz="287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2DF2A-6BA4-4237-AE43-989A87829C8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57171-E457-469E-BE7F-B89C4B5F07B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63653" y="3419477"/>
            <a:ext cx="21030588" cy="5705474"/>
          </a:xfrm>
        </p:spPr>
        <p:txBody>
          <a:bodyPr anchor="b"/>
          <a:lstStyle>
            <a:lvl1pPr>
              <a:defRPr sz="1077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663653" y="9178927"/>
            <a:ext cx="21030588" cy="3000374"/>
          </a:xfrm>
        </p:spPr>
        <p:txBody>
          <a:bodyPr/>
          <a:lstStyle>
            <a:lvl1pPr marL="0" indent="0">
              <a:buNone/>
              <a:defRPr sz="4310">
                <a:solidFill>
                  <a:schemeClr val="tx1">
                    <a:tint val="75000"/>
                  </a:schemeClr>
                </a:solidFill>
              </a:defRPr>
            </a:lvl1pPr>
            <a:lvl2pPr marL="820420" indent="0">
              <a:buNone/>
              <a:defRPr sz="3590">
                <a:solidFill>
                  <a:schemeClr val="tx1">
                    <a:tint val="75000"/>
                  </a:schemeClr>
                </a:solidFill>
              </a:defRPr>
            </a:lvl2pPr>
            <a:lvl3pPr marL="1642110" indent="0">
              <a:buNone/>
              <a:defRPr sz="3230">
                <a:solidFill>
                  <a:schemeClr val="tx1">
                    <a:tint val="75000"/>
                  </a:schemeClr>
                </a:solidFill>
              </a:defRPr>
            </a:lvl3pPr>
            <a:lvl4pPr marL="2462530" indent="0">
              <a:buNone/>
              <a:defRPr sz="2870">
                <a:solidFill>
                  <a:schemeClr val="tx1">
                    <a:tint val="75000"/>
                  </a:schemeClr>
                </a:solidFill>
              </a:defRPr>
            </a:lvl4pPr>
            <a:lvl5pPr marL="3284220" indent="0">
              <a:buNone/>
              <a:defRPr sz="2870">
                <a:solidFill>
                  <a:schemeClr val="tx1">
                    <a:tint val="75000"/>
                  </a:schemeClr>
                </a:solidFill>
              </a:defRPr>
            </a:lvl5pPr>
            <a:lvl6pPr marL="4104640" indent="0">
              <a:buNone/>
              <a:defRPr sz="2870">
                <a:solidFill>
                  <a:schemeClr val="tx1">
                    <a:tint val="75000"/>
                  </a:schemeClr>
                </a:solidFill>
              </a:defRPr>
            </a:lvl6pPr>
            <a:lvl7pPr marL="4925060" indent="0">
              <a:buNone/>
              <a:defRPr sz="2870">
                <a:solidFill>
                  <a:schemeClr val="tx1">
                    <a:tint val="75000"/>
                  </a:schemeClr>
                </a:solidFill>
              </a:defRPr>
            </a:lvl7pPr>
            <a:lvl8pPr marL="5746750" indent="0">
              <a:buNone/>
              <a:defRPr sz="2870">
                <a:solidFill>
                  <a:schemeClr val="tx1">
                    <a:tint val="75000"/>
                  </a:schemeClr>
                </a:solidFill>
              </a:defRPr>
            </a:lvl8pPr>
            <a:lvl9pPr marL="6567170" indent="0">
              <a:buNone/>
              <a:defRPr sz="28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DB33F-2F1A-4ADE-B871-169132BA6FF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676353" y="3651250"/>
            <a:ext cx="10362898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344043" y="3651250"/>
            <a:ext cx="10362898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14B96-B7B0-4C9B-B9F4-3D9A370C2D0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27" y="730251"/>
            <a:ext cx="21030588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73480" y="3556876"/>
            <a:ext cx="9746865" cy="1647824"/>
          </a:xfrm>
        </p:spPr>
        <p:txBody>
          <a:bodyPr anchor="ctr" anchorCtr="0"/>
          <a:lstStyle>
            <a:lvl1pPr marL="0" indent="0">
              <a:buNone/>
              <a:defRPr sz="5030"/>
            </a:lvl1pPr>
            <a:lvl2pPr marL="820420" indent="0">
              <a:buNone/>
              <a:defRPr sz="4310"/>
            </a:lvl2pPr>
            <a:lvl3pPr marL="1642110" indent="0">
              <a:buNone/>
              <a:defRPr sz="3590"/>
            </a:lvl3pPr>
            <a:lvl4pPr marL="2462530" indent="0">
              <a:buNone/>
              <a:defRPr sz="3230"/>
            </a:lvl4pPr>
            <a:lvl5pPr marL="3284220" indent="0">
              <a:buNone/>
              <a:defRPr sz="3230"/>
            </a:lvl5pPr>
            <a:lvl6pPr marL="4104640" indent="0">
              <a:buNone/>
              <a:defRPr sz="3230"/>
            </a:lvl6pPr>
            <a:lvl7pPr marL="4925060" indent="0">
              <a:buNone/>
              <a:defRPr sz="3230"/>
            </a:lvl7pPr>
            <a:lvl8pPr marL="5746750" indent="0">
              <a:buNone/>
              <a:defRPr sz="3230"/>
            </a:lvl8pPr>
            <a:lvl9pPr marL="6567170" indent="0">
              <a:buNone/>
              <a:defRPr sz="323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73480" y="5330758"/>
            <a:ext cx="9746865" cy="70485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2513512" y="3556876"/>
            <a:ext cx="9794868" cy="1647824"/>
          </a:xfrm>
        </p:spPr>
        <p:txBody>
          <a:bodyPr anchor="ctr" anchorCtr="0"/>
          <a:lstStyle>
            <a:lvl1pPr marL="0" indent="0">
              <a:buNone/>
              <a:defRPr sz="5030"/>
            </a:lvl1pPr>
            <a:lvl2pPr marL="820420" indent="0">
              <a:buNone/>
              <a:defRPr sz="4310"/>
            </a:lvl2pPr>
            <a:lvl3pPr marL="1642110" indent="0">
              <a:buNone/>
              <a:defRPr sz="3590"/>
            </a:lvl3pPr>
            <a:lvl4pPr marL="2462530" indent="0">
              <a:buNone/>
              <a:defRPr sz="3230"/>
            </a:lvl4pPr>
            <a:lvl5pPr marL="3284220" indent="0">
              <a:buNone/>
              <a:defRPr sz="3230"/>
            </a:lvl5pPr>
            <a:lvl6pPr marL="4104640" indent="0">
              <a:buNone/>
              <a:defRPr sz="3230"/>
            </a:lvl6pPr>
            <a:lvl7pPr marL="4925060" indent="0">
              <a:buNone/>
              <a:defRPr sz="3230"/>
            </a:lvl7pPr>
            <a:lvl8pPr marL="5746750" indent="0">
              <a:buNone/>
              <a:defRPr sz="3230"/>
            </a:lvl8pPr>
            <a:lvl9pPr marL="6567170" indent="0">
              <a:buNone/>
              <a:defRPr sz="323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2513512" y="5330758"/>
            <a:ext cx="9794868" cy="70485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DCC54-9837-47ED-9073-E0BFB2E8731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BC10F-6166-4854-8B6B-93B86F93D06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EDB1-B30D-4859-AA3E-F2BA711F38A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27" y="914400"/>
            <a:ext cx="8330455" cy="3200400"/>
          </a:xfrm>
        </p:spPr>
        <p:txBody>
          <a:bodyPr anchor="b"/>
          <a:lstStyle>
            <a:lvl1pPr>
              <a:defRPr sz="575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0366076" y="914402"/>
            <a:ext cx="12344042" cy="10807700"/>
          </a:xfrm>
        </p:spPr>
        <p:txBody>
          <a:bodyPr/>
          <a:lstStyle>
            <a:lvl1pPr marL="0" indent="0">
              <a:buNone/>
              <a:defRPr sz="5750"/>
            </a:lvl1pPr>
            <a:lvl2pPr marL="820420" indent="0">
              <a:buNone/>
              <a:defRPr sz="5030"/>
            </a:lvl2pPr>
            <a:lvl3pPr marL="1642110" indent="0">
              <a:buNone/>
              <a:defRPr sz="4310"/>
            </a:lvl3pPr>
            <a:lvl4pPr marL="2462530" indent="0">
              <a:buNone/>
              <a:defRPr sz="3590"/>
            </a:lvl4pPr>
            <a:lvl5pPr marL="3284220" indent="0">
              <a:buNone/>
              <a:defRPr sz="3590"/>
            </a:lvl5pPr>
            <a:lvl6pPr marL="4104640" indent="0">
              <a:buNone/>
              <a:defRPr sz="3590"/>
            </a:lvl6pPr>
            <a:lvl7pPr marL="4925060" indent="0">
              <a:buNone/>
              <a:defRPr sz="3590"/>
            </a:lvl7pPr>
            <a:lvl8pPr marL="5746750" indent="0">
              <a:buNone/>
              <a:defRPr sz="3590"/>
            </a:lvl8pPr>
            <a:lvl9pPr marL="6567170" indent="0">
              <a:buNone/>
              <a:defRPr sz="359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79527" y="4114800"/>
            <a:ext cx="8330455" cy="7623176"/>
          </a:xfrm>
        </p:spPr>
        <p:txBody>
          <a:bodyPr/>
          <a:lstStyle>
            <a:lvl1pPr marL="0" indent="0">
              <a:buNone/>
              <a:defRPr sz="3590"/>
            </a:lvl1pPr>
            <a:lvl2pPr marL="820420" indent="0">
              <a:buNone/>
              <a:defRPr sz="3230"/>
            </a:lvl2pPr>
            <a:lvl3pPr marL="1642110" indent="0">
              <a:buNone/>
              <a:defRPr sz="2870"/>
            </a:lvl3pPr>
            <a:lvl4pPr marL="2462530" indent="0">
              <a:buNone/>
              <a:defRPr sz="2510"/>
            </a:lvl4pPr>
            <a:lvl5pPr marL="3284220" indent="0">
              <a:buNone/>
              <a:defRPr sz="2510"/>
            </a:lvl5pPr>
            <a:lvl6pPr marL="4104640" indent="0">
              <a:buNone/>
              <a:defRPr sz="2510"/>
            </a:lvl6pPr>
            <a:lvl7pPr marL="4925060" indent="0">
              <a:buNone/>
              <a:defRPr sz="2510"/>
            </a:lvl7pPr>
            <a:lvl8pPr marL="5746750" indent="0">
              <a:buNone/>
              <a:defRPr sz="2510"/>
            </a:lvl8pPr>
            <a:lvl9pPr marL="6567170" indent="0">
              <a:buNone/>
              <a:defRPr sz="25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E4910-8FC3-4F35-8FDD-EFEE8C857B0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7449294" y="730250"/>
            <a:ext cx="5257646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676352" y="730250"/>
            <a:ext cx="1546815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DB9B9-A35C-4ADC-924F-813FE392B28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676353" y="730250"/>
            <a:ext cx="21030588" cy="11623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F6ACB-FD3B-4444-A6AC-067A12E4E78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4264" y="123042"/>
            <a:ext cx="3215858" cy="7904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es-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493990" y="398781"/>
            <a:ext cx="3246756" cy="885190"/>
          </a:xfrm>
          <a:prstGeom prst="rect">
            <a:avLst/>
          </a:prstGeom>
        </p:spPr>
      </p:pic>
      <p:pic>
        <p:nvPicPr>
          <p:cNvPr id="5" name="图片 4" descr="P-0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71756" y="-43816"/>
            <a:ext cx="24455120" cy="1375473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bg-PP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3328" y="1"/>
            <a:ext cx="24397328" cy="13722510"/>
          </a:xfrm>
          <a:prstGeom prst="rect">
            <a:avLst/>
          </a:prstGeom>
        </p:spPr>
      </p:pic>
      <p:sp>
        <p:nvSpPr>
          <p:cNvPr id="3" name="椭圆 2"/>
          <p:cNvSpPr/>
          <p:nvPr userDrawn="1"/>
        </p:nvSpPr>
        <p:spPr>
          <a:xfrm>
            <a:off x="9491980" y="4601830"/>
            <a:ext cx="5400000" cy="895340"/>
          </a:xfrm>
          <a:prstGeom prst="ellipse">
            <a:avLst/>
          </a:prstGeom>
          <a:solidFill>
            <a:srgbClr val="222773"/>
          </a:solidFill>
          <a:ln w="12700" cap="flat">
            <a:noFill/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71438" tIns="71438" rIns="71438" bIns="71438" numCol="1" spcCol="38100" rtlCol="0" anchor="ctr" forceAA="0">
            <a:spAutoFit/>
          </a:bodyPr>
          <a:lstStyle/>
          <a:p>
            <a:pPr marL="0" marR="0" indent="0" algn="ctr" defTabSz="82169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es-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8657" y="398781"/>
            <a:ext cx="3418206" cy="931546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288540" y="480063"/>
            <a:ext cx="20866660" cy="141097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1828800" rtl="0" eaLnBrk="1" fontAlgn="auto" latinLnBrk="0" hangingPunct="1">
              <a:lnSpc>
                <a:spcPct val="100000"/>
              </a:lnSpc>
              <a:buNone/>
              <a:defRPr kumimoji="0" lang="zh-CN" altLang="en-US" sz="4800" b="1" i="0" u="none" strike="noStrike" kern="1200" cap="none" spc="600" normalizeH="0" baseline="0" noProof="1" dirty="0">
                <a:solidFill>
                  <a:srgbClr val="212773"/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1216800" y="2980800"/>
            <a:ext cx="21938400" cy="95184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1828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000"/>
              </a:spcAft>
              <a:buFont typeface="Arial" panose="020B0604020202090204" pitchFamily="34" charset="0"/>
              <a:buNone/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914400" marR="0" lvl="1" indent="0" algn="l" defTabSz="1828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90204" pitchFamily="34" charset="0"/>
              <a:buNone/>
              <a:tabLst>
                <a:tab pos="3219450" algn="l"/>
              </a:tabLst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828800" marR="0" lvl="2" indent="0" algn="l" defTabSz="1828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90204" pitchFamily="34" charset="0"/>
              <a:buNone/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2743200" marR="0" lvl="3" indent="0" algn="l" defTabSz="1828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  <a:buNone/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3657600" marR="0" lvl="4" indent="0" algn="l" defTabSz="1828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None/>
              <a:defRPr kumimoji="0" lang="zh-CN" altLang="en-US" sz="3600" b="0" i="0" u="none" strike="noStrike" kern="1200" cap="none" spc="30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4572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11953042" y="13010555"/>
            <a:ext cx="530592" cy="513601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object 13"/>
          <p:cNvSpPr/>
          <p:nvPr userDrawn="1"/>
        </p:nvSpPr>
        <p:spPr>
          <a:xfrm>
            <a:off x="19863281" y="12800702"/>
            <a:ext cx="4272234" cy="6286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1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 descr="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2080" y="3"/>
            <a:ext cx="1874520" cy="189103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17220" marR="0" indent="-61722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720" marR="0" indent="-61722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220" marR="0" indent="-61722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720" marR="0" indent="-61722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220" marR="0" indent="-61722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720" marR="0" indent="-61722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220" marR="0" indent="-61722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720" marR="0" indent="-61722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220" marR="0" indent="-617220" algn="l" defTabSz="821055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81902" y="326913"/>
            <a:ext cx="21030588" cy="953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81901" y="1629745"/>
            <a:ext cx="22938959" cy="108499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676352" y="12712701"/>
            <a:ext cx="548624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2A015-040C-4A87-BA5F-45F018C791D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8076965" y="12712701"/>
            <a:ext cx="822936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7220700" y="12712701"/>
            <a:ext cx="347315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 bwMode="auto">
          <a:xfrm>
            <a:off x="1" y="1396754"/>
            <a:ext cx="16810828" cy="0"/>
          </a:xfrm>
          <a:prstGeom prst="line">
            <a:avLst/>
          </a:prstGeom>
          <a:ln w="19050">
            <a:solidFill>
              <a:srgbClr val="92058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hdr="0" ftr="0" dt="0"/>
  <p:txStyles>
    <p:titleStyle>
      <a:lvl1pPr algn="l" defTabSz="164211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10210" indent="-408940" algn="l" defTabSz="1642110" rtl="0" eaLnBrk="1" latinLnBrk="0" hangingPunct="1">
        <a:lnSpc>
          <a:spcPct val="90000"/>
        </a:lnSpc>
        <a:spcBef>
          <a:spcPct val="180000"/>
        </a:spcBef>
        <a:buFont typeface="Arial" panose="020B0604020202090204" pitchFamily="34" charset="0"/>
        <a:buChar char="•"/>
        <a:defRPr sz="4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1231900" indent="-408940" algn="l" defTabSz="1642110" rtl="0" eaLnBrk="1" latinLnBrk="0" hangingPunct="1">
        <a:lnSpc>
          <a:spcPct val="90000"/>
        </a:lnSpc>
        <a:spcBef>
          <a:spcPct val="90000"/>
        </a:spcBef>
        <a:buFont typeface="Arial" panose="020B0604020202090204" pitchFamily="34" charset="0"/>
        <a:buChar char="•"/>
        <a:defRPr sz="4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2052320" indent="-408940" algn="l" defTabSz="1642110" rtl="0" eaLnBrk="1" latinLnBrk="0" hangingPunct="1">
        <a:lnSpc>
          <a:spcPct val="90000"/>
        </a:lnSpc>
        <a:spcBef>
          <a:spcPct val="9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872740" indent="-408940" algn="l" defTabSz="1642110" rtl="0" eaLnBrk="1" latinLnBrk="0" hangingPunct="1">
        <a:lnSpc>
          <a:spcPct val="90000"/>
        </a:lnSpc>
        <a:spcBef>
          <a:spcPct val="9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3694430" indent="-408940" algn="l" defTabSz="1642110" rtl="0" eaLnBrk="1" latinLnBrk="0" hangingPunct="1">
        <a:lnSpc>
          <a:spcPct val="90000"/>
        </a:lnSpc>
        <a:spcBef>
          <a:spcPct val="9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4514850" indent="-408940" algn="l" defTabSz="1642110" rtl="0" eaLnBrk="1" latinLnBrk="0" hangingPunct="1">
        <a:lnSpc>
          <a:spcPct val="90000"/>
        </a:lnSpc>
        <a:spcBef>
          <a:spcPct val="90000"/>
        </a:spcBef>
        <a:buFont typeface="Arial" panose="020B060402020209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6pPr>
      <a:lvl7pPr marL="5336540" indent="-408940" algn="l" defTabSz="1642110" rtl="0" eaLnBrk="1" latinLnBrk="0" hangingPunct="1">
        <a:lnSpc>
          <a:spcPct val="90000"/>
        </a:lnSpc>
        <a:spcBef>
          <a:spcPct val="90000"/>
        </a:spcBef>
        <a:buFont typeface="Arial" panose="020B060402020209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7pPr>
      <a:lvl8pPr marL="6156960" indent="-408940" algn="l" defTabSz="1642110" rtl="0" eaLnBrk="1" latinLnBrk="0" hangingPunct="1">
        <a:lnSpc>
          <a:spcPct val="90000"/>
        </a:lnSpc>
        <a:spcBef>
          <a:spcPct val="90000"/>
        </a:spcBef>
        <a:buFont typeface="Arial" panose="020B060402020209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8pPr>
      <a:lvl9pPr marL="6977380" indent="-408940" algn="l" defTabSz="1642110" rtl="0" eaLnBrk="1" latinLnBrk="0" hangingPunct="1">
        <a:lnSpc>
          <a:spcPct val="90000"/>
        </a:lnSpc>
        <a:spcBef>
          <a:spcPct val="90000"/>
        </a:spcBef>
        <a:buFont typeface="Arial" panose="020B060402020209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642110" rtl="0" eaLnBrk="1" latinLnBrk="0" hangingPunct="1"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820420" algn="l" defTabSz="1642110" rtl="0" eaLnBrk="1" latinLnBrk="0" hangingPunct="1">
        <a:defRPr sz="3230" kern="1200">
          <a:solidFill>
            <a:schemeClr val="tx1"/>
          </a:solidFill>
          <a:latin typeface="+mn-lt"/>
          <a:ea typeface="+mn-ea"/>
          <a:cs typeface="+mn-cs"/>
        </a:defRPr>
      </a:lvl2pPr>
      <a:lvl3pPr marL="1642110" algn="l" defTabSz="1642110" rtl="0" eaLnBrk="1" latinLnBrk="0" hangingPunct="1">
        <a:defRPr sz="3230" kern="1200">
          <a:solidFill>
            <a:schemeClr val="tx1"/>
          </a:solidFill>
          <a:latin typeface="+mn-lt"/>
          <a:ea typeface="+mn-ea"/>
          <a:cs typeface="+mn-cs"/>
        </a:defRPr>
      </a:lvl3pPr>
      <a:lvl4pPr marL="2462530" algn="l" defTabSz="1642110" rtl="0" eaLnBrk="1" latinLnBrk="0" hangingPunct="1">
        <a:defRPr sz="3230" kern="1200">
          <a:solidFill>
            <a:schemeClr val="tx1"/>
          </a:solidFill>
          <a:latin typeface="+mn-lt"/>
          <a:ea typeface="+mn-ea"/>
          <a:cs typeface="+mn-cs"/>
        </a:defRPr>
      </a:lvl4pPr>
      <a:lvl5pPr marL="3284220" algn="l" defTabSz="1642110" rtl="0" eaLnBrk="1" latinLnBrk="0" hangingPunct="1">
        <a:defRPr sz="3230" kern="1200">
          <a:solidFill>
            <a:schemeClr val="tx1"/>
          </a:solidFill>
          <a:latin typeface="+mn-lt"/>
          <a:ea typeface="+mn-ea"/>
          <a:cs typeface="+mn-cs"/>
        </a:defRPr>
      </a:lvl5pPr>
      <a:lvl6pPr marL="4104640" algn="l" defTabSz="1642110" rtl="0" eaLnBrk="1" latinLnBrk="0" hangingPunct="1">
        <a:defRPr sz="3230" kern="1200">
          <a:solidFill>
            <a:schemeClr val="tx1"/>
          </a:solidFill>
          <a:latin typeface="+mn-lt"/>
          <a:ea typeface="+mn-ea"/>
          <a:cs typeface="+mn-cs"/>
        </a:defRPr>
      </a:lvl6pPr>
      <a:lvl7pPr marL="4925060" algn="l" defTabSz="1642110" rtl="0" eaLnBrk="1" latinLnBrk="0" hangingPunct="1">
        <a:defRPr sz="3230" kern="1200">
          <a:solidFill>
            <a:schemeClr val="tx1"/>
          </a:solidFill>
          <a:latin typeface="+mn-lt"/>
          <a:ea typeface="+mn-ea"/>
          <a:cs typeface="+mn-cs"/>
        </a:defRPr>
      </a:lvl7pPr>
      <a:lvl8pPr marL="5746750" algn="l" defTabSz="1642110" rtl="0" eaLnBrk="1" latinLnBrk="0" hangingPunct="1">
        <a:defRPr sz="3230" kern="1200">
          <a:solidFill>
            <a:schemeClr val="tx1"/>
          </a:solidFill>
          <a:latin typeface="+mn-lt"/>
          <a:ea typeface="+mn-ea"/>
          <a:cs typeface="+mn-cs"/>
        </a:defRPr>
      </a:lvl8pPr>
      <a:lvl9pPr marL="6567170" algn="l" defTabSz="1642110" rtl="0" eaLnBrk="1" latinLnBrk="0" hangingPunct="1">
        <a:defRPr sz="32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4387455" y="625079"/>
            <a:ext cx="15609094" cy="3036094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4387455" y="3661172"/>
            <a:ext cx="15609094" cy="8840392"/>
          </a:xfrm>
          <a:prstGeom prst="rect">
            <a:avLst/>
          </a:prstGeom>
          <a:ln w="12700"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8752" y="13010555"/>
            <a:ext cx="530592" cy="51360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transition spd="med"/>
  <p:txStyles>
    <p:titleStyle>
      <a:lvl1pPr marL="0" marR="0" indent="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17220" marR="0" indent="-617220" algn="l" defTabSz="8216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720" marR="0" indent="-617220" algn="l" defTabSz="8216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220" marR="0" indent="-617220" algn="l" defTabSz="8216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720" marR="0" indent="-617220" algn="l" defTabSz="8216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220" marR="0" indent="-617220" algn="l" defTabSz="8216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720" marR="0" indent="-617220" algn="l" defTabSz="8216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220" marR="0" indent="-617220" algn="l" defTabSz="8216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720" marR="0" indent="-617220" algn="l" defTabSz="8216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220" marR="0" indent="-617220" algn="l" defTabSz="82169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69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封面主标题 (思源黑体 Regular 70p)"/>
          <p:cNvSpPr txBox="1"/>
          <p:nvPr/>
        </p:nvSpPr>
        <p:spPr>
          <a:xfrm>
            <a:off x="9600000" y="4986000"/>
            <a:ext cx="12744000" cy="2935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7000">
                <a:solidFill>
                  <a:srgbClr val="FFFFFF"/>
                </a:solidFill>
                <a:latin typeface="Source Han Sans CN Regular"/>
                <a:ea typeface="Source Han Sans CN Regular"/>
                <a:cs typeface="Source Han Sans CN Regular"/>
                <a:sym typeface="Source Han Sans CN Regular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6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美国用户运营</a:t>
            </a:r>
            <a:r>
              <a:rPr lang="en-US" altLang="zh-CN" sz="6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2</a:t>
            </a:r>
            <a:r>
              <a:rPr lang="zh-CN" altLang="en-US" sz="6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月工作</a:t>
            </a:r>
            <a:r>
              <a:rPr lang="zh-CN" altLang="en-US" sz="6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进展</a:t>
            </a:r>
            <a:endParaRPr lang="zh-CN" altLang="en-US" sz="60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pic>
        <p:nvPicPr>
          <p:cNvPr id="9" name="图片 8" descr="场景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3645" y="534472"/>
            <a:ext cx="3842485" cy="1015288"/>
          </a:xfrm>
          <a:prstGeom prst="rect">
            <a:avLst/>
          </a:prstGeom>
        </p:spPr>
      </p:pic>
      <p:sp>
        <p:nvSpPr>
          <p:cNvPr id="12" name="封面副标题 (思源黑体 Regular 50p)"/>
          <p:cNvSpPr txBox="1"/>
          <p:nvPr/>
        </p:nvSpPr>
        <p:spPr>
          <a:xfrm>
            <a:off x="18023685" y="10026329"/>
            <a:ext cx="2538730" cy="1080770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 anchor="ctr">
            <a:spAutoFit/>
          </a:bodyPr>
          <a:lstStyle>
            <a:lvl1pPr algn="l">
              <a:defRPr>
                <a:solidFill>
                  <a:srgbClr val="FFFFFF"/>
                </a:solidFill>
                <a:latin typeface="Source Han Sans CN Regular"/>
                <a:ea typeface="Source Han Sans CN Regular"/>
                <a:cs typeface="Source Han Sans CN Regular"/>
                <a:sym typeface="Source Han Sans CN Regular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李宵霄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600"/>
              </a:spcAft>
            </a:pP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000" y="1042116"/>
            <a:ext cx="10805108" cy="1268215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1392555" y="1733550"/>
            <a:ext cx="20276185" cy="3269615"/>
          </a:xfrm>
          <a:prstGeom prst="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71437" tIns="71437" rIns="71437" bIns="71437" numCol="1" spcCol="38100" rtlCol="0" anchor="ctr" forceAA="0">
            <a:noAutofit/>
          </a:bodyPr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62755" y="323465"/>
            <a:ext cx="20866660" cy="1410970"/>
          </a:xfrm>
        </p:spPr>
        <p:txBody>
          <a:bodyPr/>
          <a:lstStyle/>
          <a:p>
            <a:r>
              <a:rPr lang="zh-CN" altLang="en-US" sz="4800" b="1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老客涨价</a:t>
            </a:r>
            <a:r>
              <a:rPr lang="zh-CN" altLang="en-US" sz="4800" b="1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lang="zh-CN" altLang="en-US" sz="4800" b="1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12010" y="1314450"/>
            <a:ext cx="1665287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ts val="200"/>
              </a:spcBef>
              <a:spcAft>
                <a:spcPts val="1000"/>
              </a:spcAft>
            </a:pP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实验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: 2026-02-12 ~ 2026-02-28 | </a:t>
            </a: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涨价组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1(75</a:t>
            </a: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折系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, 30%, 38,093</a:t>
            </a: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人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) vs </a:t>
            </a: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涨价组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2(7</a:t>
            </a: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折系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, 30%, 38,058</a:t>
            </a: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人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) vs </a:t>
            </a: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对照组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3(</a:t>
            </a: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原价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, 40%, 50,295</a:t>
            </a:r>
            <a:r>
              <a:rPr lang="zh-CN" altLang="en-US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人</a:t>
            </a:r>
            <a:r>
              <a:rPr lang="en-US" altLang="zh-CN" sz="1800" i="0">
                <a:solidFill>
                  <a:srgbClr val="666666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)</a:t>
            </a:r>
            <a:endParaRPr lang="en-US" altLang="zh-CN" sz="1800" i="0">
              <a:solidFill>
                <a:srgbClr val="666666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64310" y="1834515"/>
            <a:ext cx="19916775" cy="27432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32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结论：整体可以涨价，推荐涨价组</a:t>
            </a:r>
            <a:r>
              <a:rPr lang="en-US" altLang="zh-CN" sz="32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</a:t>
            </a:r>
            <a:r>
              <a:rPr lang="zh-CN" altLang="en-US" sz="32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为基础方案。</a:t>
            </a:r>
            <a:endParaRPr lang="zh-CN" altLang="en-US" sz="2800" i="0">
              <a:solidFill>
                <a:schemeClr val="accent2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0" algn="l">
              <a:spcBef>
                <a:spcPts val="200"/>
              </a:spcBef>
              <a:spcAft>
                <a:spcPts val="200"/>
              </a:spcAft>
              <a:buFont typeface="Arial" panose="020B0604020202090204"/>
            </a:pP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1. 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单整体涨价实验中，涨价组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定价更高但表现更好，</a:t>
            </a:r>
            <a:r>
              <a:rPr lang="zh-CN" altLang="en-US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杯实收显著提升：组</a:t>
            </a:r>
            <a:r>
              <a:rPr lang="en-US" altLang="zh-CN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1 </a:t>
            </a:r>
            <a:r>
              <a:rPr lang="en-US" altLang="zh-CN" sz="2200">
                <a:solidFill>
                  <a:srgbClr val="D32F2F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+9.39%</a:t>
            </a:r>
            <a:r>
              <a:rPr lang="zh-CN" altLang="en-US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、组</a:t>
            </a:r>
            <a:r>
              <a:rPr lang="en-US" altLang="zh-CN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2 </a:t>
            </a:r>
            <a:r>
              <a:rPr lang="en-US" altLang="zh-CN" sz="2200">
                <a:solidFill>
                  <a:srgbClr val="D32F2F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+7.88%</a:t>
            </a:r>
            <a:r>
              <a:rPr lang="zh-CN" altLang="en-US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；转化率代价可控：组</a:t>
            </a:r>
            <a:r>
              <a:rPr lang="en-US" altLang="zh-CN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1 </a:t>
            </a:r>
            <a:r>
              <a:rPr lang="en-US" altLang="zh-CN" sz="2200">
                <a:solidFill>
                  <a:srgbClr val="2E7D3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-0.83pp</a:t>
            </a:r>
            <a:r>
              <a:rPr lang="zh-CN" altLang="en-US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、组</a:t>
            </a:r>
            <a:r>
              <a:rPr lang="en-US" altLang="zh-CN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2 </a:t>
            </a:r>
            <a:r>
              <a:rPr lang="en-US" altLang="zh-CN" sz="2200">
                <a:solidFill>
                  <a:srgbClr val="2E7D3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-1.00pp</a:t>
            </a:r>
            <a:r>
              <a:rPr lang="zh-CN" altLang="en-US" sz="2200">
                <a:solidFill>
                  <a:srgbClr val="2E7D3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，</a:t>
            </a:r>
            <a:r>
              <a:rPr lang="zh-CN" altLang="en-US" sz="22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可见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折扣深度并非越深越好，组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在单杯提升、转化控制、留存维护三维度均优于组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</a:t>
            </a:r>
            <a:endParaRPr lang="en-US" altLang="zh-CN" sz="2200" i="0">
              <a:solidFill>
                <a:srgbClr val="333333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0" algn="l">
              <a:spcBef>
                <a:spcPts val="200"/>
              </a:spcBef>
              <a:spcAft>
                <a:spcPts val="200"/>
              </a:spcAft>
              <a:buFont typeface="Arial" panose="020B0604020202090204"/>
            </a:pPr>
            <a:r>
              <a:rPr lang="en-US" altLang="zh-CN" sz="2200" b="1" i="0">
                <a:solidFill>
                  <a:srgbClr val="333333"/>
                </a:solidFill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2. 0-15</a:t>
            </a:r>
            <a:r>
              <a:rPr lang="zh-CN" altLang="en-US" sz="2200" b="1" i="0">
                <a:solidFill>
                  <a:srgbClr val="333333"/>
                </a:solidFill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天活跃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客群建议下调涨价幅度：</a:t>
            </a:r>
            <a:r>
              <a:rPr lang="zh-CN" altLang="en-US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涨价组</a:t>
            </a:r>
            <a:r>
              <a:rPr lang="en-US" altLang="zh-CN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1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单杯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-</a:t>
            </a:r>
            <a:r>
              <a:rPr lang="en-US" altLang="zh-CN" sz="22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2.38%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，转化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-6pp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，涨价组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单杯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-2.91%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，转化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+0.97pp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，且该部分用户样本较小占比仅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0.4%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，涨价不会对整体实收产生太大影响，建议下调涨价幅度。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 </a:t>
            </a:r>
            <a:endParaRPr lang="en-US" altLang="zh-CN" sz="2200" i="0">
              <a:solidFill>
                <a:srgbClr val="333333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0" algn="l">
              <a:spcBef>
                <a:spcPts val="200"/>
              </a:spcBef>
              <a:spcAft>
                <a:spcPts val="200"/>
              </a:spcAft>
              <a:buFont typeface="Arial" panose="020B0604020202090204"/>
            </a:pPr>
            <a:r>
              <a:rPr lang="en-US" altLang="zh-CN" sz="2200" b="1" i="0">
                <a:solidFill>
                  <a:srgbClr val="333333"/>
                </a:solidFill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3. 16-30</a:t>
            </a:r>
            <a:r>
              <a:rPr lang="zh-CN" altLang="en-US" sz="2200" b="1" i="0">
                <a:solidFill>
                  <a:srgbClr val="333333"/>
                </a:solidFill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天活跃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客群当前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5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折合理，可小幅测试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55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折，</a:t>
            </a:r>
            <a:r>
              <a:rPr lang="en-US" altLang="zh-CN" sz="2200" b="1" i="0">
                <a:solidFill>
                  <a:srgbClr val="333333"/>
                </a:solidFill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31+</a:t>
            </a:r>
            <a:r>
              <a:rPr lang="zh-CN" altLang="en-US" sz="2200" b="1" i="0">
                <a:solidFill>
                  <a:srgbClr val="333333"/>
                </a:solidFill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未消费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人群可以继续扩量组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策略；</a:t>
            </a:r>
            <a:r>
              <a:rPr lang="zh-CN" altLang="en-US" sz="2200" b="1" i="0">
                <a:solidFill>
                  <a:srgbClr val="333333"/>
                </a:solidFill>
                <a:latin typeface="Kaiti SC Bold" panose="02010600040101010101" charset="-122"/>
                <a:ea typeface="Kaiti SC Bold" panose="02010600040101010101" charset="-122"/>
                <a:cs typeface="Kaiti SC Regular" panose="02010600040101010101" charset="-122"/>
              </a:rPr>
              <a:t>周六日消费后返工作日券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策略，涨价组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</a:t>
            </a:r>
            <a:r>
              <a:rPr lang="zh-CN" altLang="en-US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单杯</a:t>
            </a:r>
            <a:r>
              <a:rPr lang="en-US" altLang="zh-CN" sz="2200">
                <a:solidFill>
                  <a:srgbClr val="D32F2F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+9.28%</a:t>
            </a:r>
            <a:r>
              <a:rPr lang="zh-CN" altLang="en-US" sz="220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，转化</a:t>
            </a:r>
            <a:r>
              <a:rPr lang="en-US" altLang="zh-CN" sz="2200">
                <a:solidFill>
                  <a:srgbClr val="2E7D3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-0.53pp</a:t>
            </a:r>
            <a:r>
              <a:rPr lang="zh-CN" altLang="en-US" sz="2200">
                <a:solidFill>
                  <a:srgbClr val="2E7D3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，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建议持续提价到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65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折看下效果；</a:t>
            </a:r>
            <a:r>
              <a:rPr lang="zh-CN" altLang="en-US" sz="2200" b="1" i="0">
                <a:solidFill>
                  <a:srgbClr val="333333"/>
                </a:solidFill>
                <a:latin typeface="Kaiti SC Bold" panose="02010600040101010101" charset="-122"/>
                <a:ea typeface="Kaiti SC Bold" panose="02010600040101010101" charset="-122"/>
                <a:cs typeface="Kaiti SC Regular" panose="02010600040101010101" charset="-122"/>
              </a:rPr>
              <a:t>来访未购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用户对于价格更为敏感，建议回调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5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折。</a:t>
            </a:r>
            <a:endParaRPr lang="zh-CN" altLang="en-US" sz="2200" i="0">
              <a:solidFill>
                <a:srgbClr val="333333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5885" y="498633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400"/>
              </a:spcBef>
              <a:spcAft>
                <a:spcPts val="600"/>
              </a:spcAft>
            </a:pPr>
            <a:r>
              <a:rPr lang="zh-CN" altLang="en-US" sz="3200" b="1" i="0">
                <a:solidFill>
                  <a:srgbClr val="0F3460"/>
                </a:solidFill>
                <a:latin typeface="Kaiti SC Bold" panose="02010600040101010101" charset="-122"/>
                <a:ea typeface="Kaiti SC Bold" panose="02010600040101010101" charset="-122"/>
              </a:rPr>
              <a:t>总体实验效果</a:t>
            </a:r>
            <a:endParaRPr lang="zh-CN" altLang="en-US" sz="3200" b="1" i="0">
              <a:solidFill>
                <a:srgbClr val="0F3460"/>
              </a:solidFill>
              <a:latin typeface="Kaiti SC Bold" panose="02010600040101010101" charset="-122"/>
              <a:ea typeface="Kaiti SC Bold" panose="02010600040101010101" charset="-122"/>
            </a:endParaRPr>
          </a:p>
        </p:txBody>
      </p:sp>
      <p:graphicFrame>
        <p:nvGraphicFramePr>
          <p:cNvPr id="15" name="表格 14"/>
          <p:cNvGraphicFramePr/>
          <p:nvPr>
            <p:custDataLst>
              <p:tags r:id="rId1"/>
            </p:custDataLst>
          </p:nvPr>
        </p:nvGraphicFramePr>
        <p:xfrm>
          <a:off x="1463675" y="5625465"/>
          <a:ext cx="20276820" cy="2061210"/>
        </p:xfrm>
        <a:graphic>
          <a:graphicData uri="http://schemas.openxmlformats.org/drawingml/2006/table">
            <a:tbl>
              <a:tblPr/>
              <a:tblGrid>
                <a:gridCol w="3379470"/>
                <a:gridCol w="3379470"/>
                <a:gridCol w="3379470"/>
                <a:gridCol w="3379470"/>
                <a:gridCol w="3379470"/>
                <a:gridCol w="3379470"/>
              </a:tblGrid>
              <a:tr h="403225">
                <a:tc>
                  <a:txBody>
                    <a:bodyPr/>
                    <a:p>
                      <a:pPr marL="0" indent="0" algn="ctr"/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组别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转化率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单杯实收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3</a:t>
                      </a:r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日复购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7</a:t>
                      </a:r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日复购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拉齐实收</a:t>
                      </a:r>
                      <a:endParaRPr lang="zh-CN" altLang="en-US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74040">
                <a:tc>
                  <a:txBody>
                    <a:bodyPr/>
                    <a:p>
                      <a:pPr marL="0" indent="0" algn="ctr"/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涨价组</a:t>
                      </a:r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1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10.79%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-0.83pp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$3.61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+9.39%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31.54%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+0.46pp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50.73%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-0.91pp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$54,720.24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-1.94%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1650">
                <a:tc>
                  <a:txBody>
                    <a:bodyPr/>
                    <a:p>
                      <a:pPr marL="0" indent="0" algn="ctr"/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涨价组</a:t>
                      </a:r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2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10.62%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-1.00pp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$3.56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+7.88%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30.44%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-0.64pp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49.39%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-2.25pp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$53,402.96 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4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-4.30%</a:t>
                      </a:r>
                      <a:r>
                        <a:rPr lang="en-US" altLang="zh-CN" sz="2400" b="0" i="0">
                          <a:solidFill>
                            <a:srgbClr val="888888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400" b="0" i="0">
                        <a:solidFill>
                          <a:srgbClr val="888888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9420">
                <a:tc>
                  <a:txBody>
                    <a:bodyPr/>
                    <a:p>
                      <a:pPr marL="0" indent="0" algn="ctr"/>
                      <a:r>
                        <a:rPr lang="zh-CN" altLang="en-US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对照组</a:t>
                      </a:r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3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11.62%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$3.30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31.08%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51.64%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4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$55,803.70</a:t>
                      </a:r>
                      <a:endParaRPr lang="en-US" altLang="zh-CN" sz="24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319530" y="779113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1400"/>
              </a:spcBef>
              <a:spcAft>
                <a:spcPts val="600"/>
              </a:spcAft>
            </a:pPr>
            <a:r>
              <a:rPr lang="zh-CN" altLang="en-US" sz="3200" b="1" i="0">
                <a:solidFill>
                  <a:srgbClr val="0F3460"/>
                </a:solidFill>
                <a:latin typeface="Kaiti SC Bold" panose="02010600040101010101" charset="-122"/>
                <a:ea typeface="Kaiti SC Bold" panose="02010600040101010101" charset="-122"/>
              </a:rPr>
              <a:t>分</a:t>
            </a:r>
            <a:r>
              <a:rPr lang="zh-CN" altLang="en-US" sz="3200" b="1" i="0">
                <a:solidFill>
                  <a:srgbClr val="0F3460"/>
                </a:solidFill>
                <a:latin typeface="Kaiti SC Bold" panose="02010600040101010101" charset="-122"/>
                <a:ea typeface="Kaiti SC Bold" panose="02010600040101010101" charset="-122"/>
              </a:rPr>
              <a:t>人群策略效果与定价建议</a:t>
            </a:r>
            <a:endParaRPr lang="zh-CN" altLang="en-US" sz="3200" b="1" i="0">
              <a:solidFill>
                <a:srgbClr val="0F3460"/>
              </a:solidFill>
              <a:latin typeface="Kaiti SC Bold" panose="02010600040101010101" charset="-122"/>
              <a:ea typeface="Kaiti SC Bold" panose="02010600040101010101" charset="-122"/>
            </a:endParaRPr>
          </a:p>
        </p:txBody>
      </p:sp>
      <p:graphicFrame>
        <p:nvGraphicFramePr>
          <p:cNvPr id="17" name="表格 16"/>
          <p:cNvGraphicFramePr/>
          <p:nvPr/>
        </p:nvGraphicFramePr>
        <p:xfrm>
          <a:off x="1463675" y="8529637"/>
          <a:ext cx="20970240" cy="4504690"/>
        </p:xfrm>
        <a:graphic>
          <a:graphicData uri="http://schemas.openxmlformats.org/drawingml/2006/table">
            <a:tbl>
              <a:tblPr/>
              <a:tblGrid>
                <a:gridCol w="2633980"/>
                <a:gridCol w="3964940"/>
                <a:gridCol w="4270375"/>
                <a:gridCol w="10100945"/>
              </a:tblGrid>
              <a:tr h="0"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用户分段</a:t>
                      </a:r>
                      <a:endParaRPr lang="zh-CN" altLang="en-US" sz="22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涨价组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1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（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75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折系）</a:t>
                      </a:r>
                      <a:endParaRPr lang="zh-CN" altLang="en-US" sz="22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涨价组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2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（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7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折系）</a:t>
                      </a:r>
                      <a:endParaRPr lang="zh-CN" altLang="en-US" sz="22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400" b="1" i="0">
                          <a:solidFill>
                            <a:schemeClr val="accent2"/>
                          </a:solidFill>
                          <a:latin typeface="Kaiti SC Bold" panose="02010600040101010101" charset="-122"/>
                          <a:ea typeface="Kaiti SC Bold" panose="02010600040101010101" charset="-122"/>
                        </a:rPr>
                        <a:t>下月计划</a:t>
                      </a:r>
                      <a:endParaRPr lang="zh-CN" altLang="en-US" sz="2400" b="1" i="0">
                        <a:solidFill>
                          <a:schemeClr val="accent2"/>
                        </a:solidFill>
                        <a:latin typeface="Kaiti SC Bold" panose="02010600040101010101" charset="-122"/>
                        <a:ea typeface="Kaiti SC Bold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0"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0-15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天</a:t>
                      </a:r>
                      <a:b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endParaRPr lang="en-US" altLang="zh-CN" sz="2200" b="0" i="0">
                        <a:solidFill>
                          <a:srgbClr val="666666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75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折全品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×2</a:t>
                      </a:r>
                      <a:b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-2.38%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-6.00pp</a:t>
                      </a:r>
                      <a:endParaRPr lang="en-US" altLang="zh-CN" sz="2200" b="0" i="0">
                        <a:solidFill>
                          <a:srgbClr val="2E7D32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7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折全品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×2</a:t>
                      </a:r>
                      <a:b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-2.91%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+0.97pp</a:t>
                      </a:r>
                      <a:endParaRPr lang="en-US" altLang="zh-CN" sz="2200" b="0" i="0">
                        <a:solidFill>
                          <a:srgbClr val="D32F2F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定价偏高，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建议新客维持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7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折或更深折扣。更好的承接新客定价的价格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锚点</a:t>
                      </a:r>
                      <a:endParaRPr lang="zh-CN" altLang="en-US" sz="22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16-30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天</a:t>
                      </a:r>
                      <a:b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endParaRPr lang="en-US" altLang="zh-CN" sz="2200" b="0" i="0">
                        <a:solidFill>
                          <a:srgbClr val="666666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b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+5.76%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-0.85pp</a:t>
                      </a:r>
                      <a:endParaRPr lang="en-US" altLang="zh-CN" sz="2200" b="0" i="0">
                        <a:solidFill>
                          <a:srgbClr val="2E7D32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b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+6.05%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+0.91pp</a:t>
                      </a:r>
                      <a:endParaRPr lang="en-US" altLang="zh-CN" sz="2200" b="0" i="0">
                        <a:solidFill>
                          <a:srgbClr val="D32F2F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当前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折合理，可小幅测试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55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折。培养期用户正在形成消费习惯</a:t>
                      </a:r>
                      <a:endParaRPr lang="zh-CN" altLang="en-US" sz="22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31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天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</a:t>
                      </a:r>
                      <a:b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endParaRPr lang="en-US" altLang="zh-CN" sz="2200" b="0" i="0">
                        <a:solidFill>
                          <a:srgbClr val="666666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4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+$2.99+7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(t7)</a:t>
                      </a:r>
                      <a:b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+9.76%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-0.79pp</a:t>
                      </a:r>
                      <a:endParaRPr lang="en-US" altLang="zh-CN" sz="2200" b="0" i="0">
                        <a:solidFill>
                          <a:srgbClr val="2E7D32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4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(t7)+$2.99+6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(t7)</a:t>
                      </a:r>
                      <a:b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+7.93%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-1.14pp</a:t>
                      </a:r>
                      <a:endParaRPr lang="en-US" altLang="zh-CN" sz="2200" b="0" i="0">
                        <a:solidFill>
                          <a:srgbClr val="2E7D32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维持组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1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策略，可探索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45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折替代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4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折，试探更浅折扣天花板</a:t>
                      </a:r>
                      <a:endParaRPr lang="zh-CN" altLang="en-US" sz="22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690"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周六日消费后返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工作日券</a:t>
                      </a:r>
                      <a:endParaRPr lang="zh-CN" altLang="en-US" sz="22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6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b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+9.28%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-0.53pp</a:t>
                      </a:r>
                      <a:endParaRPr lang="en-US" altLang="zh-CN" sz="2200" b="0" i="0">
                        <a:solidFill>
                          <a:srgbClr val="2E7D32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55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b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+7.19%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-1.76pp</a:t>
                      </a:r>
                      <a:endParaRPr lang="en-US" altLang="zh-CN" sz="2200" b="0" i="0">
                        <a:solidFill>
                          <a:srgbClr val="2E7D32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可继续涨价，从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6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折提到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65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折。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该部分用户对折扣不敏感</a:t>
                      </a:r>
                      <a:endParaRPr lang="zh-CN" altLang="en-US" sz="22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来访未购</a:t>
                      </a:r>
                      <a:b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endParaRPr lang="en-US" altLang="zh-CN" sz="2200" b="0" i="0">
                        <a:solidFill>
                          <a:srgbClr val="666666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6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b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+8.31%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-4.42pp</a:t>
                      </a:r>
                      <a:endParaRPr lang="en-US" altLang="zh-CN" sz="2200" b="0" i="0">
                        <a:solidFill>
                          <a:srgbClr val="2E7D32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55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</a:t>
                      </a:r>
                      <a:b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单杯</a:t>
                      </a:r>
                      <a:r>
                        <a:rPr lang="en-US" altLang="zh-CN" sz="22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+8.31%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，转化</a:t>
                      </a:r>
                      <a:r>
                        <a:rPr lang="en-US" altLang="zh-CN" sz="22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-7.35pp</a:t>
                      </a:r>
                      <a:endParaRPr lang="en-US" altLang="zh-CN" sz="2200" b="0" i="0">
                        <a:solidFill>
                          <a:srgbClr val="2E7D32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定价偏高，建议回调到</a:t>
                      </a:r>
                      <a:r>
                        <a:rPr lang="en-US" altLang="zh-CN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5</a:t>
                      </a:r>
                      <a:r>
                        <a:rPr lang="zh-CN" altLang="en-US" sz="22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折或更低。价格敏感型用户需深折扣拉回</a:t>
                      </a:r>
                      <a:endParaRPr lang="zh-CN" altLang="en-US" sz="22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63817" marB="638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320165" y="13266420"/>
            <a:ext cx="17375505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* 3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日复购截至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2026-02-25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7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日复购截至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2026-02-21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。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LTV 7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天截至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2026-02-18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14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天截至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2026-02-25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。转化率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=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下单用户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/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总用户，拉齐</a:t>
            </a:r>
            <a:r>
              <a:rPr lang="en-US" altLang="zh-CN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=</a:t>
            </a:r>
            <a:r>
              <a:rPr lang="zh-CN" altLang="en-US" sz="1800" i="0">
                <a:solidFill>
                  <a:srgbClr val="999999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按对照组人数归一化。</a:t>
            </a:r>
            <a:endParaRPr lang="zh-CN" altLang="en-US" sz="1800" i="0">
              <a:solidFill>
                <a:srgbClr val="999999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4990" y="431803"/>
            <a:ext cx="20866660" cy="1410970"/>
          </a:xfrm>
        </p:spPr>
        <p:txBody>
          <a:bodyPr/>
          <a:p>
            <a:r>
              <a:rPr lang="zh-CN" altLang="en-US"/>
              <a:t>新客价格实验</a:t>
            </a:r>
          </a:p>
        </p:txBody>
      </p:sp>
      <p:sp>
        <p:nvSpPr>
          <p:cNvPr id="24" name="矩形 23"/>
          <p:cNvSpPr/>
          <p:nvPr/>
        </p:nvSpPr>
        <p:spPr>
          <a:xfrm>
            <a:off x="1823720" y="1656715"/>
            <a:ext cx="21043265" cy="3152140"/>
          </a:xfrm>
          <a:prstGeom prst="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71437" tIns="71437" rIns="71437" bIns="71437" numCol="1" spcCol="38100" rtlCol="0" anchor="ctr" forceAA="0">
            <a:noAutofit/>
          </a:bodyPr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12010" y="1889125"/>
            <a:ext cx="20484465" cy="26816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zh-CN" altLang="en-US" sz="30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结论： 新客券包涨价组可全量推广，两组实验转化率持平（</a:t>
            </a:r>
            <a:r>
              <a:rPr lang="en-US" altLang="zh-CN" sz="30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+0.26pp</a:t>
            </a:r>
            <a:r>
              <a:rPr lang="zh-CN" altLang="en-US" sz="30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），收入</a:t>
            </a:r>
            <a:r>
              <a:rPr lang="en-US" altLang="zh-CN" sz="30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+4.5%</a:t>
            </a:r>
            <a:r>
              <a:rPr lang="zh-CN" altLang="en-US" sz="30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，单杯实收</a:t>
            </a:r>
            <a:r>
              <a:rPr lang="en-US" altLang="zh-CN" sz="30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+4.2%</a:t>
            </a:r>
            <a:r>
              <a:rPr lang="zh-CN" altLang="en-US" sz="30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en-US" altLang="zh-CN" sz="3000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LTV +4.3%</a:t>
            </a:r>
            <a:endParaRPr lang="zh-CN" altLang="en-US" sz="3000" i="0">
              <a:solidFill>
                <a:schemeClr val="accent2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0" indent="0" algn="l">
              <a:spcBef>
                <a:spcPct val="0"/>
              </a:spcBef>
              <a:spcAft>
                <a:spcPts val="1200"/>
              </a:spcAft>
            </a:pPr>
            <a:r>
              <a:rPr lang="en-US" altLang="zh-CN" sz="22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1.</a:t>
            </a:r>
            <a:r>
              <a:rPr lang="zh-CN" altLang="en-US" sz="22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转化不受影响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：两组转化率 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86.3% vs 86.5%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（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+0.26pp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），涨价未阻碍新客首购</a:t>
            </a:r>
            <a:endParaRPr lang="zh-CN" altLang="en-US" sz="2200" i="0">
              <a:solidFill>
                <a:srgbClr val="333333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0" algn="l">
              <a:spcBef>
                <a:spcPts val="200"/>
              </a:spcBef>
              <a:spcAft>
                <a:spcPts val="200"/>
              </a:spcAft>
              <a:buFont typeface="Arial" panose="020B0604020202090204"/>
            </a:pPr>
            <a:r>
              <a:rPr lang="en-US" altLang="zh-CN" sz="22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2.</a:t>
            </a:r>
            <a:r>
              <a:rPr lang="zh-CN" altLang="en-US" sz="22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收入全面提升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：总收入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 </a:t>
            </a:r>
            <a:r>
              <a:rPr lang="en-US" altLang="zh-CN" sz="2200" i="0">
                <a:solidFill>
                  <a:srgbClr val="D32F2F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+4.5%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，客单价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 </a:t>
            </a:r>
            <a:r>
              <a:rPr lang="en-US" altLang="zh-CN" sz="2200" i="0">
                <a:solidFill>
                  <a:srgbClr val="D32F2F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+5.7%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，单杯实收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 </a:t>
            </a:r>
            <a:r>
              <a:rPr lang="en-US" altLang="zh-CN" sz="2200" i="0">
                <a:solidFill>
                  <a:srgbClr val="D32F2F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+4.2%</a:t>
            </a:r>
            <a:r>
              <a:rPr lang="zh-CN" altLang="en-US" sz="2200" i="0">
                <a:solidFill>
                  <a:srgbClr val="D32F2F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收入增长主要原因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</a:t>
            </a:r>
            <a:r>
              <a:rPr lang="en-US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①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第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2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单次日券提价（贡献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41%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）</a:t>
            </a:r>
            <a:r>
              <a:rPr lang="en-US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②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第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3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单起高价值用户筛选效应（贡献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59%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）。</a:t>
            </a:r>
            <a:endParaRPr lang="zh-CN" altLang="en-US" sz="2200">
              <a:solidFill>
                <a:srgbClr val="1A1A2E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pPr marL="0" algn="l">
              <a:spcBef>
                <a:spcPts val="200"/>
              </a:spcBef>
              <a:spcAft>
                <a:spcPts val="200"/>
              </a:spcAft>
              <a:buFont typeface="Arial" panose="020B0604020202090204"/>
            </a:pPr>
            <a:r>
              <a:rPr lang="en-US" altLang="zh-CN" sz="22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3.</a:t>
            </a:r>
            <a:r>
              <a:rPr lang="zh-CN" altLang="en-US" sz="22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复购有代价但可控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：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D7 </a:t>
            </a:r>
            <a:r>
              <a:rPr lang="en-US" altLang="zh-CN" sz="2200" i="0">
                <a:solidFill>
                  <a:srgbClr val="2E7D3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-2.16pp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D14 </a:t>
            </a:r>
            <a:r>
              <a:rPr lang="en-US" altLang="zh-CN" sz="2200" i="0">
                <a:solidFill>
                  <a:srgbClr val="2E7D3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-2.97pp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D30 </a:t>
            </a:r>
            <a:r>
              <a:rPr lang="zh-CN" altLang="en-US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收窄至</a:t>
            </a:r>
            <a:r>
              <a:rPr lang="en-US" altLang="zh-CN" sz="2200" i="0">
                <a:solidFill>
                  <a:srgbClr val="333333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 </a:t>
            </a:r>
            <a:r>
              <a:rPr lang="en-US" altLang="zh-CN" sz="2200" i="0">
                <a:solidFill>
                  <a:srgbClr val="2E7D3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-1.27pp</a:t>
            </a:r>
            <a:r>
              <a:rPr lang="zh-CN" altLang="en-US" sz="2200" i="0">
                <a:solidFill>
                  <a:srgbClr val="2E7D3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en-US" altLang="zh-CN" sz="2200" i="0">
                <a:solidFill>
                  <a:schemeClr val="tx1">
                    <a:lumMod val="85000"/>
                    <a:lumOff val="15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LTV30 </a:t>
            </a:r>
            <a:r>
              <a:rPr lang="zh-CN" altLang="en-US" sz="2200" i="0">
                <a:solidFill>
                  <a:schemeClr val="tx1">
                    <a:lumMod val="85000"/>
                    <a:lumOff val="15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涨价组</a:t>
            </a:r>
            <a:r>
              <a:rPr lang="en-US" altLang="zh-CN" sz="2200">
                <a:solidFill>
                  <a:srgbClr val="D32F2F"/>
                </a:solidFill>
                <a:latin typeface="Kaiti SC Regular" panose="02010600040101010101" charset="-122"/>
                <a:ea typeface="Kaiti SC Regular" panose="02010600040101010101" charset="-122"/>
                <a:sym typeface="+mn-ea"/>
              </a:rPr>
              <a:t>+4.2%</a:t>
            </a:r>
            <a:endParaRPr lang="en-US" altLang="zh-CN" sz="2200">
              <a:solidFill>
                <a:srgbClr val="D32F2F"/>
              </a:solidFill>
              <a:latin typeface="Kaiti SC Regular" panose="02010600040101010101" charset="-122"/>
              <a:ea typeface="Kaiti SC Regular" panose="02010600040101010101" charset="-122"/>
              <a:sym typeface="+mn-ea"/>
            </a:endParaRPr>
          </a:p>
          <a:p>
            <a:pPr marL="0" algn="l">
              <a:spcBef>
                <a:spcPts val="200"/>
              </a:spcBef>
              <a:spcAft>
                <a:spcPts val="200"/>
              </a:spcAft>
              <a:buFont typeface="Arial" panose="020B0604020202090204"/>
            </a:pPr>
            <a:r>
              <a:rPr lang="en-US" altLang="zh-CN" sz="2200" i="0">
                <a:solidFill>
                  <a:schemeClr val="tx1">
                    <a:lumMod val="85000"/>
                    <a:lumOff val="15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4.</a:t>
            </a:r>
            <a:r>
              <a:rPr lang="zh-CN" altLang="en-US" sz="2200">
                <a:solidFill>
                  <a:schemeClr val="tx1">
                    <a:lumMod val="85000"/>
                    <a:lumOff val="15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固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定价券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$3.99 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核销率仅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2%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，建议与老客券做好衔接调整，提升使用率。</a:t>
            </a:r>
            <a:endParaRPr lang="en-US" altLang="zh-CN" sz="2200" i="0">
              <a:solidFill>
                <a:srgbClr val="2E7D32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24990" y="1213707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ts val="1000"/>
              </a:spcBef>
              <a:spcAft>
                <a:spcPts val="400"/>
              </a:spcAft>
            </a:pPr>
            <a:r>
              <a:rPr lang="zh-CN" altLang="en-US" sz="3200" b="1" i="0">
                <a:solidFill>
                  <a:srgbClr val="0F3460"/>
                </a:solidFill>
                <a:latin typeface="-apple-system"/>
                <a:ea typeface="-apple-system"/>
              </a:rPr>
              <a:t>下月</a:t>
            </a:r>
            <a:r>
              <a:rPr lang="zh-CN" altLang="en-US" sz="3200" b="1" i="0">
                <a:solidFill>
                  <a:srgbClr val="0F3460"/>
                </a:solidFill>
                <a:latin typeface="-apple-system"/>
                <a:ea typeface="-apple-system"/>
              </a:rPr>
              <a:t>计划</a:t>
            </a:r>
            <a:endParaRPr lang="zh-CN" altLang="en-US" sz="3200" b="1" i="0">
              <a:solidFill>
                <a:srgbClr val="0F3460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967865" y="5573395"/>
          <a:ext cx="14591030" cy="1770380"/>
        </p:xfrm>
        <a:graphic>
          <a:graphicData uri="http://schemas.openxmlformats.org/drawingml/2006/table">
            <a:tbl>
              <a:tblPr/>
              <a:tblGrid>
                <a:gridCol w="2192655"/>
                <a:gridCol w="1742440"/>
                <a:gridCol w="1642110"/>
                <a:gridCol w="1645920"/>
                <a:gridCol w="1825625"/>
                <a:gridCol w="1753870"/>
                <a:gridCol w="1659890"/>
                <a:gridCol w="2128520"/>
              </a:tblGrid>
              <a:tr h="529590">
                <a:tc>
                  <a:txBody>
                    <a:bodyPr/>
                    <a:p>
                      <a:pPr marL="0" indent="0" algn="ctr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组别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转化率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单杯实收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客单价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D7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复购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D14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复购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D30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复购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ct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LTV 30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天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711200"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$3.99 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涨价组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86.54%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(+0.26pp)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$3.00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+4.2%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$4.30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+5.7%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18.67%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-2.16pp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23.96%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-2.97pp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29.44%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2E7D32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-1.27pp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$5.85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+4.2%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9590"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$2.99 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对照组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86.28%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$2.88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$4.07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20.83%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26.93%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30.71%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r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$5.62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标题 1"/>
          <p:cNvSpPr>
            <a:spLocks noGrp="1"/>
          </p:cNvSpPr>
          <p:nvPr/>
        </p:nvSpPr>
        <p:spPr>
          <a:xfrm>
            <a:off x="2039620" y="9305928"/>
            <a:ext cx="20866660" cy="1410970"/>
          </a:xfrm>
          <a:prstGeom prst="rect">
            <a:avLst/>
          </a:prstGeom>
          <a:ln w="12700">
            <a:miter lim="400000"/>
          </a:ln>
        </p:spPr>
        <p:txBody>
          <a:bodyPr vert="horz" lIns="90000" tIns="46800" rIns="90000" bIns="46800" rtlCol="0" anchor="ctr" anchorCtr="0">
            <a:normAutofit/>
          </a:bodyPr>
          <a:lstStyle>
            <a:lvl1pPr marL="0" marR="0" indent="0" algn="l" defTabSz="1828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4800" b="1" i="0" u="none" strike="noStrike" kern="1200" cap="none" spc="600" normalizeH="0" baseline="0" noProof="1" dirty="0">
                <a:solidFill>
                  <a:srgbClr val="212773"/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  <a:lvl2pPr marL="0" marR="0" indent="228600" algn="ctr" defTabSz="8216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8216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8216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8216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8216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8216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8216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82169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967865" y="11550650"/>
            <a:ext cx="15291435" cy="46291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总结：收入增长主要原因</a:t>
            </a:r>
            <a:r>
              <a:rPr lang="en-US" altLang="zh-CN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</a:t>
            </a:r>
            <a:r>
              <a:rPr lang="en-US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①</a:t>
            </a:r>
            <a:r>
              <a:rPr lang="en-US" altLang="zh-CN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</a:t>
            </a:r>
            <a:r>
              <a:rPr lang="zh-CN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第</a:t>
            </a:r>
            <a:r>
              <a:rPr lang="en-US" altLang="zh-CN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</a:t>
            </a:r>
            <a:r>
              <a:rPr lang="zh-CN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单次日券提价（贡献</a:t>
            </a:r>
            <a:r>
              <a:rPr lang="en-US" altLang="zh-CN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41%</a:t>
            </a:r>
            <a:r>
              <a:rPr lang="zh-CN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</a:t>
            </a:r>
            <a:r>
              <a:rPr lang="en-US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②</a:t>
            </a:r>
            <a:r>
              <a:rPr lang="en-US" altLang="zh-CN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</a:t>
            </a:r>
            <a:r>
              <a:rPr lang="zh-CN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第</a:t>
            </a:r>
            <a:r>
              <a:rPr lang="en-US" altLang="zh-CN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3</a:t>
            </a:r>
            <a:r>
              <a:rPr lang="zh-CN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单起高价值用户筛选效应（贡献</a:t>
            </a:r>
            <a:r>
              <a:rPr lang="en-US" altLang="zh-CN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59%</a:t>
            </a:r>
            <a:r>
              <a:rPr lang="zh-CN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）。固定价券</a:t>
            </a:r>
            <a:r>
              <a:rPr lang="en-US" altLang="zh-CN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$3.99 </a:t>
            </a:r>
            <a:r>
              <a:rPr lang="zh-CN" altLang="en-US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核销率仅</a:t>
            </a:r>
            <a:r>
              <a:rPr lang="en-US" altLang="zh-CN" sz="1800" i="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2%</a:t>
            </a:r>
            <a:endParaRPr lang="en-US" altLang="zh-CN" sz="1800" i="0">
              <a:solidFill>
                <a:srgbClr val="1A1A2E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24990" y="774541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ts val="1000"/>
              </a:spcBef>
              <a:spcAft>
                <a:spcPts val="400"/>
              </a:spcAft>
            </a:pPr>
            <a:r>
              <a:rPr lang="zh-CN" altLang="en-US" sz="3200" b="1" i="0">
                <a:solidFill>
                  <a:srgbClr val="0F3460"/>
                </a:solidFill>
                <a:latin typeface="-apple-system"/>
                <a:ea typeface="-apple-system"/>
              </a:rPr>
              <a:t>券包归因</a:t>
            </a:r>
            <a:endParaRPr lang="zh-CN" altLang="en-US" sz="3200" b="1" i="0">
              <a:solidFill>
                <a:srgbClr val="0F3460"/>
              </a:solidFill>
              <a:latin typeface="-apple-system"/>
              <a:ea typeface="-apple-system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67865" y="8442325"/>
            <a:ext cx="1083437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券包 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4 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张券，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2 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张不变（首杯 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$1.99 + 50% off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），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2 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张各涨 </a:t>
            </a:r>
            <a:r>
              <a:rPr lang="en-US" altLang="zh-CN" sz="1600" b="0" i="0">
                <a:solidFill>
                  <a:srgbClr val="555555"/>
                </a:solidFill>
                <a:latin typeface="-apple-system"/>
                <a:ea typeface="-apple-system"/>
              </a:rPr>
              <a:t>$1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。按用户</a:t>
            </a:r>
            <a:r>
              <a:rPr lang="zh-CN" altLang="en-US" sz="1600" b="1" i="0">
                <a:solidFill>
                  <a:srgbClr val="555555"/>
                </a:solidFill>
                <a:latin typeface="-apple-system"/>
                <a:ea typeface="-apple-system"/>
              </a:rPr>
              <a:t>实际下单顺序</a:t>
            </a:r>
            <a:r>
              <a:rPr lang="zh-CN" altLang="en-US" sz="1600" b="0" i="0">
                <a:solidFill>
                  <a:srgbClr val="555555"/>
                </a:solidFill>
                <a:latin typeface="-apple-system"/>
                <a:ea typeface="-apple-system"/>
              </a:rPr>
              <a:t>拆解收入差异：</a:t>
            </a:r>
            <a:endParaRPr lang="zh-CN" altLang="en-US" sz="1600" b="0" i="0">
              <a:solidFill>
                <a:srgbClr val="555555"/>
              </a:solidFill>
              <a:latin typeface="-apple-system"/>
              <a:ea typeface="-apple-system"/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2"/>
            </p:custDataLst>
          </p:nvPr>
        </p:nvGraphicFramePr>
        <p:xfrm>
          <a:off x="1967865" y="8874125"/>
          <a:ext cx="17127220" cy="2540000"/>
        </p:xfrm>
        <a:graphic>
          <a:graphicData uri="http://schemas.openxmlformats.org/drawingml/2006/table">
            <a:tbl>
              <a:tblPr/>
              <a:tblGrid>
                <a:gridCol w="1478280"/>
                <a:gridCol w="2353945"/>
                <a:gridCol w="2134235"/>
                <a:gridCol w="1792605"/>
                <a:gridCol w="9368155"/>
              </a:tblGrid>
              <a:tr h="406400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下单顺序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单杯实收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客单价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总实收增量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归因说明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711200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第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1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$2.67 → $2.66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(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持平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$3.80 → $3.77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(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持平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持平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两组都用 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$1.99 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首杯券，消费行为一致。基本盘相同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1200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第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2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 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$2.88 → $3.34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+16.0%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$3.97 → $4.87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+22.7%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+$860</a:t>
                      </a:r>
                      <a:endParaRPr lang="en-US" altLang="zh-CN" sz="2000" b="0" i="0">
                        <a:solidFill>
                          <a:srgbClr val="D32F2F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涨价组用 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$2.99 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次日券，对照组用 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$1.99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。每杯多收 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$0.46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，收入增量主力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1200"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第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3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单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  <a:cs typeface="Kaiti SC Regular" panose="02010600040101010101" charset="-122"/>
                        </a:rPr>
                        <a:t>+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  <a:cs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$3.45 → $3.68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+6.7%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$4.88 → $5.45</a:t>
                      </a:r>
                      <a:b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</a:b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(</a:t>
                      </a:r>
                      <a:r>
                        <a:rPr lang="en-US" altLang="zh-CN" sz="20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+11.7%</a:t>
                      </a:r>
                      <a:r>
                        <a:rPr lang="en-US" altLang="zh-CN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)</a:t>
                      </a:r>
                      <a:endParaRPr lang="en-US" altLang="zh-CN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en-US" altLang="zh-CN" sz="2000" b="0" i="0">
                          <a:solidFill>
                            <a:srgbClr val="D32F2F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+$1,330</a:t>
                      </a:r>
                      <a:endParaRPr lang="en-US" altLang="zh-CN" sz="2000" b="0" i="0">
                        <a:solidFill>
                          <a:srgbClr val="D32F2F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/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券已用完，差异来自</a:t>
                      </a:r>
                      <a:r>
                        <a:rPr lang="zh-CN" altLang="en-US" sz="2000" b="0" i="0">
                          <a:solidFill>
                            <a:srgbClr val="333333"/>
                          </a:solidFill>
                          <a:latin typeface="Kaiti SC Regular" panose="02010600040101010101" charset="-122"/>
                          <a:ea typeface="Kaiti SC Regular" panose="02010600040101010101" charset="-122"/>
                        </a:rPr>
                        <a:t>用户筛选效应：高价门槛过滤后留下的用户付费意愿更强</a:t>
                      </a:r>
                      <a:endParaRPr lang="zh-CN" altLang="en-US" sz="2000" b="0" i="0">
                        <a:solidFill>
                          <a:srgbClr val="333333"/>
                        </a:solidFill>
                        <a:latin typeface="Kaiti SC Regular" panose="02010600040101010101" charset="-122"/>
                        <a:ea typeface="Kaiti SC Regular" panose="02010600040101010101" charset="-122"/>
                      </a:endParaRPr>
                    </a:p>
                  </a:txBody>
                  <a:tcPr marL="101917" marR="101917" marT="51117" marB="51117" anchor="ctr" anchorCtr="0">
                    <a:lnL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DDDDD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824990" y="497173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ts val="1000"/>
              </a:spcBef>
              <a:spcAft>
                <a:spcPts val="400"/>
              </a:spcAft>
            </a:pPr>
            <a:r>
              <a:rPr lang="zh-CN" altLang="en-US" sz="3200" b="1" i="0">
                <a:solidFill>
                  <a:srgbClr val="0F3460"/>
                </a:solidFill>
                <a:latin typeface="-apple-system"/>
                <a:ea typeface="-apple-system"/>
              </a:rPr>
              <a:t>核心指标对比</a:t>
            </a:r>
            <a:endParaRPr lang="zh-CN" altLang="en-US" sz="3200" b="1" i="0">
              <a:solidFill>
                <a:srgbClr val="0F3460"/>
              </a:solidFill>
              <a:latin typeface="-apple-system"/>
              <a:ea typeface="-apple-system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896110" y="12847320"/>
            <a:ext cx="12613640" cy="42989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spcBef>
                <a:spcPts val="200"/>
              </a:spcBef>
              <a:spcAft>
                <a:spcPts val="200"/>
              </a:spcAft>
              <a:buFont typeface="Arial" panose="020B0604020202090204"/>
            </a:pPr>
            <a:r>
              <a:rPr lang="zh-CN" altLang="en-US" sz="2200">
                <a:solidFill>
                  <a:schemeClr val="tx1">
                    <a:lumMod val="85000"/>
                    <a:lumOff val="15000"/>
                  </a:schemeClr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固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定价券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$3.99 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核销率仅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 2%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，计划与老客涨价实验做好衔接，调整</a:t>
            </a:r>
            <a:r>
              <a:rPr lang="en-US" altLang="zh-CN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3.99</a:t>
            </a:r>
            <a:r>
              <a:rPr lang="zh-CN" altLang="en-US" sz="2200">
                <a:solidFill>
                  <a:srgbClr val="1A1A2E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券，提升使用率。</a:t>
            </a:r>
            <a:endParaRPr lang="en-US" altLang="zh-CN" sz="2200" i="0">
              <a:solidFill>
                <a:srgbClr val="2E7D32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分享</a:t>
            </a:r>
            <a:r>
              <a:rPr lang="zh-CN" altLang="en-US"/>
              <a:t>有礼</a:t>
            </a: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031875" y="1918335"/>
            <a:ext cx="20276185" cy="1910715"/>
          </a:xfrm>
          <a:prstGeom prst="rect">
            <a:avLst/>
          </a:prstGeom>
          <a:solidFill>
            <a:schemeClr val="bg2"/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vertOverflow="overflow" horzOverflow="overflow" vert="horz" wrap="square" lIns="71437" tIns="71437" rIns="71437" bIns="71437" numCol="1" spcCol="38100" rtlCol="0" anchor="ctr" forceAA="0">
            <a:noAutofit/>
          </a:bodyPr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chemeClr val="accent1">
                  <a:lumMod val="20000"/>
                  <a:lumOff val="80000"/>
                </a:schemeClr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47140" y="2178050"/>
            <a:ext cx="1741614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25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结论：</a:t>
            </a:r>
            <a:r>
              <a:rPr lang="en-US" altLang="zh-CN" sz="25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</a:t>
            </a:r>
            <a:r>
              <a:rPr lang="zh-CN" altLang="en-US" sz="25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月拉新</a:t>
            </a:r>
            <a:r>
              <a:rPr lang="en-US" altLang="zh-CN" sz="25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 </a:t>
            </a:r>
            <a:r>
              <a:rPr lang="en-US" altLang="zh-CN" sz="3200" b="1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1,356</a:t>
            </a:r>
            <a:r>
              <a:rPr lang="en-US" altLang="zh-CN" sz="25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 </a:t>
            </a:r>
            <a:r>
              <a:rPr lang="zh-CN" altLang="en-US" sz="25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注册、</a:t>
            </a:r>
            <a:r>
              <a:rPr lang="en-US" altLang="zh-CN" sz="3200" b="1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837</a:t>
            </a:r>
            <a:r>
              <a:rPr lang="en-US" altLang="zh-CN" sz="3200" b="1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 </a:t>
            </a:r>
            <a:r>
              <a:rPr lang="zh-CN" altLang="en-US" sz="25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下单，占大盘新客</a:t>
            </a:r>
            <a:r>
              <a:rPr lang="en-US" altLang="zh-CN" sz="25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 </a:t>
            </a:r>
            <a:r>
              <a:rPr lang="en-US" altLang="zh-CN" sz="3200" b="1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5.9%</a:t>
            </a:r>
            <a:r>
              <a:rPr lang="zh-CN" altLang="en-US" sz="3200" b="1" i="0">
                <a:solidFill>
                  <a:schemeClr val="accent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漏斗后端健康（注册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→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下单 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61%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），但前端资源位 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CTR 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仅 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3.3%</a:t>
            </a:r>
            <a:endParaRPr lang="en-US" altLang="zh-CN" sz="2000">
              <a:solidFill>
                <a:schemeClr val="tx1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1.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获客贡献：分享有礼当日下单新客占大盘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5.9%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（排除数据异常日），日均拉新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~33 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人下单</a:t>
            </a:r>
            <a:endParaRPr lang="zh-CN" altLang="en-US" sz="2000">
              <a:solidFill>
                <a:schemeClr val="tx1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2.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漏斗瓶颈：资源位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CTR 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仅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3.3%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，其中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Icon 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金刚位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CTR 1.7% 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是最大流量入口但效率最低；弹窗</a:t>
            </a:r>
            <a:r>
              <a:rPr lang="en-US" altLang="zh-CN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CTR 7.0% 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，资源转化效率</a:t>
            </a:r>
            <a:r>
              <a:rPr lang="zh-CN" altLang="en-US" sz="20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较高</a:t>
            </a:r>
            <a:endParaRPr lang="zh-CN" altLang="en-US" sz="2000" b="0" i="0">
              <a:solidFill>
                <a:schemeClr val="tx1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7869"/>
          <a:stretch>
            <a:fillRect/>
          </a:stretch>
        </p:blipFill>
        <p:spPr>
          <a:xfrm>
            <a:off x="1103630" y="5491480"/>
            <a:ext cx="9515475" cy="50558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176020" y="455390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ts val="1000"/>
              </a:spcBef>
              <a:spcAft>
                <a:spcPts val="400"/>
              </a:spcAft>
            </a:pPr>
            <a:r>
              <a:rPr lang="zh-CN" altLang="en-US" sz="3200" b="1" i="0">
                <a:solidFill>
                  <a:srgbClr val="0F3460"/>
                </a:solidFill>
                <a:latin typeface="-apple-system"/>
                <a:ea typeface="-apple-system"/>
              </a:rPr>
              <a:t>整体链路漏斗</a:t>
            </a:r>
            <a:r>
              <a:rPr lang="zh-CN" altLang="en-US" sz="3200" b="1" i="0">
                <a:solidFill>
                  <a:srgbClr val="0F3460"/>
                </a:solidFill>
                <a:latin typeface="-apple-system"/>
                <a:ea typeface="-apple-system"/>
              </a:rPr>
              <a:t>转化</a:t>
            </a:r>
            <a:endParaRPr lang="zh-CN" altLang="en-US" sz="3200" b="1" i="0">
              <a:solidFill>
                <a:srgbClr val="0F3460"/>
              </a:solidFill>
              <a:latin typeface="-apple-system"/>
              <a:ea typeface="-apple-system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399520" y="4985703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ts val="1000"/>
              </a:spcBef>
              <a:spcAft>
                <a:spcPts val="400"/>
              </a:spcAft>
            </a:pPr>
            <a:r>
              <a:rPr lang="zh-CN" altLang="en-US" sz="3200" b="1" i="0">
                <a:solidFill>
                  <a:srgbClr val="0F3460"/>
                </a:solidFill>
                <a:latin typeface="-apple-system"/>
                <a:ea typeface="-apple-system"/>
              </a:rPr>
              <a:t>下月</a:t>
            </a:r>
            <a:r>
              <a:rPr lang="zh-CN" altLang="en-US" sz="3200" b="1" i="0">
                <a:solidFill>
                  <a:srgbClr val="0F3460"/>
                </a:solidFill>
                <a:latin typeface="-apple-system"/>
                <a:ea typeface="-apple-system"/>
              </a:rPr>
              <a:t>计划</a:t>
            </a:r>
            <a:endParaRPr lang="zh-CN" altLang="en-US" sz="3200" b="1" i="0">
              <a:solidFill>
                <a:srgbClr val="0F3460"/>
              </a:solidFill>
              <a:latin typeface="-apple-system"/>
              <a:ea typeface="-apple-system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99520" y="5635625"/>
            <a:ext cx="6631305" cy="2245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1.</a:t>
            </a:r>
            <a:r>
              <a:rPr lang="zh-CN" altLang="en-US" sz="28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更换整体视觉及利益点升级，针对重点资源进行效率优化，包括金刚位及弹窗资源的调整。</a:t>
            </a:r>
            <a:endParaRPr lang="zh-CN" altLang="en-US" sz="2800">
              <a:solidFill>
                <a:schemeClr val="tx1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sz="28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2. </a:t>
            </a:r>
            <a:r>
              <a:rPr lang="zh-CN" altLang="en-US" sz="28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持续推进分享有礼实物奖励资源，确认</a:t>
            </a:r>
            <a:r>
              <a:rPr lang="zh-CN" altLang="en-US" sz="28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需求上线</a:t>
            </a:r>
            <a:r>
              <a:rPr lang="zh-CN" altLang="en-US" sz="2800">
                <a:solidFill>
                  <a:schemeClr val="tx1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时间</a:t>
            </a:r>
            <a:endParaRPr lang="zh-CN" altLang="en-US" sz="2800">
              <a:solidFill>
                <a:schemeClr val="tx1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TABLE_ENDDRAG_ORIGIN_RECT" val="1596*182"/>
  <p:tag name="TABLE_ENDDRAG_RECT" val="30*362*1596*182"/>
</p:tagLst>
</file>

<file path=ppt/tags/tag12.xml><?xml version="1.0" encoding="utf-8"?>
<p:tagLst xmlns:p="http://schemas.openxmlformats.org/presentationml/2006/main">
  <p:tag name="TABLE_ENDDRAG_ORIGIN_RECT" val="1148*130"/>
  <p:tag name="TABLE_ENDDRAG_RECT" val="154*426*1148*130"/>
</p:tagLst>
</file>

<file path=ppt/tags/tag13.xml><?xml version="1.0" encoding="utf-8"?>
<p:tagLst xmlns:p="http://schemas.openxmlformats.org/presentationml/2006/main">
  <p:tag name="TABLE_ENDDRAG_ORIGIN_RECT" val="1348*177"/>
  <p:tag name="TABLE_ENDDRAG_RECT" val="154*630*1348*17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font">
      <a:majorFont>
        <a:latin typeface="Helvetica Light"/>
        <a:ea typeface="Helvetica Light"/>
        <a:cs typeface=""/>
      </a:majorFont>
      <a:minorFont>
        <a:latin typeface="Helvetica Light"/>
        <a:ea typeface="Helvetica Light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solidFill>
          <a:srgbClr val="0065C4"/>
        </a:solidFill>
        <a:ln w="12700" cap="flat">
          <a:solidFill>
            <a:srgbClr val="C00000"/>
          </a:solidFill>
          <a:miter lim="400000"/>
        </a:ln>
      </a:spPr>
      <a:bodyPr wrap="square">
        <a:spAutoFit/>
      </a:bodyPr>
      <a:lstStyle>
        <a:defPPr algn="l">
          <a:lnSpc>
            <a:spcPct val="150000"/>
          </a:lnSpc>
          <a:defRPr sz="32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  <a:sym typeface="Source Han Sans CN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2560</Words>
  <Application>WPS 表格</Application>
  <PresentationFormat>自定义</PresentationFormat>
  <Paragraphs>237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</vt:i4>
      </vt:variant>
    </vt:vector>
  </HeadingPairs>
  <TitlesOfParts>
    <vt:vector size="41" baseType="lpstr">
      <vt:lpstr>Arial</vt:lpstr>
      <vt:lpstr>宋体</vt:lpstr>
      <vt:lpstr>Wingdings</vt:lpstr>
      <vt:lpstr>Helvetica Light</vt:lpstr>
      <vt:lpstr>微软雅黑</vt:lpstr>
      <vt:lpstr>汉仪旗黑</vt:lpstr>
      <vt:lpstr>Wingdings</vt:lpstr>
      <vt:lpstr>等线</vt:lpstr>
      <vt:lpstr>Source Han Sans CN Medium</vt:lpstr>
      <vt:lpstr>Thonburi</vt:lpstr>
      <vt:lpstr>Helvetica Neue</vt:lpstr>
      <vt:lpstr>Source Han Sans CN Regular</vt:lpstr>
      <vt:lpstr>微软雅黑</vt:lpstr>
      <vt:lpstr>Times New Roman</vt:lpstr>
      <vt:lpstr>Arial</vt:lpstr>
      <vt:lpstr>汉仪中等线KW</vt:lpstr>
      <vt:lpstr>宋体</vt:lpstr>
      <vt:lpstr>Arial Unicode MS</vt:lpstr>
      <vt:lpstr>汉仪书宋二KW</vt:lpstr>
      <vt:lpstr>Calibri</vt:lpstr>
      <vt:lpstr>Helvetica Neue</vt:lpstr>
      <vt:lpstr>Helvetica Light</vt:lpstr>
      <vt:lpstr>Source Han Sans CN Medium</vt:lpstr>
      <vt:lpstr>Source Han Sans CN Regular</vt:lpstr>
      <vt:lpstr>微软雅黑</vt:lpstr>
      <vt:lpstr>等线</vt:lpstr>
      <vt:lpstr>苹方-简</vt:lpstr>
      <vt:lpstr>-apple-system</vt:lpstr>
      <vt:lpstr>-apple-system</vt:lpstr>
      <vt:lpstr>Kaiti TC Regular</vt:lpstr>
      <vt:lpstr>Kaiti SC Regular</vt:lpstr>
      <vt:lpstr>Kaiti SC Bold</vt:lpstr>
      <vt:lpstr>Apple Color Emoji</vt:lpstr>
      <vt:lpstr>Kaiti SC</vt:lpstr>
      <vt:lpstr>White</vt:lpstr>
      <vt:lpstr>1_自定义设计方案</vt:lpstr>
      <vt:lpstr>6_White</vt:lpstr>
      <vt:lpstr>PowerPoint 演示文稿</vt:lpstr>
      <vt:lpstr>个人基础信息——姓名</vt:lpstr>
      <vt:lpstr>新客价格实验</vt:lpstr>
      <vt:lpstr>新客策略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石友文</dc:creator>
  <cp:lastModifiedBy>xiaoxiao</cp:lastModifiedBy>
  <cp:revision>276</cp:revision>
  <dcterms:created xsi:type="dcterms:W3CDTF">2026-03-02T11:28:10Z</dcterms:created>
  <dcterms:modified xsi:type="dcterms:W3CDTF">2026-03-02T11:28:10Z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401AA92C71949A3D4A74A5692A777910_43</vt:lpwstr>
  </property>
</Properties>
</file>