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8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9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notesSlides/notesSlide20.xml" ContentType="application/vnd.openxmlformats-officedocument.presentationml.notesSlid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notesSlides/notesSlide21.xml" ContentType="application/vnd.openxmlformats-officedocument.presentationml.notesSlid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  <p:sldMasterId id="2147483660" r:id="rId2"/>
    <p:sldMasterId id="2147483672" r:id="rId3"/>
  </p:sldMasterIdLst>
  <p:notesMasterIdLst>
    <p:notesMasterId r:id="rId27"/>
  </p:notesMasterIdLst>
  <p:sldIdLst>
    <p:sldId id="5498" r:id="rId4"/>
    <p:sldId id="5556" r:id="rId5"/>
    <p:sldId id="5551" r:id="rId6"/>
    <p:sldId id="5539" r:id="rId7"/>
    <p:sldId id="5552" r:id="rId8"/>
    <p:sldId id="5553" r:id="rId9"/>
    <p:sldId id="5546" r:id="rId10"/>
    <p:sldId id="5547" r:id="rId11"/>
    <p:sldId id="5555" r:id="rId12"/>
    <p:sldId id="5549" r:id="rId13"/>
    <p:sldId id="5535" r:id="rId14"/>
    <p:sldId id="5557" r:id="rId15"/>
    <p:sldId id="5558" r:id="rId16"/>
    <p:sldId id="5559" r:id="rId17"/>
    <p:sldId id="5560" r:id="rId18"/>
    <p:sldId id="5531" r:id="rId19"/>
    <p:sldId id="5534" r:id="rId20"/>
    <p:sldId id="5524" r:id="rId21"/>
    <p:sldId id="5561" r:id="rId22"/>
    <p:sldId id="5562" r:id="rId23"/>
    <p:sldId id="5563" r:id="rId24"/>
    <p:sldId id="5564" r:id="rId25"/>
    <p:sldId id="5456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FD095DA-7B6F-4843-B70A-E73849268BDF}">
          <p14:sldIdLst>
            <p14:sldId id="5498"/>
            <p14:sldId id="5556"/>
            <p14:sldId id="5551"/>
            <p14:sldId id="5539"/>
            <p14:sldId id="5552"/>
            <p14:sldId id="5553"/>
            <p14:sldId id="5546"/>
            <p14:sldId id="5547"/>
            <p14:sldId id="5555"/>
            <p14:sldId id="5549"/>
            <p14:sldId id="5535"/>
            <p14:sldId id="5557"/>
            <p14:sldId id="5558"/>
            <p14:sldId id="5559"/>
            <p14:sldId id="5560"/>
            <p14:sldId id="5531"/>
            <p14:sldId id="5534"/>
            <p14:sldId id="5524"/>
            <p14:sldId id="5561"/>
            <p14:sldId id="5562"/>
            <p14:sldId id="5563"/>
            <p14:sldId id="5564"/>
            <p14:sldId id="54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FCC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A181C7-9D34-CD42-A6B5-EE7BDC29F933}" v="4" dt="2025-09-26T06:12:12.3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4700"/>
  </p:normalViewPr>
  <p:slideViewPr>
    <p:cSldViewPr snapToGrid="0">
      <p:cViewPr varScale="1">
        <p:scale>
          <a:sx n="118" d="100"/>
          <a:sy n="118" d="100"/>
        </p:scale>
        <p:origin x="5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ooo Wo" userId="a698772e9e0c6410" providerId="LiveId" clId="{F37039CD-6F04-B64A-9987-A3DCA4D0472C}"/>
    <pc:docChg chg="undo custSel addSld delSld modSld sldOrd modSection">
      <pc:chgData name="oooo Wo" userId="a698772e9e0c6410" providerId="LiveId" clId="{F37039CD-6F04-B64A-9987-A3DCA4D0472C}" dt="2024-11-06T02:28:53.215" v="7023" actId="14100"/>
      <pc:docMkLst>
        <pc:docMk/>
      </pc:docMkLst>
      <pc:sldChg chg="modSp mod">
        <pc:chgData name="oooo Wo" userId="a698772e9e0c6410" providerId="LiveId" clId="{F37039CD-6F04-B64A-9987-A3DCA4D0472C}" dt="2024-11-04T13:11:57.304" v="3798" actId="20577"/>
        <pc:sldMkLst>
          <pc:docMk/>
          <pc:sldMk cId="3221808225" sldId="5498"/>
        </pc:sldMkLst>
      </pc:sldChg>
      <pc:sldChg chg="addSp delSp modSp mod">
        <pc:chgData name="oooo Wo" userId="a698772e9e0c6410" providerId="LiveId" clId="{F37039CD-6F04-B64A-9987-A3DCA4D0472C}" dt="2024-11-04T10:10:13.426" v="1945" actId="20577"/>
        <pc:sldMkLst>
          <pc:docMk/>
          <pc:sldMk cId="1621708696" sldId="5522"/>
        </pc:sldMkLst>
      </pc:sldChg>
      <pc:sldChg chg="addSp delSp modSp mod">
        <pc:chgData name="oooo Wo" userId="a698772e9e0c6410" providerId="LiveId" clId="{F37039CD-6F04-B64A-9987-A3DCA4D0472C}" dt="2024-11-04T09:39:41.724" v="1254" actId="20577"/>
        <pc:sldMkLst>
          <pc:docMk/>
          <pc:sldMk cId="2842692764" sldId="5523"/>
        </pc:sldMkLst>
      </pc:sldChg>
      <pc:sldChg chg="addSp delSp modSp mod">
        <pc:chgData name="oooo Wo" userId="a698772e9e0c6410" providerId="LiveId" clId="{F37039CD-6F04-B64A-9987-A3DCA4D0472C}" dt="2024-11-04T10:17:57.248" v="2092" actId="20577"/>
        <pc:sldMkLst>
          <pc:docMk/>
          <pc:sldMk cId="2333247695" sldId="5524"/>
        </pc:sldMkLst>
      </pc:sldChg>
      <pc:sldChg chg="addSp delSp modSp mod">
        <pc:chgData name="oooo Wo" userId="a698772e9e0c6410" providerId="LiveId" clId="{F37039CD-6F04-B64A-9987-A3DCA4D0472C}" dt="2024-11-04T10:31:34.842" v="2300" actId="20577"/>
        <pc:sldMkLst>
          <pc:docMk/>
          <pc:sldMk cId="2682108185" sldId="5525"/>
        </pc:sldMkLst>
      </pc:sldChg>
      <pc:sldChg chg="addSp delSp modSp mod">
        <pc:chgData name="oooo Wo" userId="a698772e9e0c6410" providerId="LiveId" clId="{F37039CD-6F04-B64A-9987-A3DCA4D0472C}" dt="2024-11-04T10:29:57.786" v="2279" actId="20577"/>
        <pc:sldMkLst>
          <pc:docMk/>
          <pc:sldMk cId="3280692843" sldId="5526"/>
        </pc:sldMkLst>
      </pc:sldChg>
      <pc:sldChg chg="addSp delSp modSp mod">
        <pc:chgData name="oooo Wo" userId="a698772e9e0c6410" providerId="LiveId" clId="{F37039CD-6F04-B64A-9987-A3DCA4D0472C}" dt="2024-11-05T06:38:05.746" v="4718" actId="1076"/>
        <pc:sldMkLst>
          <pc:docMk/>
          <pc:sldMk cId="413569288" sldId="5528"/>
        </pc:sldMkLst>
      </pc:sldChg>
      <pc:sldChg chg="modSp mod">
        <pc:chgData name="oooo Wo" userId="a698772e9e0c6410" providerId="LiveId" clId="{F37039CD-6F04-B64A-9987-A3DCA4D0472C}" dt="2024-11-04T13:11:37.794" v="3792" actId="20577"/>
        <pc:sldMkLst>
          <pc:docMk/>
          <pc:sldMk cId="490013059" sldId="5529"/>
        </pc:sldMkLst>
      </pc:sldChg>
      <pc:sldChg chg="addSp delSp modSp mod">
        <pc:chgData name="oooo Wo" userId="a698772e9e0c6410" providerId="LiveId" clId="{F37039CD-6F04-B64A-9987-A3DCA4D0472C}" dt="2024-11-04T09:52:02.223" v="1286" actId="14100"/>
        <pc:sldMkLst>
          <pc:docMk/>
          <pc:sldMk cId="538251538" sldId="5531"/>
        </pc:sldMkLst>
      </pc:sldChg>
      <pc:sldChg chg="addSp delSp modSp mod">
        <pc:chgData name="oooo Wo" userId="a698772e9e0c6410" providerId="LiveId" clId="{F37039CD-6F04-B64A-9987-A3DCA4D0472C}" dt="2024-11-04T10:12:48.114" v="2026" actId="1076"/>
        <pc:sldMkLst>
          <pc:docMk/>
          <pc:sldMk cId="413109615" sldId="5532"/>
        </pc:sldMkLst>
      </pc:sldChg>
      <pc:sldChg chg="addSp delSp modSp mod">
        <pc:chgData name="oooo Wo" userId="a698772e9e0c6410" providerId="LiveId" clId="{F37039CD-6F04-B64A-9987-A3DCA4D0472C}" dt="2024-11-04T10:19:47.102" v="2151" actId="20577"/>
        <pc:sldMkLst>
          <pc:docMk/>
          <pc:sldMk cId="2464297318" sldId="5533"/>
        </pc:sldMkLst>
      </pc:sldChg>
      <pc:sldChg chg="addSp delSp modSp mod">
        <pc:chgData name="oooo Wo" userId="a698772e9e0c6410" providerId="LiveId" clId="{F37039CD-6F04-B64A-9987-A3DCA4D0472C}" dt="2024-11-05T11:17:34.897" v="5824" actId="1076"/>
        <pc:sldMkLst>
          <pc:docMk/>
          <pc:sldMk cId="141620080" sldId="5534"/>
        </pc:sldMkLst>
      </pc:sldChg>
      <pc:sldChg chg="addSp delSp modSp add mod">
        <pc:chgData name="oooo Wo" userId="a698772e9e0c6410" providerId="LiveId" clId="{F37039CD-6F04-B64A-9987-A3DCA4D0472C}" dt="2024-11-05T06:41:35.912" v="4816" actId="20577"/>
        <pc:sldMkLst>
          <pc:docMk/>
          <pc:sldMk cId="4282607916" sldId="5535"/>
        </pc:sldMkLst>
      </pc:sldChg>
      <pc:sldChg chg="addSp delSp modSp add mod">
        <pc:chgData name="oooo Wo" userId="a698772e9e0c6410" providerId="LiveId" clId="{F37039CD-6F04-B64A-9987-A3DCA4D0472C}" dt="2024-11-05T06:40:38.455" v="4730" actId="20577"/>
        <pc:sldMkLst>
          <pc:docMk/>
          <pc:sldMk cId="93684507" sldId="5536"/>
        </pc:sldMkLst>
      </pc:sldChg>
      <pc:sldChg chg="addSp delSp modSp add mod">
        <pc:chgData name="oooo Wo" userId="a698772e9e0c6410" providerId="LiveId" clId="{F37039CD-6F04-B64A-9987-A3DCA4D0472C}" dt="2024-11-05T06:42:22.057" v="4817" actId="1076"/>
        <pc:sldMkLst>
          <pc:docMk/>
          <pc:sldMk cId="1632595263" sldId="5537"/>
        </pc:sldMkLst>
      </pc:sldChg>
      <pc:sldChg chg="addSp delSp modSp add mod ord">
        <pc:chgData name="oooo Wo" userId="a698772e9e0c6410" providerId="LiveId" clId="{F37039CD-6F04-B64A-9987-A3DCA4D0472C}" dt="2024-11-05T09:53:11.789" v="5380" actId="20577"/>
        <pc:sldMkLst>
          <pc:docMk/>
          <pc:sldMk cId="3655499029" sldId="5538"/>
        </pc:sldMkLst>
      </pc:sldChg>
      <pc:sldChg chg="modSp add mod">
        <pc:chgData name="oooo Wo" userId="a698772e9e0c6410" providerId="LiveId" clId="{F37039CD-6F04-B64A-9987-A3DCA4D0472C}" dt="2024-11-05T10:40:34.521" v="5820" actId="1036"/>
        <pc:sldMkLst>
          <pc:docMk/>
          <pc:sldMk cId="2952590792" sldId="5539"/>
        </pc:sldMkLst>
      </pc:sldChg>
      <pc:sldChg chg="addSp delSp modSp add mod">
        <pc:chgData name="oooo Wo" userId="a698772e9e0c6410" providerId="LiveId" clId="{F37039CD-6F04-B64A-9987-A3DCA4D0472C}" dt="2024-11-05T12:03:56.508" v="6778" actId="20577"/>
        <pc:sldMkLst>
          <pc:docMk/>
          <pc:sldMk cId="274850108" sldId="5540"/>
        </pc:sldMkLst>
      </pc:sldChg>
      <pc:sldChg chg="addSp delSp modSp add mod ord">
        <pc:chgData name="oooo Wo" userId="a698772e9e0c6410" providerId="LiveId" clId="{F37039CD-6F04-B64A-9987-A3DCA4D0472C}" dt="2024-11-06T02:28:53.215" v="7023" actId="14100"/>
        <pc:sldMkLst>
          <pc:docMk/>
          <pc:sldMk cId="347681938" sldId="5541"/>
        </pc:sldMkLst>
      </pc:sldChg>
      <pc:sldChg chg="addSp delSp modSp new mod">
        <pc:chgData name="oooo Wo" userId="a698772e9e0c6410" providerId="LiveId" clId="{F37039CD-6F04-B64A-9987-A3DCA4D0472C}" dt="2024-11-06T02:09:47.543" v="7020" actId="20577"/>
        <pc:sldMkLst>
          <pc:docMk/>
          <pc:sldMk cId="1679705282" sldId="5542"/>
        </pc:sldMkLst>
      </pc:sldChg>
      <pc:sldChg chg="new del">
        <pc:chgData name="oooo Wo" userId="a698772e9e0c6410" providerId="LiveId" clId="{F37039CD-6F04-B64A-9987-A3DCA4D0472C}" dt="2024-11-06T02:02:07.576" v="7008" actId="2696"/>
        <pc:sldMkLst>
          <pc:docMk/>
          <pc:sldMk cId="1001869767" sldId="5543"/>
        </pc:sldMkLst>
      </pc:sldChg>
      <pc:sldChg chg="add ord">
        <pc:chgData name="oooo Wo" userId="a698772e9e0c6410" providerId="LiveId" clId="{F37039CD-6F04-B64A-9987-A3DCA4D0472C}" dt="2024-11-06T02:03:24.501" v="7010" actId="20578"/>
        <pc:sldMkLst>
          <pc:docMk/>
          <pc:sldMk cId="3520610374" sldId="5544"/>
        </pc:sldMkLst>
      </pc:sldChg>
    </pc:docChg>
  </pc:docChgLst>
  <pc:docChgLst>
    <pc:chgData name="oooo Wo" userId="a698772e9e0c6410" providerId="LiveId" clId="{C7E25591-4F37-0749-9AD6-781EC4821965}"/>
    <pc:docChg chg="undo custSel addSld modSld modSection">
      <pc:chgData name="oooo Wo" userId="a698772e9e0c6410" providerId="LiveId" clId="{C7E25591-4F37-0749-9AD6-781EC4821965}" dt="2024-08-05T05:49:13.857" v="163" actId="478"/>
      <pc:docMkLst>
        <pc:docMk/>
      </pc:docMkLst>
      <pc:sldChg chg="addSp delSp mod">
        <pc:chgData name="oooo Wo" userId="a698772e9e0c6410" providerId="LiveId" clId="{C7E25591-4F37-0749-9AD6-781EC4821965}" dt="2024-08-02T02:15:03.525" v="1" actId="478"/>
        <pc:sldMkLst>
          <pc:docMk/>
          <pc:sldMk cId="3173786288" sldId="5527"/>
        </pc:sldMkLst>
      </pc:sldChg>
      <pc:sldChg chg="delSp modSp mod">
        <pc:chgData name="oooo Wo" userId="a698772e9e0c6410" providerId="LiveId" clId="{C7E25591-4F37-0749-9AD6-781EC4821965}" dt="2024-08-05T05:49:13.857" v="163" actId="478"/>
        <pc:sldMkLst>
          <pc:docMk/>
          <pc:sldMk cId="413569288" sldId="5528"/>
        </pc:sldMkLst>
      </pc:sldChg>
      <pc:sldChg chg="modSp add mod">
        <pc:chgData name="oooo Wo" userId="a698772e9e0c6410" providerId="LiveId" clId="{C7E25591-4F37-0749-9AD6-781EC4821965}" dt="2024-08-05T05:25:03.771" v="43" actId="20577"/>
        <pc:sldMkLst>
          <pc:docMk/>
          <pc:sldMk cId="538251538" sldId="5531"/>
        </pc:sldMkLst>
      </pc:sldChg>
    </pc:docChg>
  </pc:docChgLst>
  <pc:docChgLst>
    <pc:chgData name="金先 吴jinxian" userId="a698772e9e0c6410" providerId="LiveId" clId="{59E2E292-C354-3F4B-A08C-E9257A8B9423}"/>
    <pc:docChg chg="modSld">
      <pc:chgData name="金先 吴jinxian" userId="a698772e9e0c6410" providerId="LiveId" clId="{59E2E292-C354-3F4B-A08C-E9257A8B9423}" dt="2025-08-14T07:46:59.907" v="2" actId="1076"/>
      <pc:docMkLst>
        <pc:docMk/>
      </pc:docMkLst>
      <pc:sldChg chg="modSp mod">
        <pc:chgData name="金先 吴jinxian" userId="a698772e9e0c6410" providerId="LiveId" clId="{59E2E292-C354-3F4B-A08C-E9257A8B9423}" dt="2025-08-14T07:46:59.907" v="2" actId="1076"/>
        <pc:sldMkLst>
          <pc:docMk/>
          <pc:sldMk cId="538251538" sldId="5531"/>
        </pc:sldMkLst>
      </pc:sldChg>
    </pc:docChg>
  </pc:docChgLst>
  <pc:docChgLst>
    <pc:chgData name="金先 吴jinxian" userId="a698772e9e0c6410" providerId="LiveId" clId="{424E6DED-FB5A-5628-A323-87694AA007B2}"/>
    <pc:docChg chg="modSld">
      <pc:chgData name="金先 吴jinxian" userId="a698772e9e0c6410" providerId="LiveId" clId="{424E6DED-FB5A-5628-A323-87694AA007B2}" dt="2025-09-26T05:44:01.009" v="2"/>
      <pc:docMkLst>
        <pc:docMk/>
      </pc:docMkLst>
      <pc:sldChg chg="modSp">
        <pc:chgData name="金先 吴jinxian" userId="a698772e9e0c6410" providerId="LiveId" clId="{424E6DED-FB5A-5628-A323-87694AA007B2}" dt="2025-09-26T05:44:01.009" v="2"/>
        <pc:sldMkLst>
          <pc:docMk/>
          <pc:sldMk cId="3442272901" sldId="5546"/>
        </pc:sldMkLst>
        <pc:graphicFrameChg chg="mod">
          <ac:chgData name="金先 吴jinxian" userId="a698772e9e0c6410" providerId="LiveId" clId="{424E6DED-FB5A-5628-A323-87694AA007B2}" dt="2025-09-26T05:44:01.009" v="2"/>
          <ac:graphicFrameMkLst>
            <pc:docMk/>
            <pc:sldMk cId="3442272901" sldId="5546"/>
            <ac:graphicFrameMk id="8" creationId="{BBFC51F7-1083-DEA2-D658-466E4D4740B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&#38144;&#37327;&#20998;&#26512;/2024&#38144;&#37327;&#20998;&#26512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&#25253;&#21578;/&#29992;&#25143;&#20998;&#26512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&#25253;&#21578;/&#29992;&#25143;&#20998;&#26512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&#38144;&#37327;&#20998;&#26512;/&#29992;&#25143;&#29983;&#21629;&#21608;&#26399;&#20998;&#26512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&#38144;&#37327;&#20998;&#26512;/&#29992;&#25143;&#29983;&#21629;&#21608;&#26399;&#20998;&#26512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8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01.csv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01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wujinxian/Desktop/01.csv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3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4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5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6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7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8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9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0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1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2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3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file:////Volumes/D/onedrive/lkcoffee/03%20&#39033;&#30446;&#31649;&#29702;/CDP&#27719;&#25253;&#26448;&#26009;/&#31449;&#22806;&#35302;&#36798;&#25968;&#25454;&#32479;&#35745;&#20998;&#26512;.xlsx" TargetMode="External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4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5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en-US" sz="1200" dirty="0"/>
              <a:t>2024</a:t>
            </a:r>
            <a:r>
              <a:rPr lang="zh-CN" sz="1200" dirty="0"/>
              <a:t> 启动率及启动完单率大盘</a:t>
            </a:r>
          </a:p>
        </c:rich>
      </c:tx>
      <c:layout>
        <c:manualLayout>
          <c:xMode val="edge"/>
          <c:yMode val="edge"/>
          <c:x val="0.41279163684425124"/>
          <c:y val="5.18045343244374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</c:f>
              <c:strCache>
                <c:ptCount val="1"/>
                <c:pt idx="0">
                  <c:v>总用户数【0】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Sheet1!$C$4:$N$4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Sheet1!$C$5:$N$5</c:f>
              <c:numCache>
                <c:formatCode>#,##0_ </c:formatCode>
                <c:ptCount val="12"/>
                <c:pt idx="0">
                  <c:v>753999</c:v>
                </c:pt>
                <c:pt idx="1">
                  <c:v>809497</c:v>
                </c:pt>
                <c:pt idx="2">
                  <c:v>864756</c:v>
                </c:pt>
                <c:pt idx="3">
                  <c:v>910259</c:v>
                </c:pt>
                <c:pt idx="4">
                  <c:v>954270</c:v>
                </c:pt>
                <c:pt idx="5">
                  <c:v>1009338</c:v>
                </c:pt>
                <c:pt idx="6">
                  <c:v>1067656</c:v>
                </c:pt>
                <c:pt idx="7">
                  <c:v>1119857</c:v>
                </c:pt>
                <c:pt idx="8">
                  <c:v>1173435</c:v>
                </c:pt>
                <c:pt idx="9">
                  <c:v>1220644</c:v>
                </c:pt>
                <c:pt idx="10">
                  <c:v>1267155</c:v>
                </c:pt>
                <c:pt idx="11">
                  <c:v>1320653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76-C14E-94F2-122336AA673C}"/>
            </c:ext>
          </c:extLst>
        </c:ser>
        <c:ser>
          <c:idx val="1"/>
          <c:order val="1"/>
          <c:tx>
            <c:strRef>
              <c:f>Sheet1!$B$6</c:f>
              <c:strCache>
                <c:ptCount val="1"/>
                <c:pt idx="0">
                  <c:v>启动人数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Sheet1!$C$4:$N$4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Sheet1!$C$6:$N$6</c:f>
              <c:numCache>
                <c:formatCode>#,##0_ </c:formatCode>
                <c:ptCount val="12"/>
                <c:pt idx="0">
                  <c:v>239914</c:v>
                </c:pt>
                <c:pt idx="1">
                  <c:v>224020</c:v>
                </c:pt>
                <c:pt idx="2">
                  <c:v>242754</c:v>
                </c:pt>
                <c:pt idx="3">
                  <c:v>238085</c:v>
                </c:pt>
                <c:pt idx="4">
                  <c:v>237390</c:v>
                </c:pt>
                <c:pt idx="5">
                  <c:v>278772</c:v>
                </c:pt>
                <c:pt idx="6">
                  <c:v>309835</c:v>
                </c:pt>
                <c:pt idx="7">
                  <c:v>331755</c:v>
                </c:pt>
                <c:pt idx="8">
                  <c:v>343191</c:v>
                </c:pt>
                <c:pt idx="9">
                  <c:v>336573</c:v>
                </c:pt>
                <c:pt idx="10">
                  <c:v>335868</c:v>
                </c:pt>
                <c:pt idx="11">
                  <c:v>362586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76-C14E-94F2-122336AA673C}"/>
            </c:ext>
          </c:extLst>
        </c:ser>
        <c:ser>
          <c:idx val="2"/>
          <c:order val="2"/>
          <c:tx>
            <c:strRef>
              <c:f>Sheet1!$B$7</c:f>
              <c:strCache>
                <c:ptCount val="1"/>
                <c:pt idx="0">
                  <c:v>消费用户数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Sheet1!$C$4:$N$4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Sheet1!$C$7:$N$7</c:f>
              <c:numCache>
                <c:formatCode>#,##0_ </c:formatCode>
                <c:ptCount val="12"/>
                <c:pt idx="0">
                  <c:v>151562</c:v>
                </c:pt>
                <c:pt idx="1">
                  <c:v>145763</c:v>
                </c:pt>
                <c:pt idx="2">
                  <c:v>161213</c:v>
                </c:pt>
                <c:pt idx="3">
                  <c:v>154188</c:v>
                </c:pt>
                <c:pt idx="4">
                  <c:v>163318</c:v>
                </c:pt>
                <c:pt idx="5">
                  <c:v>212467</c:v>
                </c:pt>
                <c:pt idx="6">
                  <c:v>224113</c:v>
                </c:pt>
                <c:pt idx="7">
                  <c:v>222175</c:v>
                </c:pt>
                <c:pt idx="8">
                  <c:v>227963</c:v>
                </c:pt>
                <c:pt idx="9">
                  <c:v>233868</c:v>
                </c:pt>
                <c:pt idx="10">
                  <c:v>238519</c:v>
                </c:pt>
                <c:pt idx="11">
                  <c:v>259426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E76-C14E-94F2-122336A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5269456"/>
        <c:axId val="713067696"/>
      </c:barChart>
      <c:lineChart>
        <c:grouping val="standard"/>
        <c:varyColors val="0"/>
        <c:ser>
          <c:idx val="3"/>
          <c:order val="3"/>
          <c:tx>
            <c:strRef>
              <c:f>Sheet1!$B$8</c:f>
              <c:strCache>
                <c:ptCount val="1"/>
                <c:pt idx="0">
                  <c:v>启动率【3】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Sheet1!$C$4:$N$4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Sheet1!$C$8:$N$8</c:f>
              <c:numCache>
                <c:formatCode>0.00%</c:formatCode>
                <c:ptCount val="12"/>
                <c:pt idx="0">
                  <c:v>0.31818875091346277</c:v>
                </c:pt>
                <c:pt idx="1">
                  <c:v>0.2767397532047679</c:v>
                </c:pt>
                <c:pt idx="2">
                  <c:v>0.28071964808570277</c:v>
                </c:pt>
                <c:pt idx="3">
                  <c:v>0.26155742486479122</c:v>
                </c:pt>
                <c:pt idx="4">
                  <c:v>0.24876607249520577</c:v>
                </c:pt>
                <c:pt idx="5">
                  <c:v>0.27619291060080964</c:v>
                </c:pt>
                <c:pt idx="6">
                  <c:v>0.29020115093251009</c:v>
                </c:pt>
                <c:pt idx="7">
                  <c:v>0.29624764590478964</c:v>
                </c:pt>
                <c:pt idx="8">
                  <c:v>0.29246698794564674</c:v>
                </c:pt>
                <c:pt idx="9">
                  <c:v>0.27573395682934582</c:v>
                </c:pt>
                <c:pt idx="10">
                  <c:v>0.26505676101187303</c:v>
                </c:pt>
                <c:pt idx="11">
                  <c:v>0.27455054431406284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E76-C14E-94F2-122336AA673C}"/>
            </c:ext>
          </c:extLst>
        </c:ser>
        <c:ser>
          <c:idx val="4"/>
          <c:order val="4"/>
          <c:tx>
            <c:strRef>
              <c:f>Sheet1!$B$9</c:f>
              <c:strCache>
                <c:ptCount val="1"/>
                <c:pt idx="0">
                  <c:v>启动完单率【4】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Sheet1!$C$4:$N$4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Sheet1!$C$9:$N$9</c:f>
              <c:numCache>
                <c:formatCode>0.00%</c:formatCode>
                <c:ptCount val="12"/>
                <c:pt idx="0">
                  <c:v>0.63173470493593542</c:v>
                </c:pt>
                <c:pt idx="1">
                  <c:v>0.65066958307293987</c:v>
                </c:pt>
                <c:pt idx="2">
                  <c:v>0.66410028259060616</c:v>
                </c:pt>
                <c:pt idx="3">
                  <c:v>0.64761744755024464</c:v>
                </c:pt>
                <c:pt idx="4">
                  <c:v>0.68797337714309781</c:v>
                </c:pt>
                <c:pt idx="5">
                  <c:v>0.76215330090539934</c:v>
                </c:pt>
                <c:pt idx="6">
                  <c:v>0.72333015960107794</c:v>
                </c:pt>
                <c:pt idx="7">
                  <c:v>0.66969601061023953</c:v>
                </c:pt>
                <c:pt idx="8">
                  <c:v>0.66424527449729165</c:v>
                </c:pt>
                <c:pt idx="9">
                  <c:v>0.69485074560347981</c:v>
                </c:pt>
                <c:pt idx="10">
                  <c:v>0.71015696642728687</c:v>
                </c:pt>
                <c:pt idx="11">
                  <c:v>0.71548818762996913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7E76-C14E-94F2-122336A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95946208"/>
        <c:axId val="1093160352"/>
      </c:lineChart>
      <c:catAx>
        <c:axId val="1225269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713067696"/>
        <c:crosses val="autoZero"/>
        <c:auto val="1"/>
        <c:lblAlgn val="ctr"/>
        <c:lblOffset val="100"/>
        <c:noMultiLvlLbl val="0"/>
      </c:catAx>
      <c:valAx>
        <c:axId val="713067696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#,##0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25269456"/>
        <c:crosses val="autoZero"/>
        <c:crossBetween val="between"/>
        <c:dispUnits>
          <c:builtInUnit val="tenThousands"/>
          <c:dispUnitsLbl>
            <c:layout>
              <c:manualLayout>
                <c:xMode val="edge"/>
                <c:yMode val="edge"/>
                <c:x val="1.2025938739294598E-2"/>
                <c:y val="0.46841173848239093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  <a:cs typeface="+mn-cs"/>
                    </a:defRPr>
                  </a:pPr>
                  <a:r>
                    <a:rPr lang="zh-CN"/>
                    <a:t>万人</a:t>
                  </a:r>
                  <a:endParaRPr lang="en-US"/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1093160352"/>
        <c:scaling>
          <c:orientation val="minMax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095946208"/>
        <c:crosses val="max"/>
        <c:crossBetween val="between"/>
      </c:valAx>
      <c:catAx>
        <c:axId val="109594620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9316035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6187870037661037"/>
          <c:y val="0.15391511748382639"/>
          <c:w val="0.48049657995828171"/>
          <c:h val="5.515347311816678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en-US" altLang="zh-CN" sz="1200" dirty="0"/>
              <a:t>2024</a:t>
            </a:r>
            <a:r>
              <a:rPr lang="zh-CN" altLang="en-US" sz="1200" dirty="0"/>
              <a:t> 注册用户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4705593307685859E-2"/>
          <c:y val="0.21177471546692464"/>
          <c:w val="0.89204055923755343"/>
          <c:h val="0.615308133123632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'01'!$B$1</c:f>
              <c:strCache>
                <c:ptCount val="1"/>
                <c:pt idx="0">
                  <c:v>注册用户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_);[Red]\(#,##0.0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'01'!$A$2:$A$13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'01'!$B$2:$B$13</c:f>
              <c:numCache>
                <c:formatCode>General</c:formatCode>
                <c:ptCount val="12"/>
                <c:pt idx="0">
                  <c:v>65441</c:v>
                </c:pt>
                <c:pt idx="1">
                  <c:v>55497</c:v>
                </c:pt>
                <c:pt idx="2">
                  <c:v>55259</c:v>
                </c:pt>
                <c:pt idx="3">
                  <c:v>45503</c:v>
                </c:pt>
                <c:pt idx="4">
                  <c:v>44011</c:v>
                </c:pt>
                <c:pt idx="5">
                  <c:v>55068</c:v>
                </c:pt>
                <c:pt idx="6">
                  <c:v>53650</c:v>
                </c:pt>
                <c:pt idx="7">
                  <c:v>54872</c:v>
                </c:pt>
                <c:pt idx="8">
                  <c:v>52607</c:v>
                </c:pt>
                <c:pt idx="9">
                  <c:v>49260</c:v>
                </c:pt>
                <c:pt idx="10">
                  <c:v>46956</c:v>
                </c:pt>
                <c:pt idx="11">
                  <c:v>54231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A7-A541-8663-BB1FB95238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2398992"/>
        <c:axId val="862235328"/>
      </c:barChart>
      <c:catAx>
        <c:axId val="8623989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62235328"/>
        <c:crosses val="autoZero"/>
        <c:auto val="1"/>
        <c:lblAlgn val="ctr"/>
        <c:lblOffset val="100"/>
        <c:noMultiLvlLbl val="0"/>
      </c:catAx>
      <c:valAx>
        <c:axId val="86223532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62398992"/>
        <c:crosses val="autoZero"/>
        <c:crossBetween val="between"/>
        <c:dispUnits>
          <c:builtInUnit val="tenThousands"/>
          <c:dispUnitsLbl>
            <c:layout>
              <c:manualLayout>
                <c:xMode val="edge"/>
                <c:yMode val="edge"/>
                <c:x val="2.1139861322509723E-2"/>
                <c:y val="0.46966797722123893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  <a:cs typeface="+mn-cs"/>
                    </a:defRPr>
                  </a:pPr>
                  <a:r>
                    <a:rPr lang="en-US"/>
                    <a:t>万人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en-US" altLang="zh-CN" sz="1200" dirty="0"/>
              <a:t>2024</a:t>
            </a:r>
            <a:r>
              <a:rPr lang="zh-CN" altLang="en-US" sz="1200" dirty="0"/>
              <a:t> 注销用户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5757591282108664E-2"/>
          <c:y val="0.19960770732768196"/>
          <c:w val="0.89069976096713266"/>
          <c:h val="0.62515306387787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'01'!$C$1</c:f>
              <c:strCache>
                <c:ptCount val="1"/>
                <c:pt idx="0">
                  <c:v>注销用户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0_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'01'!$A$2:$A$13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'01'!$C$2:$C$13</c:f>
              <c:numCache>
                <c:formatCode>General</c:formatCode>
                <c:ptCount val="12"/>
                <c:pt idx="0">
                  <c:v>1078</c:v>
                </c:pt>
                <c:pt idx="1">
                  <c:v>738</c:v>
                </c:pt>
                <c:pt idx="2">
                  <c:v>1016</c:v>
                </c:pt>
                <c:pt idx="3">
                  <c:v>558</c:v>
                </c:pt>
                <c:pt idx="4">
                  <c:v>527</c:v>
                </c:pt>
                <c:pt idx="5">
                  <c:v>708</c:v>
                </c:pt>
                <c:pt idx="6">
                  <c:v>803</c:v>
                </c:pt>
                <c:pt idx="7">
                  <c:v>1074</c:v>
                </c:pt>
                <c:pt idx="8">
                  <c:v>1972</c:v>
                </c:pt>
                <c:pt idx="9">
                  <c:v>2381</c:v>
                </c:pt>
                <c:pt idx="10">
                  <c:v>851</c:v>
                </c:pt>
                <c:pt idx="11">
                  <c:v>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C7-194B-96D7-7B9964A533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2917984"/>
        <c:axId val="862818752"/>
      </c:barChart>
      <c:catAx>
        <c:axId val="862917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62818752"/>
        <c:crosses val="autoZero"/>
        <c:auto val="1"/>
        <c:lblAlgn val="ctr"/>
        <c:lblOffset val="100"/>
        <c:noMultiLvlLbl val="0"/>
      </c:catAx>
      <c:valAx>
        <c:axId val="862818752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62917984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4.2804814092288531E-3"/>
                <c:y val="0.40605864835371708"/>
              </c:manualLayout>
            </c:layout>
            <c:tx>
              <c:rich>
                <a:bodyPr rot="-540000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KaiTi" panose="02010609060101010101" pitchFamily="49" charset="-122"/>
                      <a:ea typeface="KaiTi" panose="02010609060101010101" pitchFamily="49" charset="-122"/>
                      <a:cs typeface="+mn-cs"/>
                    </a:defRPr>
                  </a:pPr>
                  <a:r>
                    <a:rPr lang="zh-CN"/>
                    <a:t>千人</a:t>
                  </a:r>
                </a:p>
              </c:rich>
            </c:tx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[用户生命周期分析.xlsx]Sheet3!数据透视表1</c:name>
    <c:fmtId val="13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4131008335080517E-2"/>
          <c:y val="8.518849284040457E-2"/>
          <c:w val="0.88699894826603587"/>
          <c:h val="0.8451713644295315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Sheet3!$B$3:$B$4</c:f>
              <c:strCache>
                <c:ptCount val="1"/>
                <c:pt idx="0">
                  <c:v>1单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eparator>, </c:separator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Sheet3!$A$5:$A$17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Sheet3!$B$5:$B$17</c:f>
              <c:numCache>
                <c:formatCode>General</c:formatCode>
                <c:ptCount val="12"/>
                <c:pt idx="0">
                  <c:v>91990</c:v>
                </c:pt>
                <c:pt idx="1">
                  <c:v>86379</c:v>
                </c:pt>
                <c:pt idx="2">
                  <c:v>93411</c:v>
                </c:pt>
                <c:pt idx="3">
                  <c:v>89463</c:v>
                </c:pt>
                <c:pt idx="4">
                  <c:v>92645</c:v>
                </c:pt>
                <c:pt idx="5">
                  <c:v>111879</c:v>
                </c:pt>
                <c:pt idx="6">
                  <c:v>118032</c:v>
                </c:pt>
                <c:pt idx="7">
                  <c:v>125434</c:v>
                </c:pt>
                <c:pt idx="8">
                  <c:v>128658</c:v>
                </c:pt>
                <c:pt idx="9">
                  <c:v>127197</c:v>
                </c:pt>
                <c:pt idx="10">
                  <c:v>129355</c:v>
                </c:pt>
                <c:pt idx="11">
                  <c:v>145334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71-B04B-B346-29079133ED40}"/>
            </c:ext>
          </c:extLst>
        </c:ser>
        <c:ser>
          <c:idx val="1"/>
          <c:order val="1"/>
          <c:tx>
            <c:strRef>
              <c:f>Sheet3!$C$3:$C$4</c:f>
              <c:strCache>
                <c:ptCount val="1"/>
                <c:pt idx="0">
                  <c:v>2单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Sheet3!$A$5:$A$17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Sheet3!$C$5:$C$17</c:f>
              <c:numCache>
                <c:formatCode>General</c:formatCode>
                <c:ptCount val="12"/>
                <c:pt idx="0">
                  <c:v>26860</c:v>
                </c:pt>
                <c:pt idx="1">
                  <c:v>26259</c:v>
                </c:pt>
                <c:pt idx="2">
                  <c:v>29584</c:v>
                </c:pt>
                <c:pt idx="3">
                  <c:v>27416</c:v>
                </c:pt>
                <c:pt idx="4">
                  <c:v>30063</c:v>
                </c:pt>
                <c:pt idx="5">
                  <c:v>41551</c:v>
                </c:pt>
                <c:pt idx="6">
                  <c:v>44168</c:v>
                </c:pt>
                <c:pt idx="7">
                  <c:v>43484</c:v>
                </c:pt>
                <c:pt idx="8">
                  <c:v>43970</c:v>
                </c:pt>
                <c:pt idx="9">
                  <c:v>45116</c:v>
                </c:pt>
                <c:pt idx="10">
                  <c:v>46834</c:v>
                </c:pt>
                <c:pt idx="11">
                  <c:v>51159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71-B04B-B346-29079133ED40}"/>
            </c:ext>
          </c:extLst>
        </c:ser>
        <c:ser>
          <c:idx val="2"/>
          <c:order val="2"/>
          <c:tx>
            <c:strRef>
              <c:f>Sheet3!$D$3:$D$4</c:f>
              <c:strCache>
                <c:ptCount val="1"/>
                <c:pt idx="0">
                  <c:v>3单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Sheet3!$A$5:$A$17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Sheet3!$D$5:$D$17</c:f>
              <c:numCache>
                <c:formatCode>General</c:formatCode>
                <c:ptCount val="12"/>
                <c:pt idx="0">
                  <c:v>12654</c:v>
                </c:pt>
                <c:pt idx="1">
                  <c:v>12700</c:v>
                </c:pt>
                <c:pt idx="2">
                  <c:v>14844</c:v>
                </c:pt>
                <c:pt idx="3">
                  <c:v>13379</c:v>
                </c:pt>
                <c:pt idx="4">
                  <c:v>14952</c:v>
                </c:pt>
                <c:pt idx="5">
                  <c:v>22245</c:v>
                </c:pt>
                <c:pt idx="6">
                  <c:v>23753</c:v>
                </c:pt>
                <c:pt idx="7">
                  <c:v>21187</c:v>
                </c:pt>
                <c:pt idx="8">
                  <c:v>21815</c:v>
                </c:pt>
                <c:pt idx="9">
                  <c:v>22561</c:v>
                </c:pt>
                <c:pt idx="10">
                  <c:v>23623</c:v>
                </c:pt>
                <c:pt idx="11">
                  <c:v>24230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71-B04B-B346-29079133ED40}"/>
            </c:ext>
          </c:extLst>
        </c:ser>
        <c:ser>
          <c:idx val="3"/>
          <c:order val="3"/>
          <c:tx>
            <c:strRef>
              <c:f>Sheet3!$E$3:$E$4</c:f>
              <c:strCache>
                <c:ptCount val="1"/>
                <c:pt idx="0">
                  <c:v>4单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Sheet3!$A$5:$A$17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Sheet3!$E$5:$E$17</c:f>
              <c:numCache>
                <c:formatCode>General</c:formatCode>
                <c:ptCount val="12"/>
                <c:pt idx="0">
                  <c:v>7030</c:v>
                </c:pt>
                <c:pt idx="1">
                  <c:v>7513</c:v>
                </c:pt>
                <c:pt idx="2">
                  <c:v>8493</c:v>
                </c:pt>
                <c:pt idx="3">
                  <c:v>7890</c:v>
                </c:pt>
                <c:pt idx="4">
                  <c:v>8679</c:v>
                </c:pt>
                <c:pt idx="5">
                  <c:v>13504</c:v>
                </c:pt>
                <c:pt idx="6">
                  <c:v>13692</c:v>
                </c:pt>
                <c:pt idx="7">
                  <c:v>12169</c:v>
                </c:pt>
                <c:pt idx="8">
                  <c:v>12294</c:v>
                </c:pt>
                <c:pt idx="9">
                  <c:v>12960</c:v>
                </c:pt>
                <c:pt idx="10">
                  <c:v>13661</c:v>
                </c:pt>
                <c:pt idx="11">
                  <c:v>13653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71-B04B-B346-29079133ED40}"/>
            </c:ext>
          </c:extLst>
        </c:ser>
        <c:ser>
          <c:idx val="4"/>
          <c:order val="4"/>
          <c:tx>
            <c:strRef>
              <c:f>Sheet3!$F$3:$F$4</c:f>
              <c:strCache>
                <c:ptCount val="1"/>
                <c:pt idx="0">
                  <c:v>5单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Sheet3!$A$5:$A$17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Sheet3!$F$5:$F$17</c:f>
              <c:numCache>
                <c:formatCode>General</c:formatCode>
                <c:ptCount val="12"/>
                <c:pt idx="0">
                  <c:v>4508</c:v>
                </c:pt>
                <c:pt idx="1">
                  <c:v>4661</c:v>
                </c:pt>
                <c:pt idx="2">
                  <c:v>5237</c:v>
                </c:pt>
                <c:pt idx="3">
                  <c:v>5065</c:v>
                </c:pt>
                <c:pt idx="4">
                  <c:v>5362</c:v>
                </c:pt>
                <c:pt idx="5">
                  <c:v>8268</c:v>
                </c:pt>
                <c:pt idx="6">
                  <c:v>8176</c:v>
                </c:pt>
                <c:pt idx="7">
                  <c:v>6680</c:v>
                </c:pt>
                <c:pt idx="8">
                  <c:v>7035</c:v>
                </c:pt>
                <c:pt idx="9">
                  <c:v>7952</c:v>
                </c:pt>
                <c:pt idx="10">
                  <c:v>7863</c:v>
                </c:pt>
                <c:pt idx="11">
                  <c:v>7883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71-B04B-B346-29079133ED40}"/>
            </c:ext>
          </c:extLst>
        </c:ser>
        <c:ser>
          <c:idx val="5"/>
          <c:order val="5"/>
          <c:tx>
            <c:strRef>
              <c:f>Sheet3!$G$3:$G$4</c:f>
              <c:strCache>
                <c:ptCount val="1"/>
                <c:pt idx="0">
                  <c:v>5单以上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bg1"/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Sheet3!$A$5:$A$17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Sheet3!$G$5:$G$17</c:f>
              <c:numCache>
                <c:formatCode>General</c:formatCode>
                <c:ptCount val="12"/>
                <c:pt idx="0">
                  <c:v>8180</c:v>
                </c:pt>
                <c:pt idx="1">
                  <c:v>7964</c:v>
                </c:pt>
                <c:pt idx="2">
                  <c:v>9254</c:v>
                </c:pt>
                <c:pt idx="3">
                  <c:v>10464</c:v>
                </c:pt>
                <c:pt idx="4">
                  <c:v>11130</c:v>
                </c:pt>
                <c:pt idx="5">
                  <c:v>14809</c:v>
                </c:pt>
                <c:pt idx="6">
                  <c:v>16020</c:v>
                </c:pt>
                <c:pt idx="7">
                  <c:v>12912</c:v>
                </c:pt>
                <c:pt idx="8">
                  <c:v>14004</c:v>
                </c:pt>
                <c:pt idx="9">
                  <c:v>17873</c:v>
                </c:pt>
                <c:pt idx="10">
                  <c:v>16783</c:v>
                </c:pt>
                <c:pt idx="11">
                  <c:v>16793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F71-B04B-B346-29079133E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serLines>
          <c:spPr>
            <a:ln w="9525" cap="flat" cmpd="sng" algn="ctr">
              <a:solidFill>
                <a:schemeClr val="tx1">
                  <a:lumMod val="35000"/>
                  <a:lumOff val="65000"/>
                </a:schemeClr>
              </a:solidFill>
              <a:round/>
            </a:ln>
            <a:effectLst/>
          </c:spPr>
        </c:serLines>
        <c:axId val="1773085007"/>
        <c:axId val="1772454047"/>
      </c:barChart>
      <c:dateAx>
        <c:axId val="17730850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772454047"/>
        <c:crosses val="autoZero"/>
        <c:auto val="0"/>
        <c:lblOffset val="100"/>
        <c:baseTimeUnit val="days"/>
      </c:dateAx>
      <c:valAx>
        <c:axId val="177245404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7730850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906881012178804"/>
          <c:y val="3.3257491138414891E-2"/>
          <c:w val="0.26355069284486854"/>
          <c:h val="4.290677329704237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020604821173252E-2"/>
          <c:y val="7.3524021355727914E-2"/>
          <c:w val="0.93627956143119584"/>
          <c:h val="0.75178716046350058"/>
        </c:manualLayout>
      </c:layout>
      <c:lineChart>
        <c:grouping val="standard"/>
        <c:varyColors val="0"/>
        <c:ser>
          <c:idx val="0"/>
          <c:order val="0"/>
          <c:tx>
            <c:strRef>
              <c:f>Sheet5!$A$80</c:f>
              <c:strCache>
                <c:ptCount val="1"/>
                <c:pt idx="0">
                  <c:v>总体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Sheet5!$B$79:$BB$79</c:f>
              <c:numCache>
                <c:formatCode>General</c:formatCode>
                <c:ptCount val="5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</c:numCache>
            </c:numRef>
          </c:cat>
          <c:val>
            <c:numRef>
              <c:f>Sheet5!$B$80:$BB$80</c:f>
              <c:numCache>
                <c:formatCode>0%</c:formatCode>
                <c:ptCount val="53"/>
                <c:pt idx="0">
                  <c:v>0.16095877384568319</c:v>
                </c:pt>
                <c:pt idx="1">
                  <c:v>0.13935419573018046</c:v>
                </c:pt>
                <c:pt idx="2">
                  <c:v>0.12834399966337648</c:v>
                </c:pt>
                <c:pt idx="3">
                  <c:v>0.12058079393223775</c:v>
                </c:pt>
                <c:pt idx="4">
                  <c:v>0.11286985564570604</c:v>
                </c:pt>
                <c:pt idx="5">
                  <c:v>0.10759726438572824</c:v>
                </c:pt>
                <c:pt idx="6">
                  <c:v>0.1060043791077717</c:v>
                </c:pt>
                <c:pt idx="7">
                  <c:v>0.10447303679697949</c:v>
                </c:pt>
                <c:pt idx="8">
                  <c:v>0.10146392542272291</c:v>
                </c:pt>
                <c:pt idx="9">
                  <c:v>0.10017099710340265</c:v>
                </c:pt>
                <c:pt idx="10">
                  <c:v>9.8540494180716545E-2</c:v>
                </c:pt>
                <c:pt idx="11">
                  <c:v>9.8173201175382446E-2</c:v>
                </c:pt>
                <c:pt idx="12">
                  <c:v>9.6555608642419674E-2</c:v>
                </c:pt>
                <c:pt idx="13">
                  <c:v>9.6790629497320285E-2</c:v>
                </c:pt>
                <c:pt idx="14">
                  <c:v>9.583349048510055E-2</c:v>
                </c:pt>
                <c:pt idx="15">
                  <c:v>9.581415819026852E-2</c:v>
                </c:pt>
                <c:pt idx="16">
                  <c:v>9.524251977889138E-2</c:v>
                </c:pt>
                <c:pt idx="17">
                  <c:v>9.6277751853062365E-2</c:v>
                </c:pt>
                <c:pt idx="18">
                  <c:v>9.6755028311879904E-2</c:v>
                </c:pt>
                <c:pt idx="19">
                  <c:v>9.8329346799806858E-2</c:v>
                </c:pt>
                <c:pt idx="20">
                  <c:v>9.793887542803352E-2</c:v>
                </c:pt>
                <c:pt idx="21">
                  <c:v>9.7597796979935147E-2</c:v>
                </c:pt>
                <c:pt idx="22">
                  <c:v>9.684443482780794E-2</c:v>
                </c:pt>
                <c:pt idx="23">
                  <c:v>9.6955703929209769E-2</c:v>
                </c:pt>
                <c:pt idx="24">
                  <c:v>9.7134315622535258E-2</c:v>
                </c:pt>
                <c:pt idx="25">
                  <c:v>9.7149769638608094E-2</c:v>
                </c:pt>
                <c:pt idx="26">
                  <c:v>9.5611916109906256E-2</c:v>
                </c:pt>
                <c:pt idx="27">
                  <c:v>9.4657906743350034E-2</c:v>
                </c:pt>
                <c:pt idx="28">
                  <c:v>9.3871527021540543E-2</c:v>
                </c:pt>
                <c:pt idx="29">
                  <c:v>9.3849183282402937E-2</c:v>
                </c:pt>
                <c:pt idx="30">
                  <c:v>9.4501400751403397E-2</c:v>
                </c:pt>
                <c:pt idx="31">
                  <c:v>9.4184488924319201E-2</c:v>
                </c:pt>
                <c:pt idx="32">
                  <c:v>9.4768298895319902E-2</c:v>
                </c:pt>
                <c:pt idx="33">
                  <c:v>9.6530249800501511E-2</c:v>
                </c:pt>
                <c:pt idx="34">
                  <c:v>9.6582648311186944E-2</c:v>
                </c:pt>
                <c:pt idx="35">
                  <c:v>9.6678134792443859E-2</c:v>
                </c:pt>
                <c:pt idx="36">
                  <c:v>9.6362366363501914E-2</c:v>
                </c:pt>
                <c:pt idx="37">
                  <c:v>9.8252707240510606E-2</c:v>
                </c:pt>
                <c:pt idx="38">
                  <c:v>9.8714963905035799E-2</c:v>
                </c:pt>
                <c:pt idx="39">
                  <c:v>9.9960250160518488E-2</c:v>
                </c:pt>
                <c:pt idx="40">
                  <c:v>0.10136451868995165</c:v>
                </c:pt>
                <c:pt idx="41">
                  <c:v>0.10136099820366888</c:v>
                </c:pt>
                <c:pt idx="42">
                  <c:v>0.10347582915634636</c:v>
                </c:pt>
                <c:pt idx="43">
                  <c:v>0.10677496675970177</c:v>
                </c:pt>
                <c:pt idx="44">
                  <c:v>0.10966994808286866</c:v>
                </c:pt>
                <c:pt idx="45">
                  <c:v>0.11180276486630189</c:v>
                </c:pt>
                <c:pt idx="46">
                  <c:v>0.11185669637183124</c:v>
                </c:pt>
                <c:pt idx="47">
                  <c:v>0.11148202875710417</c:v>
                </c:pt>
                <c:pt idx="48">
                  <c:v>0.11239187042214119</c:v>
                </c:pt>
                <c:pt idx="49">
                  <c:v>0.11172408484530981</c:v>
                </c:pt>
                <c:pt idx="50">
                  <c:v>0.11054249650532798</c:v>
                </c:pt>
                <c:pt idx="51">
                  <c:v>0.1100294656751456</c:v>
                </c:pt>
                <c:pt idx="52">
                  <c:v>8.1872660708076819E-2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08-4141-960E-3A541BFF5B20}"/>
            </c:ext>
          </c:extLst>
        </c:ser>
        <c:ser>
          <c:idx val="1"/>
          <c:order val="1"/>
          <c:tx>
            <c:strRef>
              <c:f>Sheet5!$A$81</c:f>
              <c:strCache>
                <c:ptCount val="1"/>
                <c:pt idx="0">
                  <c:v>APP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Sheet5!$B$79:$BB$79</c:f>
              <c:numCache>
                <c:formatCode>General</c:formatCode>
                <c:ptCount val="5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</c:numCache>
            </c:numRef>
          </c:cat>
          <c:val>
            <c:numRef>
              <c:f>Sheet5!$B$81:$BB$81</c:f>
              <c:numCache>
                <c:formatCode>0%</c:formatCode>
                <c:ptCount val="53"/>
                <c:pt idx="0">
                  <c:v>0.17734812681904558</c:v>
                </c:pt>
                <c:pt idx="1">
                  <c:v>0.15451553094695511</c:v>
                </c:pt>
                <c:pt idx="2">
                  <c:v>0.1421655224562432</c:v>
                </c:pt>
                <c:pt idx="3">
                  <c:v>0.13332233521556525</c:v>
                </c:pt>
                <c:pt idx="4">
                  <c:v>0.12471896833851645</c:v>
                </c:pt>
                <c:pt idx="5">
                  <c:v>0.11901345506223426</c:v>
                </c:pt>
                <c:pt idx="6">
                  <c:v>0.11696456030145411</c:v>
                </c:pt>
                <c:pt idx="7">
                  <c:v>0.11514744224446023</c:v>
                </c:pt>
                <c:pt idx="8">
                  <c:v>0.11174809932981107</c:v>
                </c:pt>
                <c:pt idx="9">
                  <c:v>0.10995791837371359</c:v>
                </c:pt>
                <c:pt idx="10">
                  <c:v>0.10816246941876295</c:v>
                </c:pt>
                <c:pt idx="11">
                  <c:v>0.10738713575452706</c:v>
                </c:pt>
                <c:pt idx="12">
                  <c:v>0.10547819377800235</c:v>
                </c:pt>
                <c:pt idx="13">
                  <c:v>0.10527016173565126</c:v>
                </c:pt>
                <c:pt idx="14">
                  <c:v>0.10395694566284422</c:v>
                </c:pt>
                <c:pt idx="15">
                  <c:v>0.10373560857044317</c:v>
                </c:pt>
                <c:pt idx="16">
                  <c:v>0.10282608351666571</c:v>
                </c:pt>
                <c:pt idx="17">
                  <c:v>0.10373774574913758</c:v>
                </c:pt>
                <c:pt idx="18">
                  <c:v>0.10423344288147023</c:v>
                </c:pt>
                <c:pt idx="19">
                  <c:v>0.10580583019713001</c:v>
                </c:pt>
                <c:pt idx="20">
                  <c:v>0.10505143929065976</c:v>
                </c:pt>
                <c:pt idx="21">
                  <c:v>0.10473243966372203</c:v>
                </c:pt>
                <c:pt idx="22">
                  <c:v>0.1037014831128541</c:v>
                </c:pt>
                <c:pt idx="23">
                  <c:v>0.10326075929584129</c:v>
                </c:pt>
                <c:pt idx="24">
                  <c:v>0.10340735074194293</c:v>
                </c:pt>
                <c:pt idx="25">
                  <c:v>0.10371351618683425</c:v>
                </c:pt>
                <c:pt idx="26">
                  <c:v>0.10186558251935275</c:v>
                </c:pt>
                <c:pt idx="27">
                  <c:v>0.10080284073035947</c:v>
                </c:pt>
                <c:pt idx="28">
                  <c:v>0.10004345451244293</c:v>
                </c:pt>
                <c:pt idx="29">
                  <c:v>0.10006967299500936</c:v>
                </c:pt>
                <c:pt idx="30">
                  <c:v>0.10075520690461461</c:v>
                </c:pt>
                <c:pt idx="31">
                  <c:v>0.10037839846891479</c:v>
                </c:pt>
                <c:pt idx="32">
                  <c:v>0.10082999010981597</c:v>
                </c:pt>
                <c:pt idx="33">
                  <c:v>0.1024893742401594</c:v>
                </c:pt>
                <c:pt idx="34">
                  <c:v>0.10233673786740138</c:v>
                </c:pt>
                <c:pt idx="35">
                  <c:v>0.10201512311139536</c:v>
                </c:pt>
                <c:pt idx="36">
                  <c:v>0.10182358722586718</c:v>
                </c:pt>
                <c:pt idx="37">
                  <c:v>0.10337613124964402</c:v>
                </c:pt>
                <c:pt idx="38">
                  <c:v>0.10344776968547618</c:v>
                </c:pt>
                <c:pt idx="39">
                  <c:v>0.10428082202676954</c:v>
                </c:pt>
                <c:pt idx="40">
                  <c:v>0.10511905458367396</c:v>
                </c:pt>
                <c:pt idx="41">
                  <c:v>0.10524985717990058</c:v>
                </c:pt>
                <c:pt idx="42">
                  <c:v>0.10745730576393756</c:v>
                </c:pt>
                <c:pt idx="43">
                  <c:v>0.11083390961431069</c:v>
                </c:pt>
                <c:pt idx="44">
                  <c:v>0.11349742887182453</c:v>
                </c:pt>
                <c:pt idx="45">
                  <c:v>0.11563036736093997</c:v>
                </c:pt>
                <c:pt idx="46">
                  <c:v>0.11549676565866593</c:v>
                </c:pt>
                <c:pt idx="47">
                  <c:v>0.11514487188953536</c:v>
                </c:pt>
                <c:pt idx="48">
                  <c:v>0.11588545229800759</c:v>
                </c:pt>
                <c:pt idx="49">
                  <c:v>0.11442235159492406</c:v>
                </c:pt>
                <c:pt idx="50">
                  <c:v>0.11280299803439386</c:v>
                </c:pt>
                <c:pt idx="51">
                  <c:v>0.11188140993720602</c:v>
                </c:pt>
                <c:pt idx="52">
                  <c:v>8.3587360985557219E-2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08-4141-960E-3A541BFF5B20}"/>
            </c:ext>
          </c:extLst>
        </c:ser>
        <c:ser>
          <c:idx val="2"/>
          <c:order val="2"/>
          <c:tx>
            <c:strRef>
              <c:f>Sheet5!$A$82</c:f>
              <c:strCache>
                <c:ptCount val="1"/>
                <c:pt idx="0">
                  <c:v>H5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Sheet5!$B$79:$BB$79</c:f>
              <c:numCache>
                <c:formatCode>General</c:formatCode>
                <c:ptCount val="5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</c:numCache>
            </c:numRef>
          </c:cat>
          <c:val>
            <c:numRef>
              <c:f>Sheet5!$B$82:$BB$82</c:f>
              <c:numCache>
                <c:formatCode>0%</c:formatCode>
                <c:ptCount val="53"/>
                <c:pt idx="0">
                  <c:v>5.9013479186229421E-2</c:v>
                </c:pt>
                <c:pt idx="1">
                  <c:v>3.5798562570169175E-2</c:v>
                </c:pt>
                <c:pt idx="2">
                  <c:v>2.9464616235641419E-2</c:v>
                </c:pt>
                <c:pt idx="3">
                  <c:v>2.6291104973761557E-2</c:v>
                </c:pt>
                <c:pt idx="4">
                  <c:v>2.2509264230835529E-2</c:v>
                </c:pt>
                <c:pt idx="5">
                  <c:v>1.9634996890967975E-2</c:v>
                </c:pt>
                <c:pt idx="6">
                  <c:v>2.0160003017846501E-2</c:v>
                </c:pt>
                <c:pt idx="7">
                  <c:v>1.873098043016801E-2</c:v>
                </c:pt>
                <c:pt idx="8">
                  <c:v>1.7188768120437653E-2</c:v>
                </c:pt>
                <c:pt idx="9">
                  <c:v>1.7111676504983478E-2</c:v>
                </c:pt>
                <c:pt idx="10">
                  <c:v>1.5712448332133321E-2</c:v>
                </c:pt>
                <c:pt idx="11">
                  <c:v>1.4945107924958168E-2</c:v>
                </c:pt>
                <c:pt idx="12">
                  <c:v>1.4127560745077759E-2</c:v>
                </c:pt>
                <c:pt idx="13">
                  <c:v>1.4063046371688917E-2</c:v>
                </c:pt>
                <c:pt idx="14">
                  <c:v>1.3534968491440199E-2</c:v>
                </c:pt>
                <c:pt idx="15">
                  <c:v>1.2728054688333842E-2</c:v>
                </c:pt>
                <c:pt idx="16">
                  <c:v>1.2672671250129516E-2</c:v>
                </c:pt>
                <c:pt idx="17">
                  <c:v>1.2140855499159818E-2</c:v>
                </c:pt>
                <c:pt idx="18">
                  <c:v>1.1393435929216982E-2</c:v>
                </c:pt>
                <c:pt idx="19">
                  <c:v>1.1060965548908255E-2</c:v>
                </c:pt>
                <c:pt idx="20">
                  <c:v>1.1300752091700577E-2</c:v>
                </c:pt>
                <c:pt idx="21">
                  <c:v>1.1021158542045204E-2</c:v>
                </c:pt>
                <c:pt idx="22">
                  <c:v>1.1263939238711555E-2</c:v>
                </c:pt>
                <c:pt idx="23">
                  <c:v>1.0661247029189826E-2</c:v>
                </c:pt>
                <c:pt idx="24">
                  <c:v>1.0663943557502721E-2</c:v>
                </c:pt>
                <c:pt idx="25">
                  <c:v>1.1033028232030423E-2</c:v>
                </c:pt>
                <c:pt idx="26">
                  <c:v>1.0177375603148932E-2</c:v>
                </c:pt>
                <c:pt idx="27">
                  <c:v>1.0812371286762743E-2</c:v>
                </c:pt>
                <c:pt idx="28">
                  <c:v>1.0588963354267556E-2</c:v>
                </c:pt>
                <c:pt idx="29">
                  <c:v>9.857720097293788E-3</c:v>
                </c:pt>
                <c:pt idx="30">
                  <c:v>1.0065341804218097E-2</c:v>
                </c:pt>
                <c:pt idx="31">
                  <c:v>9.8328998372986948E-3</c:v>
                </c:pt>
                <c:pt idx="32">
                  <c:v>9.2538816522650252E-3</c:v>
                </c:pt>
                <c:pt idx="33">
                  <c:v>1.0130031380770342E-2</c:v>
                </c:pt>
                <c:pt idx="34">
                  <c:v>1.0031836157078644E-2</c:v>
                </c:pt>
                <c:pt idx="35">
                  <c:v>8.7945326513080655E-3</c:v>
                </c:pt>
                <c:pt idx="36">
                  <c:v>8.6397143320696094E-3</c:v>
                </c:pt>
                <c:pt idx="37">
                  <c:v>9.7514943028784509E-3</c:v>
                </c:pt>
                <c:pt idx="38">
                  <c:v>9.2224791801493993E-3</c:v>
                </c:pt>
                <c:pt idx="39">
                  <c:v>9.1910116810134616E-3</c:v>
                </c:pt>
                <c:pt idx="40">
                  <c:v>1.0895667260828242E-2</c:v>
                </c:pt>
                <c:pt idx="41">
                  <c:v>8.7553028025152742E-3</c:v>
                </c:pt>
                <c:pt idx="42">
                  <c:v>1.0060305593450641E-2</c:v>
                </c:pt>
                <c:pt idx="43">
                  <c:v>9.7243773680303503E-3</c:v>
                </c:pt>
                <c:pt idx="44">
                  <c:v>9.9109087181111846E-3</c:v>
                </c:pt>
                <c:pt idx="45">
                  <c:v>1.0052602949733383E-2</c:v>
                </c:pt>
                <c:pt idx="46">
                  <c:v>1.1153134476006221E-2</c:v>
                </c:pt>
                <c:pt idx="47">
                  <c:v>1.0095468167687043E-2</c:v>
                </c:pt>
                <c:pt idx="48">
                  <c:v>1.1232720392301318E-2</c:v>
                </c:pt>
                <c:pt idx="49">
                  <c:v>1.142465584672615E-2</c:v>
                </c:pt>
                <c:pt idx="50">
                  <c:v>1.1811410059242489E-2</c:v>
                </c:pt>
                <c:pt idx="51">
                  <c:v>1.5397044051171448E-2</c:v>
                </c:pt>
                <c:pt idx="52">
                  <c:v>1.4705882352941176E-2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308-4141-960E-3A541BFF5B20}"/>
            </c:ext>
          </c:extLst>
        </c:ser>
        <c:ser>
          <c:idx val="3"/>
          <c:order val="3"/>
          <c:tx>
            <c:strRef>
              <c:f>Sheet5!$A$83</c:f>
              <c:strCache>
                <c:ptCount val="1"/>
                <c:pt idx="0">
                  <c:v>kiosk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Sheet5!$B$79:$BB$79</c:f>
              <c:numCache>
                <c:formatCode>General</c:formatCode>
                <c:ptCount val="53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</c:numCache>
            </c:numRef>
          </c:cat>
          <c:val>
            <c:numRef>
              <c:f>Sheet5!$B$83:$BB$83</c:f>
              <c:numCache>
                <c:formatCode>General</c:formatCode>
                <c:ptCount val="53"/>
                <c:pt idx="39" formatCode="0%">
                  <c:v>0.37500000000000006</c:v>
                </c:pt>
                <c:pt idx="40" formatCode="0%">
                  <c:v>0.24153846153846151</c:v>
                </c:pt>
                <c:pt idx="41" formatCode="0%">
                  <c:v>0.25923076923076926</c:v>
                </c:pt>
                <c:pt idx="42" formatCode="0%">
                  <c:v>0.30300000000000005</c:v>
                </c:pt>
                <c:pt idx="43" formatCode="0%">
                  <c:v>0.16800000000000004</c:v>
                </c:pt>
                <c:pt idx="44" formatCode="0%">
                  <c:v>0.15625000000000003</c:v>
                </c:pt>
                <c:pt idx="45" formatCode="0%">
                  <c:v>0.19750000000000001</c:v>
                </c:pt>
                <c:pt idx="46" formatCode="0%">
                  <c:v>0.13</c:v>
                </c:pt>
                <c:pt idx="47" formatCode="0%">
                  <c:v>0.24</c:v>
                </c:pt>
                <c:pt idx="48" formatCode="0%">
                  <c:v>0.13599999999999998</c:v>
                </c:pt>
                <c:pt idx="49" formatCode="0%">
                  <c:v>0.16666666666666666</c:v>
                </c:pt>
                <c:pt idx="50" formatCode="0%">
                  <c:v>0.12</c:v>
                </c:pt>
                <c:pt idx="51" formatCode="0%">
                  <c:v>0.1</c:v>
                </c:pt>
                <c:pt idx="52" formatCode="0%">
                  <c:v>0.1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308-4141-960E-3A541BFF5B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62341999"/>
        <c:axId val="1462437407"/>
      </c:lineChart>
      <c:catAx>
        <c:axId val="14623419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r>
                  <a:rPr lang="en-US"/>
                  <a:t>2024</a:t>
                </a:r>
                <a:r>
                  <a:rPr lang="zh-CN"/>
                  <a:t>年 周数</a:t>
                </a:r>
              </a:p>
            </c:rich>
          </c:tx>
          <c:layout>
            <c:manualLayout>
              <c:xMode val="edge"/>
              <c:yMode val="edge"/>
              <c:x val="0.48490274309136316"/>
              <c:y val="0.9206051883282441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462437407"/>
        <c:crosses val="autoZero"/>
        <c:auto val="1"/>
        <c:lblAlgn val="ctr"/>
        <c:lblOffset val="100"/>
        <c:noMultiLvlLbl val="0"/>
      </c:catAx>
      <c:valAx>
        <c:axId val="1462437407"/>
        <c:scaling>
          <c:orientation val="minMax"/>
        </c:scaling>
        <c:delete val="0"/>
        <c:axPos val="l"/>
        <c:majorGridlines>
          <c:spPr>
            <a:ln w="0" cap="flat" cmpd="sng" algn="ctr">
              <a:noFill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r>
                  <a:rPr lang="zh-CN"/>
                  <a:t>新客留存率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462341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938130818038823"/>
          <c:y val="8.8874789184801239E-2"/>
          <c:w val="0.21237374471272821"/>
          <c:h val="8.24758043634955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en-US" altLang="zh-CN" sz="1200" dirty="0"/>
              <a:t>2024</a:t>
            </a:r>
            <a:r>
              <a:rPr lang="zh-CN" altLang="en-US" sz="1200" dirty="0"/>
              <a:t> 月复购率</a:t>
            </a:r>
          </a:p>
        </c:rich>
      </c:tx>
      <c:layout>
        <c:manualLayout>
          <c:xMode val="edge"/>
          <c:yMode val="edge"/>
          <c:x val="0.35815344357855072"/>
          <c:y val="2.60585338962706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3.7150253762560148E-2"/>
          <c:y val="0.19199096257582204"/>
          <c:w val="0.9256994924748797"/>
          <c:h val="0.71117614636765758"/>
        </c:manualLayout>
      </c:layout>
      <c:lineChart>
        <c:grouping val="standard"/>
        <c:varyColors val="0"/>
        <c:ser>
          <c:idx val="2"/>
          <c:order val="0"/>
          <c:tx>
            <c:strRef>
              <c:f>'01'!$D$1</c:f>
              <c:strCache>
                <c:ptCount val="1"/>
                <c:pt idx="0">
                  <c:v>复购率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'01'!$A$2:$A$13</c:f>
              <c:strCache>
                <c:ptCount val="12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'01'!$D$2:$D$13</c:f>
              <c:numCache>
                <c:formatCode>0%</c:formatCode>
                <c:ptCount val="12"/>
                <c:pt idx="0">
                  <c:v>0.411625727597904</c:v>
                </c:pt>
                <c:pt idx="1">
                  <c:v>0.44793339647764552</c:v>
                </c:pt>
                <c:pt idx="2">
                  <c:v>0.43189523490182929</c:v>
                </c:pt>
                <c:pt idx="3">
                  <c:v>0.48132940913689576</c:v>
                </c:pt>
                <c:pt idx="4">
                  <c:v>0.46420369197919381</c:v>
                </c:pt>
                <c:pt idx="5">
                  <c:v>0.42483346478766165</c:v>
                </c:pt>
                <c:pt idx="6">
                  <c:v>0.50186892261576932</c:v>
                </c:pt>
                <c:pt idx="7">
                  <c:v>0.51457827538615009</c:v>
                </c:pt>
                <c:pt idx="8">
                  <c:v>0.50362692450193958</c:v>
                </c:pt>
                <c:pt idx="9">
                  <c:v>0.5209731397395897</c:v>
                </c:pt>
                <c:pt idx="10">
                  <c:v>0.53125921872261106</c:v>
                </c:pt>
                <c:pt idx="11">
                  <c:v>0.49951130308667274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3C0-7B48-B4DB-90B72A0EFC2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7671520"/>
        <c:axId val="12302527"/>
      </c:lineChart>
      <c:catAx>
        <c:axId val="2117671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25400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302527"/>
        <c:crosses val="autoZero"/>
        <c:auto val="1"/>
        <c:lblAlgn val="ctr"/>
        <c:lblOffset val="100"/>
        <c:noMultiLvlLbl val="1"/>
      </c:catAx>
      <c:valAx>
        <c:axId val="1230252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2117671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 dirty="0"/>
              <a:t> </a:t>
            </a:r>
            <a:r>
              <a:rPr lang="en-US" dirty="0"/>
              <a:t>2024</a:t>
            </a:r>
            <a:r>
              <a:rPr lang="zh-CN" dirty="0"/>
              <a:t> 周复购率</a:t>
            </a:r>
          </a:p>
        </c:rich>
      </c:tx>
      <c:layout>
        <c:manualLayout>
          <c:xMode val="edge"/>
          <c:yMode val="edge"/>
          <c:x val="0.45183676383896421"/>
          <c:y val="4.146102555601430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1.7593197666313332E-2"/>
          <c:y val="0.24863885605446581"/>
          <c:w val="0.96481360466737331"/>
          <c:h val="0.65373480463835376"/>
        </c:manualLayout>
      </c:layout>
      <c:lineChart>
        <c:grouping val="standard"/>
        <c:varyColors val="0"/>
        <c:ser>
          <c:idx val="2"/>
          <c:order val="0"/>
          <c:tx>
            <c:strRef>
              <c:f>'01'!$D$1</c:f>
              <c:strCache>
                <c:ptCount val="1"/>
                <c:pt idx="0">
                  <c:v>复购率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'01'!$A$2:$A$54</c:f>
              <c:numCache>
                <c:formatCode>m/d/yy</c:formatCode>
                <c:ptCount val="53"/>
                <c:pt idx="0">
                  <c:v>45292</c:v>
                </c:pt>
                <c:pt idx="1">
                  <c:v>45299</c:v>
                </c:pt>
                <c:pt idx="2">
                  <c:v>45306</c:v>
                </c:pt>
                <c:pt idx="3">
                  <c:v>45313</c:v>
                </c:pt>
                <c:pt idx="4">
                  <c:v>45320</c:v>
                </c:pt>
                <c:pt idx="5">
                  <c:v>45327</c:v>
                </c:pt>
                <c:pt idx="6">
                  <c:v>45334</c:v>
                </c:pt>
                <c:pt idx="7">
                  <c:v>45341</c:v>
                </c:pt>
                <c:pt idx="8">
                  <c:v>45348</c:v>
                </c:pt>
                <c:pt idx="9">
                  <c:v>45355</c:v>
                </c:pt>
                <c:pt idx="10">
                  <c:v>45362</c:v>
                </c:pt>
                <c:pt idx="11">
                  <c:v>45369</c:v>
                </c:pt>
                <c:pt idx="12">
                  <c:v>45376</c:v>
                </c:pt>
                <c:pt idx="13">
                  <c:v>45383</c:v>
                </c:pt>
                <c:pt idx="14">
                  <c:v>45390</c:v>
                </c:pt>
                <c:pt idx="15">
                  <c:v>45397</c:v>
                </c:pt>
                <c:pt idx="16">
                  <c:v>45404</c:v>
                </c:pt>
                <c:pt idx="17">
                  <c:v>45411</c:v>
                </c:pt>
                <c:pt idx="18">
                  <c:v>45418</c:v>
                </c:pt>
                <c:pt idx="19">
                  <c:v>45425</c:v>
                </c:pt>
                <c:pt idx="20">
                  <c:v>45432</c:v>
                </c:pt>
                <c:pt idx="21">
                  <c:v>45439</c:v>
                </c:pt>
                <c:pt idx="22">
                  <c:v>45446</c:v>
                </c:pt>
                <c:pt idx="23">
                  <c:v>45453</c:v>
                </c:pt>
                <c:pt idx="24">
                  <c:v>45460</c:v>
                </c:pt>
                <c:pt idx="25">
                  <c:v>45467</c:v>
                </c:pt>
                <c:pt idx="26">
                  <c:v>45474</c:v>
                </c:pt>
                <c:pt idx="27">
                  <c:v>45481</c:v>
                </c:pt>
                <c:pt idx="28">
                  <c:v>45488</c:v>
                </c:pt>
                <c:pt idx="29">
                  <c:v>45495</c:v>
                </c:pt>
                <c:pt idx="30">
                  <c:v>45502</c:v>
                </c:pt>
                <c:pt idx="31">
                  <c:v>45509</c:v>
                </c:pt>
                <c:pt idx="32">
                  <c:v>45516</c:v>
                </c:pt>
                <c:pt idx="33">
                  <c:v>45523</c:v>
                </c:pt>
                <c:pt idx="34">
                  <c:v>45530</c:v>
                </c:pt>
                <c:pt idx="35">
                  <c:v>45537</c:v>
                </c:pt>
                <c:pt idx="36">
                  <c:v>45544</c:v>
                </c:pt>
                <c:pt idx="37">
                  <c:v>45551</c:v>
                </c:pt>
                <c:pt idx="38">
                  <c:v>45558</c:v>
                </c:pt>
                <c:pt idx="39">
                  <c:v>45565</c:v>
                </c:pt>
                <c:pt idx="40">
                  <c:v>45572</c:v>
                </c:pt>
                <c:pt idx="41">
                  <c:v>45579</c:v>
                </c:pt>
                <c:pt idx="42">
                  <c:v>45586</c:v>
                </c:pt>
                <c:pt idx="43">
                  <c:v>45593</c:v>
                </c:pt>
                <c:pt idx="44">
                  <c:v>45600</c:v>
                </c:pt>
                <c:pt idx="45">
                  <c:v>45607</c:v>
                </c:pt>
                <c:pt idx="46">
                  <c:v>45614</c:v>
                </c:pt>
                <c:pt idx="47">
                  <c:v>45621</c:v>
                </c:pt>
                <c:pt idx="48">
                  <c:v>45628</c:v>
                </c:pt>
                <c:pt idx="49">
                  <c:v>45635</c:v>
                </c:pt>
                <c:pt idx="50">
                  <c:v>45642</c:v>
                </c:pt>
                <c:pt idx="51">
                  <c:v>45649</c:v>
                </c:pt>
                <c:pt idx="52">
                  <c:v>45656</c:v>
                </c:pt>
              </c:numCache>
            </c:numRef>
          </c:cat>
          <c:val>
            <c:numRef>
              <c:f>'01'!$D$2:$D$54</c:f>
              <c:numCache>
                <c:formatCode>0%</c:formatCode>
                <c:ptCount val="53"/>
                <c:pt idx="0">
                  <c:v>0.27253947476069706</c:v>
                </c:pt>
                <c:pt idx="1">
                  <c:v>0.26238189576348675</c:v>
                </c:pt>
                <c:pt idx="2">
                  <c:v>0.31020899229619853</c:v>
                </c:pt>
                <c:pt idx="3">
                  <c:v>0.32418911185364324</c:v>
                </c:pt>
                <c:pt idx="4">
                  <c:v>0.34194898579758881</c:v>
                </c:pt>
                <c:pt idx="5">
                  <c:v>0.35501796026910637</c:v>
                </c:pt>
                <c:pt idx="6">
                  <c:v>0.30711126766075691</c:v>
                </c:pt>
                <c:pt idx="7">
                  <c:v>0.31208905187901687</c:v>
                </c:pt>
                <c:pt idx="8">
                  <c:v>0.32949348971969139</c:v>
                </c:pt>
                <c:pt idx="9">
                  <c:v>0.34290739600738723</c:v>
                </c:pt>
                <c:pt idx="10">
                  <c:v>0.3204560381266735</c:v>
                </c:pt>
                <c:pt idx="11">
                  <c:v>0.34466247627670504</c:v>
                </c:pt>
                <c:pt idx="12">
                  <c:v>0.35585975543772319</c:v>
                </c:pt>
                <c:pt idx="13">
                  <c:v>0.36134742959833294</c:v>
                </c:pt>
                <c:pt idx="14">
                  <c:v>0.34865453998797352</c:v>
                </c:pt>
                <c:pt idx="15">
                  <c:v>0.34033745546007127</c:v>
                </c:pt>
                <c:pt idx="16">
                  <c:v>0.36280655083548091</c:v>
                </c:pt>
                <c:pt idx="17">
                  <c:v>0.3563690562745383</c:v>
                </c:pt>
                <c:pt idx="18">
                  <c:v>0.3575368773750664</c:v>
                </c:pt>
                <c:pt idx="19">
                  <c:v>0.32821465949691436</c:v>
                </c:pt>
                <c:pt idx="20">
                  <c:v>0.33427825773938086</c:v>
                </c:pt>
                <c:pt idx="21">
                  <c:v>0.38660879824709254</c:v>
                </c:pt>
                <c:pt idx="22">
                  <c:v>0.37437820272465944</c:v>
                </c:pt>
                <c:pt idx="23">
                  <c:v>0.39237141444114737</c:v>
                </c:pt>
                <c:pt idx="24">
                  <c:v>0.37062057565848577</c:v>
                </c:pt>
                <c:pt idx="25">
                  <c:v>0.37427969924812032</c:v>
                </c:pt>
                <c:pt idx="26">
                  <c:v>0.38296859580890463</c:v>
                </c:pt>
                <c:pt idx="27">
                  <c:v>0.40678066737917112</c:v>
                </c:pt>
                <c:pt idx="28">
                  <c:v>0.39868367834687651</c:v>
                </c:pt>
                <c:pt idx="29">
                  <c:v>0.37077929038482155</c:v>
                </c:pt>
                <c:pt idx="30">
                  <c:v>0.3683508815650115</c:v>
                </c:pt>
                <c:pt idx="31">
                  <c:v>0.34660915967257278</c:v>
                </c:pt>
                <c:pt idx="32">
                  <c:v>0.34869720372110763</c:v>
                </c:pt>
                <c:pt idx="33">
                  <c:v>0.35225240513269024</c:v>
                </c:pt>
                <c:pt idx="34">
                  <c:v>0.32546653926297731</c:v>
                </c:pt>
                <c:pt idx="35">
                  <c:v>0.36270316509837469</c:v>
                </c:pt>
                <c:pt idx="36">
                  <c:v>0.36363744146066751</c:v>
                </c:pt>
                <c:pt idx="37">
                  <c:v>0.36576714167826485</c:v>
                </c:pt>
                <c:pt idx="38">
                  <c:v>0.35060096581673211</c:v>
                </c:pt>
                <c:pt idx="39">
                  <c:v>0.35451674619090429</c:v>
                </c:pt>
                <c:pt idx="40">
                  <c:v>0.36887214071529512</c:v>
                </c:pt>
                <c:pt idx="41">
                  <c:v>0.37381603387210283</c:v>
                </c:pt>
                <c:pt idx="42">
                  <c:v>0.38143216984526807</c:v>
                </c:pt>
                <c:pt idx="43">
                  <c:v>0.38469670457859434</c:v>
                </c:pt>
                <c:pt idx="44">
                  <c:v>0.36697419128809994</c:v>
                </c:pt>
                <c:pt idx="45">
                  <c:v>0.3649197761627232</c:v>
                </c:pt>
                <c:pt idx="46">
                  <c:v>0.35305692500187147</c:v>
                </c:pt>
                <c:pt idx="47">
                  <c:v>0.37939129705709734</c:v>
                </c:pt>
                <c:pt idx="48">
                  <c:v>0.36646215488637074</c:v>
                </c:pt>
                <c:pt idx="49">
                  <c:v>0.37344745829073589</c:v>
                </c:pt>
                <c:pt idx="50">
                  <c:v>0.35125790950009783</c:v>
                </c:pt>
                <c:pt idx="51">
                  <c:v>0.34354163792707038</c:v>
                </c:pt>
                <c:pt idx="52">
                  <c:v>0.34357677835938705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982-8C40-9D55-1F6E182A54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00127615"/>
        <c:axId val="1815500607"/>
      </c:lineChart>
      <c:dateAx>
        <c:axId val="1500127615"/>
        <c:scaling>
          <c:orientation val="minMax"/>
        </c:scaling>
        <c:delete val="0"/>
        <c:axPos val="b"/>
        <c:numFmt formatCode="m/d;@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815500607"/>
        <c:crosses val="autoZero"/>
        <c:auto val="0"/>
        <c:lblOffset val="100"/>
        <c:baseTimeUnit val="days"/>
      </c:dateAx>
      <c:valAx>
        <c:axId val="1815500607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50012761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en-US" sz="1100"/>
              <a:t>2024</a:t>
            </a:r>
            <a:r>
              <a:rPr lang="zh-CN" sz="1100"/>
              <a:t> 咖啡库券月量价趋势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9.1898554680035369E-2"/>
          <c:y val="0.1346339562917401"/>
          <c:w val="0.86155509940400299"/>
          <c:h val="0.760252159641875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'01'!$F$1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'01'!$B$2:$B$26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'01'!$F$2:$F$26</c:f>
              <c:numCache>
                <c:formatCode>General</c:formatCode>
                <c:ptCount val="12"/>
                <c:pt idx="0">
                  <c:v>783</c:v>
                </c:pt>
                <c:pt idx="1">
                  <c:v>1750</c:v>
                </c:pt>
                <c:pt idx="2">
                  <c:v>570</c:v>
                </c:pt>
                <c:pt idx="3">
                  <c:v>523</c:v>
                </c:pt>
                <c:pt idx="4">
                  <c:v>1203</c:v>
                </c:pt>
                <c:pt idx="5">
                  <c:v>655</c:v>
                </c:pt>
                <c:pt idx="6">
                  <c:v>522</c:v>
                </c:pt>
                <c:pt idx="7">
                  <c:v>1753</c:v>
                </c:pt>
                <c:pt idx="8">
                  <c:v>426</c:v>
                </c:pt>
                <c:pt idx="9">
                  <c:v>395</c:v>
                </c:pt>
                <c:pt idx="10">
                  <c:v>6750</c:v>
                </c:pt>
                <c:pt idx="11">
                  <c:v>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11-534F-884B-50756972CF1A}"/>
            </c:ext>
          </c:extLst>
        </c:ser>
        <c:ser>
          <c:idx val="2"/>
          <c:order val="2"/>
          <c:tx>
            <c:strRef>
              <c:f>'01'!$D$1</c:f>
              <c:strCache>
                <c:ptCount val="1"/>
                <c:pt idx="0">
                  <c:v>用户量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'01'!$D$3:$D$26</c:f>
              <c:numCache>
                <c:formatCode>General</c:formatCode>
                <c:ptCount val="12"/>
                <c:pt idx="0">
                  <c:v>708</c:v>
                </c:pt>
                <c:pt idx="1">
                  <c:v>1466</c:v>
                </c:pt>
                <c:pt idx="2">
                  <c:v>519</c:v>
                </c:pt>
                <c:pt idx="3">
                  <c:v>465</c:v>
                </c:pt>
                <c:pt idx="4">
                  <c:v>1115</c:v>
                </c:pt>
                <c:pt idx="5">
                  <c:v>604</c:v>
                </c:pt>
                <c:pt idx="6">
                  <c:v>464</c:v>
                </c:pt>
                <c:pt idx="7">
                  <c:v>1569</c:v>
                </c:pt>
                <c:pt idx="8">
                  <c:v>388</c:v>
                </c:pt>
                <c:pt idx="9">
                  <c:v>357</c:v>
                </c:pt>
                <c:pt idx="10">
                  <c:v>5086</c:v>
                </c:pt>
                <c:pt idx="11">
                  <c:v>705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11-534F-884B-50756972CF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44365103"/>
        <c:axId val="1549687903"/>
      </c:barChart>
      <c:lineChart>
        <c:grouping val="standard"/>
        <c:varyColors val="0"/>
        <c:ser>
          <c:idx val="1"/>
          <c:order val="1"/>
          <c:tx>
            <c:strRef>
              <c:f>'01'!$K$1</c:f>
              <c:strCache>
                <c:ptCount val="1"/>
                <c:pt idx="0">
                  <c:v>单价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'01'!$B$2:$B$26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'01'!$K$2:$K$26</c:f>
              <c:numCache>
                <c:formatCode>0.00_ </c:formatCode>
                <c:ptCount val="12"/>
                <c:pt idx="0">
                  <c:v>4.4649230769230766</c:v>
                </c:pt>
                <c:pt idx="1">
                  <c:v>4.0645567627145329</c:v>
                </c:pt>
                <c:pt idx="2">
                  <c:v>4.4215650257163848</c:v>
                </c:pt>
                <c:pt idx="3">
                  <c:v>4.3875745335641474</c:v>
                </c:pt>
                <c:pt idx="4">
                  <c:v>4.4461760759624314</c:v>
                </c:pt>
                <c:pt idx="5">
                  <c:v>4.4267274107820809</c:v>
                </c:pt>
                <c:pt idx="6">
                  <c:v>4.382558371582518</c:v>
                </c:pt>
                <c:pt idx="7">
                  <c:v>4.0124330858228285</c:v>
                </c:pt>
                <c:pt idx="8">
                  <c:v>4.3571428571428568</c:v>
                </c:pt>
                <c:pt idx="9">
                  <c:v>4.3803786574870909</c:v>
                </c:pt>
                <c:pt idx="10">
                  <c:v>3.864729574223245</c:v>
                </c:pt>
                <c:pt idx="11">
                  <c:v>4.568572756857276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811-534F-884B-50756972CF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79456223"/>
        <c:axId val="1579514623"/>
      </c:lineChart>
      <c:catAx>
        <c:axId val="1544365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r>
                  <a:rPr lang="zh-CN"/>
                  <a:t>月份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9687903"/>
        <c:crosses val="autoZero"/>
        <c:auto val="1"/>
        <c:lblAlgn val="ctr"/>
        <c:lblOffset val="100"/>
        <c:noMultiLvlLbl val="0"/>
      </c:catAx>
      <c:valAx>
        <c:axId val="154968790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4365103"/>
        <c:crosses val="autoZero"/>
        <c:crossBetween val="between"/>
      </c:valAx>
      <c:valAx>
        <c:axId val="1579514623"/>
        <c:scaling>
          <c:orientation val="minMax"/>
          <c:max val="7"/>
          <c:min val="0"/>
        </c:scaling>
        <c:delete val="0"/>
        <c:axPos val="r"/>
        <c:numFmt formatCode="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79456223"/>
        <c:crosses val="max"/>
        <c:crossBetween val="between"/>
      </c:valAx>
      <c:catAx>
        <c:axId val="15794562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95146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en-US" sz="1100"/>
              <a:t>2024</a:t>
            </a:r>
            <a:r>
              <a:rPr lang="zh-CN" sz="1100"/>
              <a:t> </a:t>
            </a:r>
            <a:r>
              <a:rPr lang="zh-CN" altLang="en-US" sz="1100"/>
              <a:t>付费会员</a:t>
            </a:r>
            <a:r>
              <a:rPr lang="zh-CN" sz="1100"/>
              <a:t>月量价趋势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9.4465749181476419E-2"/>
          <c:y val="0.20780837035507091"/>
          <c:w val="0.85768771301723701"/>
          <c:h val="0.691475706855394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'01 (2)'!$F$1</c:f>
              <c:strCache>
                <c:ptCount val="1"/>
                <c:pt idx="0">
                  <c:v>订单量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'01 (2)'!$B$2:$B$26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'01 (2)'!$F$2:$F$26</c:f>
              <c:numCache>
                <c:formatCode>General</c:formatCode>
                <c:ptCount val="12"/>
                <c:pt idx="0">
                  <c:v>295</c:v>
                </c:pt>
                <c:pt idx="1">
                  <c:v>296</c:v>
                </c:pt>
                <c:pt idx="2">
                  <c:v>338</c:v>
                </c:pt>
                <c:pt idx="3">
                  <c:v>354</c:v>
                </c:pt>
                <c:pt idx="4">
                  <c:v>334</c:v>
                </c:pt>
                <c:pt idx="5">
                  <c:v>378</c:v>
                </c:pt>
                <c:pt idx="6">
                  <c:v>523</c:v>
                </c:pt>
                <c:pt idx="7">
                  <c:v>541</c:v>
                </c:pt>
                <c:pt idx="8">
                  <c:v>623</c:v>
                </c:pt>
                <c:pt idx="9">
                  <c:v>561</c:v>
                </c:pt>
                <c:pt idx="10">
                  <c:v>379</c:v>
                </c:pt>
                <c:pt idx="11">
                  <c:v>252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2-0B4D-976E-E22C601E552A}"/>
            </c:ext>
          </c:extLst>
        </c:ser>
        <c:ser>
          <c:idx val="2"/>
          <c:order val="2"/>
          <c:tx>
            <c:strRef>
              <c:f>'01 (2)'!$D$1</c:f>
              <c:strCache>
                <c:ptCount val="1"/>
                <c:pt idx="0">
                  <c:v>用户量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'01 (2)'!$D$3:$D$26</c:f>
              <c:numCache>
                <c:formatCode>General</c:formatCode>
                <c:ptCount val="11"/>
                <c:pt idx="0">
                  <c:v>293</c:v>
                </c:pt>
                <c:pt idx="1">
                  <c:v>331</c:v>
                </c:pt>
                <c:pt idx="2">
                  <c:v>352</c:v>
                </c:pt>
                <c:pt idx="3">
                  <c:v>331</c:v>
                </c:pt>
                <c:pt idx="4">
                  <c:v>374</c:v>
                </c:pt>
                <c:pt idx="5">
                  <c:v>511</c:v>
                </c:pt>
                <c:pt idx="6">
                  <c:v>532</c:v>
                </c:pt>
                <c:pt idx="7">
                  <c:v>617</c:v>
                </c:pt>
                <c:pt idx="8">
                  <c:v>555</c:v>
                </c:pt>
                <c:pt idx="9">
                  <c:v>374</c:v>
                </c:pt>
                <c:pt idx="10">
                  <c:v>251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C2-0B4D-976E-E22C601E55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544365103"/>
        <c:axId val="1549687903"/>
      </c:barChart>
      <c:lineChart>
        <c:grouping val="standard"/>
        <c:varyColors val="0"/>
        <c:ser>
          <c:idx val="1"/>
          <c:order val="1"/>
          <c:tx>
            <c:strRef>
              <c:f>'01 (2)'!$K$1</c:f>
              <c:strCache>
                <c:ptCount val="1"/>
                <c:pt idx="0">
                  <c:v>单价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'01 (2)'!$B$2:$B$26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cat>
          <c:val>
            <c:numRef>
              <c:f>'01 (2)'!$K$2:$K$26</c:f>
              <c:numCache>
                <c:formatCode>0.00_ </c:formatCode>
                <c:ptCount val="12"/>
                <c:pt idx="0">
                  <c:v>5.9</c:v>
                </c:pt>
                <c:pt idx="1">
                  <c:v>5.9</c:v>
                </c:pt>
                <c:pt idx="2">
                  <c:v>5.9</c:v>
                </c:pt>
                <c:pt idx="3">
                  <c:v>5.8999999999999995</c:v>
                </c:pt>
                <c:pt idx="4">
                  <c:v>5.8999999999999995</c:v>
                </c:pt>
                <c:pt idx="5">
                  <c:v>5.8999999999999995</c:v>
                </c:pt>
                <c:pt idx="6">
                  <c:v>5.8999999999999995</c:v>
                </c:pt>
                <c:pt idx="7">
                  <c:v>5.9</c:v>
                </c:pt>
                <c:pt idx="8">
                  <c:v>5.8999999999999995</c:v>
                </c:pt>
                <c:pt idx="9">
                  <c:v>5.9</c:v>
                </c:pt>
                <c:pt idx="10">
                  <c:v>5.8999999999999995</c:v>
                </c:pt>
                <c:pt idx="11">
                  <c:v>5.8999999999999995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EC2-0B4D-976E-E22C601E55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79456223"/>
        <c:axId val="1579514623"/>
      </c:lineChart>
      <c:catAx>
        <c:axId val="154436510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r>
                  <a:rPr lang="zh-CN"/>
                  <a:t>月份</a:t>
                </a:r>
              </a:p>
            </c:rich>
          </c:tx>
          <c:layout>
            <c:manualLayout>
              <c:xMode val="edge"/>
              <c:yMode val="edge"/>
              <c:x val="0.49575559348091741"/>
              <c:y val="0.929693214708727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aiTi" panose="02010609060101010101" pitchFamily="49" charset="-122"/>
                  <a:ea typeface="KaiTi" panose="02010609060101010101" pitchFamily="49" charset="-122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9687903"/>
        <c:crosses val="autoZero"/>
        <c:auto val="1"/>
        <c:lblAlgn val="ctr"/>
        <c:lblOffset val="100"/>
        <c:noMultiLvlLbl val="0"/>
      </c:catAx>
      <c:valAx>
        <c:axId val="1549687903"/>
        <c:scaling>
          <c:orientation val="minMax"/>
          <c:max val="100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4365103"/>
        <c:crosses val="autoZero"/>
        <c:crossBetween val="between"/>
      </c:valAx>
      <c:valAx>
        <c:axId val="1579514623"/>
        <c:scaling>
          <c:orientation val="minMax"/>
          <c:max val="7"/>
          <c:min val="0"/>
        </c:scaling>
        <c:delete val="0"/>
        <c:axPos val="r"/>
        <c:numFmt formatCode="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79456223"/>
        <c:crosses val="max"/>
        <c:crossBetween val="between"/>
      </c:valAx>
      <c:catAx>
        <c:axId val="157945622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7951462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触达成功率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20719319892415983"/>
          <c:w val="0.89036252217932799"/>
          <c:h val="0.7147483547498313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推送人数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Sheet1!$C$2:$C$41</c:f>
              <c:numCache>
                <c:formatCode>General</c:formatCode>
                <c:ptCount val="9"/>
                <c:pt idx="0">
                  <c:v>356700</c:v>
                </c:pt>
                <c:pt idx="1">
                  <c:v>3018391</c:v>
                </c:pt>
                <c:pt idx="2">
                  <c:v>5044959</c:v>
                </c:pt>
                <c:pt idx="3">
                  <c:v>4529175</c:v>
                </c:pt>
                <c:pt idx="4">
                  <c:v>8510836</c:v>
                </c:pt>
                <c:pt idx="5">
                  <c:v>24186219</c:v>
                </c:pt>
                <c:pt idx="6">
                  <c:v>17258372</c:v>
                </c:pt>
                <c:pt idx="7">
                  <c:v>16362015</c:v>
                </c:pt>
                <c:pt idx="8">
                  <c:v>23196771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35-374A-AD33-42DA8AC62BF4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成功人数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Sheet1!$D$2:$D$41</c:f>
              <c:numCache>
                <c:formatCode>General</c:formatCode>
                <c:ptCount val="9"/>
                <c:pt idx="0">
                  <c:v>283557</c:v>
                </c:pt>
                <c:pt idx="1">
                  <c:v>2529714</c:v>
                </c:pt>
                <c:pt idx="2">
                  <c:v>4251205</c:v>
                </c:pt>
                <c:pt idx="3">
                  <c:v>4029179</c:v>
                </c:pt>
                <c:pt idx="4">
                  <c:v>7466171</c:v>
                </c:pt>
                <c:pt idx="5">
                  <c:v>16365338</c:v>
                </c:pt>
                <c:pt idx="6">
                  <c:v>12473525</c:v>
                </c:pt>
                <c:pt idx="7">
                  <c:v>11592260</c:v>
                </c:pt>
                <c:pt idx="8">
                  <c:v>14980345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35-374A-AD33-42DA8AC62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4"/>
          <c:order val="2"/>
          <c:tx>
            <c:strRef>
              <c:f>Sheet1!$G$1</c:f>
              <c:strCache>
                <c:ptCount val="1"/>
                <c:pt idx="0">
                  <c:v>触达成功率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Sheet1!$G$2:$G$41</c:f>
              <c:numCache>
                <c:formatCode>0.00%</c:formatCode>
                <c:ptCount val="9"/>
                <c:pt idx="0">
                  <c:v>0.79494533221194286</c:v>
                </c:pt>
                <c:pt idx="1">
                  <c:v>0.83810016661194653</c:v>
                </c:pt>
                <c:pt idx="2">
                  <c:v>0.84266393443435317</c:v>
                </c:pt>
                <c:pt idx="3">
                  <c:v>0.88960550210579192</c:v>
                </c:pt>
                <c:pt idx="4">
                  <c:v>0.87725471387299669</c:v>
                </c:pt>
                <c:pt idx="5">
                  <c:v>0.67663895708543775</c:v>
                </c:pt>
                <c:pt idx="6">
                  <c:v>0.72275212285376622</c:v>
                </c:pt>
                <c:pt idx="7">
                  <c:v>0.70848608805211344</c:v>
                </c:pt>
                <c:pt idx="8">
                  <c:v>0.64579440819586487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035-374A-AD33-42DA8AC62B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7384079"/>
        <c:axId val="116141222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61412223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57384079"/>
        <c:crosses val="max"/>
        <c:crossBetween val="between"/>
      </c:valAx>
      <c:dateAx>
        <c:axId val="1257384079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61412223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421881857380268"/>
          <c:y val="0.13044953578011276"/>
          <c:w val="0.36534872791175338"/>
          <c:h val="4.5072858660597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触达点击（启动）率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19924233790270743"/>
          <c:w val="0.89036252217932799"/>
          <c:h val="0.70532597249258067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Sheet1!$E$1</c:f>
              <c:strCache>
                <c:ptCount val="1"/>
                <c:pt idx="0">
                  <c:v>点击人数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Sheet1!$E$2:$E$41</c:f>
              <c:numCache>
                <c:formatCode>General</c:formatCode>
                <c:ptCount val="9"/>
                <c:pt idx="0">
                  <c:v>5575</c:v>
                </c:pt>
                <c:pt idx="1">
                  <c:v>47712</c:v>
                </c:pt>
                <c:pt idx="2">
                  <c:v>47216</c:v>
                </c:pt>
                <c:pt idx="3">
                  <c:v>54021</c:v>
                </c:pt>
                <c:pt idx="4">
                  <c:v>49206</c:v>
                </c:pt>
                <c:pt idx="5">
                  <c:v>108463</c:v>
                </c:pt>
                <c:pt idx="6">
                  <c:v>71824</c:v>
                </c:pt>
                <c:pt idx="7">
                  <c:v>73504</c:v>
                </c:pt>
                <c:pt idx="8">
                  <c:v>78508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B9-D248-96ED-F7C6291BE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5"/>
          <c:order val="1"/>
          <c:tx>
            <c:strRef>
              <c:f>Sheet1!$H$1</c:f>
              <c:strCache>
                <c:ptCount val="1"/>
                <c:pt idx="0">
                  <c:v>触达点击率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Sheet1!$H$2:$H$41</c:f>
              <c:numCache>
                <c:formatCode>0.00%</c:formatCode>
                <c:ptCount val="9"/>
                <c:pt idx="0">
                  <c:v>1.9660950002997633E-2</c:v>
                </c:pt>
                <c:pt idx="1">
                  <c:v>1.8860630094943539E-2</c:v>
                </c:pt>
                <c:pt idx="2">
                  <c:v>1.1106498039967492E-2</c:v>
                </c:pt>
                <c:pt idx="3">
                  <c:v>1.3407446033050406E-2</c:v>
                </c:pt>
                <c:pt idx="4">
                  <c:v>6.5905267907740124E-3</c:v>
                </c:pt>
                <c:pt idx="5">
                  <c:v>6.6276052471388007E-3</c:v>
                </c:pt>
                <c:pt idx="6">
                  <c:v>5.7581156890293642E-3</c:v>
                </c:pt>
                <c:pt idx="7">
                  <c:v>6.3407825566369281E-3</c:v>
                </c:pt>
                <c:pt idx="8">
                  <c:v>5.2407337748229428E-3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B9-D248-96ED-F7C6291BE9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215295"/>
        <c:axId val="856984607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856984607"/>
        <c:scaling>
          <c:orientation val="minMax"/>
          <c:max val="0.05"/>
          <c:min val="0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57215295"/>
        <c:crosses val="max"/>
        <c:crossBetween val="between"/>
      </c:valAx>
      <c:dateAx>
        <c:axId val="857215295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85698460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077155431481124"/>
          <c:y val="0.12913580021790763"/>
          <c:w val="0.37530605483845764"/>
          <c:h val="4.82884603758048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触达完单（当天）率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2454112617909678E-2"/>
          <c:y val="0.12852589339794063"/>
          <c:w val="0.86682965917601618"/>
          <c:h val="0.79663991520290733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Sheet1!$F$1</c:f>
              <c:strCache>
                <c:ptCount val="1"/>
                <c:pt idx="0">
                  <c:v>完单人数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Sheet1!$F$2:$F$41</c:f>
              <c:numCache>
                <c:formatCode>General</c:formatCode>
                <c:ptCount val="9"/>
                <c:pt idx="0">
                  <c:v>1049</c:v>
                </c:pt>
                <c:pt idx="1">
                  <c:v>8568</c:v>
                </c:pt>
                <c:pt idx="2">
                  <c:v>8996</c:v>
                </c:pt>
                <c:pt idx="3">
                  <c:v>9373</c:v>
                </c:pt>
                <c:pt idx="4">
                  <c:v>7324</c:v>
                </c:pt>
                <c:pt idx="5">
                  <c:v>19497</c:v>
                </c:pt>
                <c:pt idx="6">
                  <c:v>17878</c:v>
                </c:pt>
                <c:pt idx="7">
                  <c:v>21799</c:v>
                </c:pt>
                <c:pt idx="8">
                  <c:v>14821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F4-9B46-AE5D-1FA94A3C7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6"/>
          <c:order val="1"/>
          <c:tx>
            <c:strRef>
              <c:f>Sheet1!$I$1</c:f>
              <c:strCache>
                <c:ptCount val="1"/>
                <c:pt idx="0">
                  <c:v>触达完单率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Sheet1!$A$2:$A$40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Sheet1!$I$2:$I$41</c:f>
              <c:numCache>
                <c:formatCode>0.00%</c:formatCode>
                <c:ptCount val="9"/>
                <c:pt idx="0">
                  <c:v>3.6994325655864604E-3</c:v>
                </c:pt>
                <c:pt idx="1">
                  <c:v>3.3869441367680299E-3</c:v>
                </c:pt>
                <c:pt idx="2">
                  <c:v>2.1161059040907225E-3</c:v>
                </c:pt>
                <c:pt idx="3">
                  <c:v>2.3262803662979482E-3</c:v>
                </c:pt>
                <c:pt idx="4">
                  <c:v>9.8095797698713309E-4</c:v>
                </c:pt>
                <c:pt idx="5">
                  <c:v>1.1913594451883609E-3</c:v>
                </c:pt>
                <c:pt idx="6">
                  <c:v>1.433275677885762E-3</c:v>
                </c:pt>
                <c:pt idx="7">
                  <c:v>1.8804788712468493E-3</c:v>
                </c:pt>
                <c:pt idx="8">
                  <c:v>9.8936306206565995E-4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F4-9B46-AE5D-1FA94A3C77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7264143"/>
        <c:axId val="112426158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24261583"/>
        <c:scaling>
          <c:orientation val="minMax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707264143"/>
        <c:crosses val="max"/>
        <c:crossBetween val="between"/>
      </c:valAx>
      <c:dateAx>
        <c:axId val="1707264143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24261583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053333276174714"/>
          <c:y val="0.14381897081087586"/>
          <c:w val="0.31860761609986749"/>
          <c:h val="4.5072858660597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触达成功率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4.5199860789107801E-2"/>
          <c:y val="0.22815500177363501"/>
          <c:w val="0.90933706085730703"/>
          <c:h val="0.68609691338353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推送人数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Sheet1!$C$2:$C$41</c:f>
              <c:numCache>
                <c:formatCode>General</c:formatCode>
                <c:ptCount val="9"/>
                <c:pt idx="0">
                  <c:v>489769</c:v>
                </c:pt>
                <c:pt idx="1">
                  <c:v>1432415</c:v>
                </c:pt>
                <c:pt idx="2">
                  <c:v>4230492</c:v>
                </c:pt>
                <c:pt idx="3">
                  <c:v>5171611</c:v>
                </c:pt>
                <c:pt idx="4">
                  <c:v>11112532</c:v>
                </c:pt>
                <c:pt idx="5">
                  <c:v>8814664</c:v>
                </c:pt>
                <c:pt idx="6">
                  <c:v>8111246</c:v>
                </c:pt>
                <c:pt idx="7">
                  <c:v>8206171</c:v>
                </c:pt>
                <c:pt idx="8">
                  <c:v>10180241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EF-5B42-84E3-8970DF3F5A7A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成功人数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Sheet1!$D$2:$D$41</c:f>
              <c:numCache>
                <c:formatCode>General</c:formatCode>
                <c:ptCount val="9"/>
                <c:pt idx="0">
                  <c:v>391324</c:v>
                </c:pt>
                <c:pt idx="1">
                  <c:v>1114363</c:v>
                </c:pt>
                <c:pt idx="2">
                  <c:v>3540885</c:v>
                </c:pt>
                <c:pt idx="3">
                  <c:v>4345456</c:v>
                </c:pt>
                <c:pt idx="4">
                  <c:v>10142242</c:v>
                </c:pt>
                <c:pt idx="5">
                  <c:v>7979754</c:v>
                </c:pt>
                <c:pt idx="6">
                  <c:v>7435607</c:v>
                </c:pt>
                <c:pt idx="7">
                  <c:v>7583603</c:v>
                </c:pt>
                <c:pt idx="8">
                  <c:v>8231981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EF-5B42-84E3-8970DF3F5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4"/>
          <c:order val="2"/>
          <c:tx>
            <c:strRef>
              <c:f>Sheet1!$G$1</c:f>
              <c:strCache>
                <c:ptCount val="1"/>
                <c:pt idx="0">
                  <c:v>触达成功率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Sheet1!$G$2:$G$41</c:f>
              <c:numCache>
                <c:formatCode>0.00%</c:formatCode>
                <c:ptCount val="9"/>
                <c:pt idx="0">
                  <c:v>0.79899707821442356</c:v>
                </c:pt>
                <c:pt idx="1">
                  <c:v>0.77796099594042234</c:v>
                </c:pt>
                <c:pt idx="2">
                  <c:v>0.83699130030265978</c:v>
                </c:pt>
                <c:pt idx="3">
                  <c:v>0.84025190603082867</c:v>
                </c:pt>
                <c:pt idx="4">
                  <c:v>0.91268506583378117</c:v>
                </c:pt>
                <c:pt idx="5">
                  <c:v>0.9052816987692327</c:v>
                </c:pt>
                <c:pt idx="6">
                  <c:v>0.916703426329321</c:v>
                </c:pt>
                <c:pt idx="7">
                  <c:v>0.9241341668361529</c:v>
                </c:pt>
                <c:pt idx="8">
                  <c:v>0.80862339113582871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EF-5B42-84E3-8970DF3F5A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7384079"/>
        <c:axId val="116141222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61412223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57384079"/>
        <c:crosses val="max"/>
        <c:crossBetween val="between"/>
      </c:valAx>
      <c:dateAx>
        <c:axId val="1257384079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61412223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100391794291297"/>
          <c:y val="0.12096477552662215"/>
          <c:w val="0.30424972288755925"/>
          <c:h val="4.5072858660597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触达点击（启动）率</a:t>
            </a:r>
          </a:p>
        </c:rich>
      </c:tx>
      <c:layout>
        <c:manualLayout>
          <c:xMode val="edge"/>
          <c:yMode val="edge"/>
          <c:x val="0.399056283549168"/>
          <c:y val="8.36922590281231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28274213090863298"/>
          <c:w val="0.89036252217932799"/>
          <c:h val="0.58275939464020665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Sheet1!$E$1</c:f>
              <c:strCache>
                <c:ptCount val="1"/>
                <c:pt idx="0">
                  <c:v>点击人数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Sheet1!$E$2:$E$41</c:f>
              <c:numCache>
                <c:formatCode>General</c:formatCode>
                <c:ptCount val="9"/>
                <c:pt idx="0">
                  <c:v>22079</c:v>
                </c:pt>
                <c:pt idx="1">
                  <c:v>35631</c:v>
                </c:pt>
                <c:pt idx="2">
                  <c:v>57184</c:v>
                </c:pt>
                <c:pt idx="3">
                  <c:v>52460</c:v>
                </c:pt>
                <c:pt idx="4">
                  <c:v>77956</c:v>
                </c:pt>
                <c:pt idx="5">
                  <c:v>86004</c:v>
                </c:pt>
                <c:pt idx="6">
                  <c:v>77416</c:v>
                </c:pt>
                <c:pt idx="7">
                  <c:v>52514</c:v>
                </c:pt>
                <c:pt idx="8">
                  <c:v>46670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C3-D54B-9A20-C8BF954470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5"/>
          <c:order val="1"/>
          <c:tx>
            <c:strRef>
              <c:f>Sheet1!$H$1</c:f>
              <c:strCache>
                <c:ptCount val="1"/>
                <c:pt idx="0">
                  <c:v>触达点击率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Sheet1!$H$2:$H$41</c:f>
              <c:numCache>
                <c:formatCode>0.00%</c:formatCode>
                <c:ptCount val="9"/>
                <c:pt idx="0">
                  <c:v>5.6421277509173987E-2</c:v>
                </c:pt>
                <c:pt idx="1">
                  <c:v>3.197432075544504E-2</c:v>
                </c:pt>
                <c:pt idx="2">
                  <c:v>1.6149634907657265E-2</c:v>
                </c:pt>
                <c:pt idx="3">
                  <c:v>1.2072380896274177E-2</c:v>
                </c:pt>
                <c:pt idx="4">
                  <c:v>7.6862689728760172E-3</c:v>
                </c:pt>
                <c:pt idx="5">
                  <c:v>1.0777775856248201E-2</c:v>
                </c:pt>
                <c:pt idx="6">
                  <c:v>1.0411523901142167E-2</c:v>
                </c:pt>
                <c:pt idx="7">
                  <c:v>6.9246768323711037E-3</c:v>
                </c:pt>
                <c:pt idx="8">
                  <c:v>5.6693522494767664E-3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FC3-D54B-9A20-C8BF9544704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215295"/>
        <c:axId val="856984607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856984607"/>
        <c:scaling>
          <c:orientation val="minMax"/>
          <c:max val="0.05"/>
          <c:min val="0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57215295"/>
        <c:crosses val="max"/>
        <c:crossBetween val="between"/>
      </c:valAx>
      <c:dateAx>
        <c:axId val="857215295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85698460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9155838804683176"/>
          <c:y val="0.19401873636705819"/>
          <c:w val="0.37349745404384399"/>
          <c:h val="4.50971883898923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触达完单（当天）率</a:t>
            </a:r>
          </a:p>
        </c:rich>
      </c:tx>
      <c:layout>
        <c:manualLayout>
          <c:xMode val="edge"/>
          <c:yMode val="edge"/>
          <c:x val="0.46371745121159419"/>
          <c:y val="5.627330538600385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7.0653900443870002E-2"/>
          <c:y val="0.20526221869893058"/>
          <c:w val="0.88388304053785938"/>
          <c:h val="0.700181710007585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Sheet1!$F$1</c:f>
              <c:strCache>
                <c:ptCount val="1"/>
                <c:pt idx="0">
                  <c:v>完单人数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Sheet1!$F$2:$F$41</c:f>
              <c:numCache>
                <c:formatCode>General</c:formatCode>
                <c:ptCount val="9"/>
                <c:pt idx="0">
                  <c:v>4387</c:v>
                </c:pt>
                <c:pt idx="1">
                  <c:v>6089</c:v>
                </c:pt>
                <c:pt idx="2">
                  <c:v>10324</c:v>
                </c:pt>
                <c:pt idx="3">
                  <c:v>8834</c:v>
                </c:pt>
                <c:pt idx="4">
                  <c:v>15805</c:v>
                </c:pt>
                <c:pt idx="5">
                  <c:v>20371</c:v>
                </c:pt>
                <c:pt idx="6">
                  <c:v>21493</c:v>
                </c:pt>
                <c:pt idx="7">
                  <c:v>17089</c:v>
                </c:pt>
                <c:pt idx="8">
                  <c:v>12132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13-8947-BF47-C518F0F21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6"/>
          <c:order val="1"/>
          <c:tx>
            <c:strRef>
              <c:f>Sheet1!$I$1</c:f>
              <c:strCache>
                <c:ptCount val="1"/>
                <c:pt idx="0">
                  <c:v>触达完单率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Sheet1!$A$2:$A$40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Sheet1!$I$2:$I$41</c:f>
              <c:numCache>
                <c:formatCode>0.00%</c:formatCode>
                <c:ptCount val="9"/>
                <c:pt idx="0">
                  <c:v>1.1210659198004723E-2</c:v>
                </c:pt>
                <c:pt idx="1">
                  <c:v>5.4641081945470196E-3</c:v>
                </c:pt>
                <c:pt idx="2">
                  <c:v>2.9156552669742171E-3</c:v>
                </c:pt>
                <c:pt idx="3">
                  <c:v>2.0329281898148321E-3</c:v>
                </c:pt>
                <c:pt idx="4">
                  <c:v>1.5583339462813056E-3</c:v>
                </c:pt>
                <c:pt idx="5">
                  <c:v>2.5528355886660164E-3</c:v>
                </c:pt>
                <c:pt idx="6">
                  <c:v>2.8905508319630128E-3</c:v>
                </c:pt>
                <c:pt idx="7">
                  <c:v>2.2534143730888866E-3</c:v>
                </c:pt>
                <c:pt idx="8">
                  <c:v>1.4737643344900821E-3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13-8947-BF47-C518F0F21E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7264143"/>
        <c:axId val="112426158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24261583"/>
        <c:scaling>
          <c:orientation val="minMax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707264143"/>
        <c:crosses val="max"/>
        <c:crossBetween val="between"/>
      </c:valAx>
      <c:dateAx>
        <c:axId val="1707264143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24261583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6455606383415173"/>
          <c:y val="0.16400707827145486"/>
          <c:w val="0.35731335682735382"/>
          <c:h val="4.5072858660597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触达成功率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23289629230033254"/>
          <c:w val="0.89036252217932799"/>
          <c:h val="0.6656405871869476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推送人数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Sheet1!$C$2:$C$41</c:f>
              <c:numCache>
                <c:formatCode>General</c:formatCode>
                <c:ptCount val="5"/>
                <c:pt idx="0">
                  <c:v>401116</c:v>
                </c:pt>
                <c:pt idx="1">
                  <c:v>67</c:v>
                </c:pt>
                <c:pt idx="2">
                  <c:v>31</c:v>
                </c:pt>
                <c:pt idx="3">
                  <c:v>60493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9D7-3C4A-AF65-49A9F24F6714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成功人数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Sheet1!$D$2:$D$41</c:f>
              <c:numCache>
                <c:formatCode>General</c:formatCode>
                <c:ptCount val="5"/>
                <c:pt idx="0">
                  <c:v>89921</c:v>
                </c:pt>
                <c:pt idx="1">
                  <c:v>16</c:v>
                </c:pt>
                <c:pt idx="2">
                  <c:v>12</c:v>
                </c:pt>
                <c:pt idx="3">
                  <c:v>56112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9D7-3C4A-AF65-49A9F24F6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4"/>
          <c:order val="2"/>
          <c:tx>
            <c:strRef>
              <c:f>Sheet1!$G$1</c:f>
              <c:strCache>
                <c:ptCount val="1"/>
                <c:pt idx="0">
                  <c:v>触达成功率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Sheet1!$G$2:$G$41</c:f>
              <c:numCache>
                <c:formatCode>0.00%</c:formatCode>
                <c:ptCount val="5"/>
                <c:pt idx="0">
                  <c:v>0.22417704604154409</c:v>
                </c:pt>
                <c:pt idx="1">
                  <c:v>0.23880597014925373</c:v>
                </c:pt>
                <c:pt idx="2">
                  <c:v>0.38709677419354838</c:v>
                </c:pt>
                <c:pt idx="3">
                  <c:v>0.92757839750053728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9D7-3C4A-AF65-49A9F24F67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7384079"/>
        <c:axId val="116141222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61412223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57384079"/>
        <c:crosses val="max"/>
        <c:crossBetween val="between"/>
      </c:valAx>
      <c:dateAx>
        <c:axId val="1257384079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61412223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40530021425903"/>
          <c:y val="0.15841610552187799"/>
          <c:w val="0.30424972288755925"/>
          <c:h val="4.50728471688222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触达点击（启动）率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128608516459273"/>
          <c:y val="0.28280985652709806"/>
          <c:w val="0.82288836971043844"/>
          <c:h val="0.62750597750205739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Sheet1!$E$1</c:f>
              <c:strCache>
                <c:ptCount val="1"/>
                <c:pt idx="0">
                  <c:v>点击人数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Sheet1!$E$2:$E$41</c:f>
              <c:numCache>
                <c:formatCode>General</c:formatCode>
                <c:ptCount val="5"/>
                <c:pt idx="0">
                  <c:v>4711</c:v>
                </c:pt>
                <c:pt idx="1">
                  <c:v>0</c:v>
                </c:pt>
                <c:pt idx="2">
                  <c:v>0</c:v>
                </c:pt>
                <c:pt idx="3">
                  <c:v>651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C3-B24B-B16E-2D34D3F008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5"/>
          <c:order val="1"/>
          <c:tx>
            <c:strRef>
              <c:f>Sheet1!$H$1</c:f>
              <c:strCache>
                <c:ptCount val="1"/>
                <c:pt idx="0">
                  <c:v>触达点击率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Sheet1!$H$2:$H$41</c:f>
              <c:numCache>
                <c:formatCode>0.00%</c:formatCode>
                <c:ptCount val="5"/>
                <c:pt idx="0">
                  <c:v>5.2390431601072054E-2</c:v>
                </c:pt>
                <c:pt idx="1">
                  <c:v>0</c:v>
                </c:pt>
                <c:pt idx="2">
                  <c:v>0</c:v>
                </c:pt>
                <c:pt idx="3">
                  <c:v>1.1601796407185628E-2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C3-B24B-B16E-2D34D3F008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215295"/>
        <c:axId val="856984607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856984607"/>
        <c:scaling>
          <c:orientation val="minMax"/>
          <c:max val="0.05"/>
          <c:min val="0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57215295"/>
        <c:crosses val="max"/>
        <c:crossBetween val="between"/>
      </c:valAx>
      <c:dateAx>
        <c:axId val="857215295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85698460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4196628360150804"/>
          <c:y val="0.16473571536593964"/>
          <c:w val="0.46321079809905474"/>
          <c:h val="4.50971883898923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触达完单（当天）率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0656115015646161"/>
          <c:y val="0.24290858560921752"/>
          <c:w val="0.83678416397334665"/>
          <c:h val="0.68225735115548602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Sheet1!$F$1</c:f>
              <c:strCache>
                <c:ptCount val="1"/>
                <c:pt idx="0">
                  <c:v>完单人数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Sheet1!$F$2:$F$41</c:f>
              <c:numCache>
                <c:formatCode>General</c:formatCode>
                <c:ptCount val="5"/>
                <c:pt idx="0">
                  <c:v>982</c:v>
                </c:pt>
                <c:pt idx="1">
                  <c:v>0</c:v>
                </c:pt>
                <c:pt idx="2">
                  <c:v>0</c:v>
                </c:pt>
                <c:pt idx="3">
                  <c:v>85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1A-9444-A212-57CC21B6A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6"/>
          <c:order val="1"/>
          <c:tx>
            <c:strRef>
              <c:f>Sheet1!$I$1</c:f>
              <c:strCache>
                <c:ptCount val="1"/>
                <c:pt idx="0">
                  <c:v>触达完单率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Sheet1!$A$2:$A$40</c:f>
              <c:numCache>
                <c:formatCode>yyyy"年"m"月";@</c:formatCode>
                <c:ptCount val="5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</c:numCache>
            </c:numRef>
          </c:cat>
          <c:val>
            <c:numRef>
              <c:f>Sheet1!$I$2:$I$41</c:f>
              <c:numCache>
                <c:formatCode>0.00%</c:formatCode>
                <c:ptCount val="5"/>
                <c:pt idx="0">
                  <c:v>1.0920697056304978E-2</c:v>
                </c:pt>
                <c:pt idx="1">
                  <c:v>0</c:v>
                </c:pt>
                <c:pt idx="2">
                  <c:v>0</c:v>
                </c:pt>
                <c:pt idx="3">
                  <c:v>1.5148274878813801E-3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11A-9444-A212-57CC21B6A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7264143"/>
        <c:axId val="112426158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24261583"/>
        <c:scaling>
          <c:orientation val="minMax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707264143"/>
        <c:crosses val="max"/>
        <c:crossBetween val="between"/>
      </c:valAx>
      <c:dateAx>
        <c:axId val="1707264143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24261583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3931873149934461"/>
          <c:y val="0.10838370812751427"/>
          <c:w val="0.31946294731343339"/>
          <c:h val="4.50728471688222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触达成功率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2081506179680459"/>
          <c:w val="0.89036252217932799"/>
          <c:h val="0.708517640989385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推送人数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Sheet1!$C$2:$C$41</c:f>
              <c:numCache>
                <c:formatCode>General</c:formatCode>
                <c:ptCount val="9"/>
                <c:pt idx="0">
                  <c:v>229546</c:v>
                </c:pt>
                <c:pt idx="1">
                  <c:v>593602</c:v>
                </c:pt>
                <c:pt idx="2">
                  <c:v>242895</c:v>
                </c:pt>
                <c:pt idx="3">
                  <c:v>349472</c:v>
                </c:pt>
                <c:pt idx="4">
                  <c:v>455742</c:v>
                </c:pt>
                <c:pt idx="5">
                  <c:v>718643</c:v>
                </c:pt>
                <c:pt idx="6">
                  <c:v>632495</c:v>
                </c:pt>
                <c:pt idx="7">
                  <c:v>811987</c:v>
                </c:pt>
                <c:pt idx="8">
                  <c:v>1023581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BD-564E-B1A4-1F65575289B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成功人数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Sheet1!$D$2:$D$41</c:f>
              <c:numCache>
                <c:formatCode>General</c:formatCode>
                <c:ptCount val="9"/>
                <c:pt idx="0">
                  <c:v>229370</c:v>
                </c:pt>
                <c:pt idx="1">
                  <c:v>550327</c:v>
                </c:pt>
                <c:pt idx="2">
                  <c:v>235558</c:v>
                </c:pt>
                <c:pt idx="3">
                  <c:v>304029</c:v>
                </c:pt>
                <c:pt idx="4">
                  <c:v>370737</c:v>
                </c:pt>
                <c:pt idx="5">
                  <c:v>702929</c:v>
                </c:pt>
                <c:pt idx="6">
                  <c:v>608577</c:v>
                </c:pt>
                <c:pt idx="7">
                  <c:v>806989</c:v>
                </c:pt>
                <c:pt idx="8">
                  <c:v>1014474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BD-564E-B1A4-1F6557528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4"/>
          <c:order val="2"/>
          <c:tx>
            <c:strRef>
              <c:f>Sheet1!$G$1</c:f>
              <c:strCache>
                <c:ptCount val="1"/>
                <c:pt idx="0">
                  <c:v>触达成功率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Sheet1!$G$2:$G$41</c:f>
              <c:numCache>
                <c:formatCode>0.00%</c:formatCode>
                <c:ptCount val="9"/>
                <c:pt idx="0">
                  <c:v>0.99923326914866739</c:v>
                </c:pt>
                <c:pt idx="1">
                  <c:v>0.92709761759562803</c:v>
                </c:pt>
                <c:pt idx="2">
                  <c:v>0.96979353218468889</c:v>
                </c:pt>
                <c:pt idx="3">
                  <c:v>0.86996669261056681</c:v>
                </c:pt>
                <c:pt idx="4">
                  <c:v>0.81347999526047632</c:v>
                </c:pt>
                <c:pt idx="5">
                  <c:v>0.97813378826482689</c:v>
                </c:pt>
                <c:pt idx="6">
                  <c:v>0.96218468130182844</c:v>
                </c:pt>
                <c:pt idx="7">
                  <c:v>0.99384472904122845</c:v>
                </c:pt>
                <c:pt idx="8">
                  <c:v>0.99110280476093249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3BD-564E-B1A4-1F65575289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7384079"/>
        <c:axId val="116141222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61412223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57384079"/>
        <c:crosses val="max"/>
        <c:crossBetween val="between"/>
      </c:valAx>
      <c:dateAx>
        <c:axId val="1257384079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61412223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4380102986462219"/>
          <c:y val="0.11993890380334572"/>
          <c:w val="0.30424972288755925"/>
          <c:h val="4.5072858660597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触达点击（启动）率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1914994916404804E-2"/>
          <c:y val="0.23678954285914691"/>
          <c:w val="0.86652311781551827"/>
          <c:h val="0.67580959506468896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Sheet1!$E$1</c:f>
              <c:strCache>
                <c:ptCount val="1"/>
                <c:pt idx="0">
                  <c:v>点击人数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Sheet1!$E$2:$E$41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994</c:v>
                </c:pt>
                <c:pt idx="4">
                  <c:v>2775</c:v>
                </c:pt>
                <c:pt idx="5">
                  <c:v>8909</c:v>
                </c:pt>
                <c:pt idx="6">
                  <c:v>4368</c:v>
                </c:pt>
                <c:pt idx="7">
                  <c:v>5461</c:v>
                </c:pt>
                <c:pt idx="8">
                  <c:v>4148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46-204F-BC61-AD2AC08CF1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5"/>
          <c:order val="1"/>
          <c:tx>
            <c:strRef>
              <c:f>Sheet1!$H$1</c:f>
              <c:strCache>
                <c:ptCount val="1"/>
                <c:pt idx="0">
                  <c:v>触达点击率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9"/>
                <c:pt idx="0">
                  <c:v>45383</c:v>
                </c:pt>
                <c:pt idx="1">
                  <c:v>45413</c:v>
                </c:pt>
                <c:pt idx="2">
                  <c:v>45444</c:v>
                </c:pt>
                <c:pt idx="3">
                  <c:v>45474</c:v>
                </c:pt>
                <c:pt idx="4">
                  <c:v>45505</c:v>
                </c:pt>
                <c:pt idx="5">
                  <c:v>45536</c:v>
                </c:pt>
                <c:pt idx="6">
                  <c:v>45566</c:v>
                </c:pt>
                <c:pt idx="7">
                  <c:v>45597</c:v>
                </c:pt>
                <c:pt idx="8">
                  <c:v>45627</c:v>
                </c:pt>
              </c:numCache>
            </c:numRef>
          </c:cat>
          <c:val>
            <c:numRef>
              <c:f>Sheet1!$H$2:$H$41</c:f>
              <c:numCache>
                <c:formatCode>0.00%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3.2694249561719441E-3</c:v>
                </c:pt>
                <c:pt idx="4">
                  <c:v>7.4850905089052346E-3</c:v>
                </c:pt>
                <c:pt idx="5">
                  <c:v>1.2674110756562896E-2</c:v>
                </c:pt>
                <c:pt idx="6">
                  <c:v>7.1773990801492667E-3</c:v>
                </c:pt>
                <c:pt idx="7">
                  <c:v>6.7671306548168567E-3</c:v>
                </c:pt>
                <c:pt idx="8">
                  <c:v>4.0888184418723401E-3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946-204F-BC61-AD2AC08CF1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215295"/>
        <c:axId val="856984607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856984607"/>
        <c:scaling>
          <c:orientation val="minMax"/>
          <c:max val="0.05"/>
          <c:min val="0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57215295"/>
        <c:crosses val="max"/>
        <c:crossBetween val="between"/>
      </c:valAx>
      <c:dateAx>
        <c:axId val="857215295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85698460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6494212366153252"/>
          <c:y val="0.12093114913984442"/>
          <c:w val="0.3823561506502603"/>
          <c:h val="4.50971883898923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触达完单（当天）率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0395987461949245E-2"/>
          <c:y val="0.24517858604144713"/>
          <c:w val="0.86899184202578661"/>
          <c:h val="0.6674205518823888"/>
        </c:manualLayout>
      </c:layout>
      <c:barChart>
        <c:barDir val="col"/>
        <c:grouping val="clustered"/>
        <c:varyColors val="0"/>
        <c:ser>
          <c:idx val="3"/>
          <c:order val="0"/>
          <c:tx>
            <c:strRef>
              <c:f>Sheet1!$F$1</c:f>
              <c:strCache>
                <c:ptCount val="1"/>
                <c:pt idx="0">
                  <c:v>完单人数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8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  <c:pt idx="7">
                  <c:v>45627</c:v>
                </c:pt>
              </c:numCache>
            </c:numRef>
          </c:cat>
          <c:val>
            <c:numRef>
              <c:f>Sheet1!$F$2:$F$41</c:f>
              <c:numCache>
                <c:formatCode>General</c:formatCode>
                <c:ptCount val="8"/>
                <c:pt idx="0">
                  <c:v>0</c:v>
                </c:pt>
                <c:pt idx="1">
                  <c:v>270</c:v>
                </c:pt>
                <c:pt idx="2" formatCode="#,##0">
                  <c:v>1827</c:v>
                </c:pt>
                <c:pt idx="3">
                  <c:v>4006</c:v>
                </c:pt>
                <c:pt idx="4">
                  <c:v>789</c:v>
                </c:pt>
                <c:pt idx="5">
                  <c:v>2294</c:v>
                </c:pt>
                <c:pt idx="6" formatCode="#,##0">
                  <c:v>3360</c:v>
                </c:pt>
                <c:pt idx="7">
                  <c:v>3117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4B-6548-B45F-058487B98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6"/>
          <c:order val="1"/>
          <c:tx>
            <c:strRef>
              <c:f>Sheet1!$I$1</c:f>
              <c:strCache>
                <c:ptCount val="1"/>
                <c:pt idx="0">
                  <c:v>触达完单率</c:v>
                </c:pt>
              </c:strCache>
            </c:strRef>
          </c:tx>
          <c:spPr>
            <a:ln w="28575" cap="rnd">
              <a:solidFill>
                <a:schemeClr val="accent1">
                  <a:lumMod val="60000"/>
                </a:schemeClr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Sheet1!$A$2:$A$40</c:f>
              <c:numCache>
                <c:formatCode>yyyy"年"m"月";@</c:formatCode>
                <c:ptCount val="7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</c:numCache>
            </c:numRef>
          </c:cat>
          <c:val>
            <c:numRef>
              <c:f>Sheet1!$I$2:$I$41</c:f>
              <c:numCache>
                <c:formatCode>0.00%</c:formatCode>
                <c:ptCount val="8"/>
                <c:pt idx="0">
                  <c:v>0</c:v>
                </c:pt>
                <c:pt idx="1">
                  <c:v>7.5394143829687421E-4</c:v>
                </c:pt>
                <c:pt idx="2">
                  <c:v>4.71888172576246E-3</c:v>
                </c:pt>
                <c:pt idx="3">
                  <c:v>2.3470341304226831E-3</c:v>
                </c:pt>
                <c:pt idx="4">
                  <c:v>3.75700510028918E-4</c:v>
                </c:pt>
                <c:pt idx="5">
                  <c:v>1.2556233480260604E-3</c:v>
                </c:pt>
                <c:pt idx="6">
                  <c:v>1.8005986990674398E-3</c:v>
                </c:pt>
                <c:pt idx="7">
                  <c:v>2.2491368206859976E-3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4B-6548-B45F-058487B98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07264143"/>
        <c:axId val="112426158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24261583"/>
        <c:scaling>
          <c:orientation val="minMax"/>
        </c:scaling>
        <c:delete val="0"/>
        <c:axPos val="r"/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707264143"/>
        <c:crosses val="max"/>
        <c:crossBetween val="between"/>
      </c:valAx>
      <c:dateAx>
        <c:axId val="1707264143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24261583"/>
        <c:crosses val="autoZero"/>
        <c:auto val="1"/>
        <c:lblOffset val="100"/>
        <c:baseTimeUnit val="months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983594436637802"/>
          <c:y val="0.1346188210498892"/>
          <c:w val="0.39392402013233391"/>
          <c:h val="4.50728586605979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触达成功率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21770742575029831"/>
          <c:w val="0.89036252217932799"/>
          <c:h val="0.696339721896712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推送人数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8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  <c:pt idx="7">
                  <c:v>45627</c:v>
                </c:pt>
              </c:numCache>
            </c:numRef>
          </c:cat>
          <c:val>
            <c:numRef>
              <c:f>Sheet1!$C$2:$C$41</c:f>
              <c:numCache>
                <c:formatCode>General</c:formatCode>
                <c:ptCount val="8"/>
                <c:pt idx="0">
                  <c:v>0</c:v>
                </c:pt>
                <c:pt idx="1">
                  <c:v>363521</c:v>
                </c:pt>
                <c:pt idx="2">
                  <c:v>428495</c:v>
                </c:pt>
                <c:pt idx="3">
                  <c:v>1772438</c:v>
                </c:pt>
                <c:pt idx="4">
                  <c:v>2202551</c:v>
                </c:pt>
                <c:pt idx="5">
                  <c:v>1936619</c:v>
                </c:pt>
                <c:pt idx="6">
                  <c:v>2012371</c:v>
                </c:pt>
                <c:pt idx="7">
                  <c:v>1582688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37-594B-AB77-763735A9396F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成功人数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8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  <c:pt idx="7">
                  <c:v>45627</c:v>
                </c:pt>
              </c:numCache>
            </c:numRef>
          </c:cat>
          <c:val>
            <c:numRef>
              <c:f>Sheet1!$D$2:$D$41</c:f>
              <c:numCache>
                <c:formatCode>General</c:formatCode>
                <c:ptCount val="8"/>
                <c:pt idx="0">
                  <c:v>0</c:v>
                </c:pt>
                <c:pt idx="1">
                  <c:v>358118</c:v>
                </c:pt>
                <c:pt idx="2">
                  <c:v>387168</c:v>
                </c:pt>
                <c:pt idx="3">
                  <c:v>1706835</c:v>
                </c:pt>
                <c:pt idx="4">
                  <c:v>2100077</c:v>
                </c:pt>
                <c:pt idx="5">
                  <c:v>1826981</c:v>
                </c:pt>
                <c:pt idx="6">
                  <c:v>1866046</c:v>
                </c:pt>
                <c:pt idx="7">
                  <c:v>1385865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37-594B-AB77-763735A93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4"/>
          <c:order val="2"/>
          <c:tx>
            <c:strRef>
              <c:f>Sheet1!$G$1</c:f>
              <c:strCache>
                <c:ptCount val="1"/>
                <c:pt idx="0">
                  <c:v>触达成功率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8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  <c:pt idx="7">
                  <c:v>45627</c:v>
                </c:pt>
              </c:numCache>
            </c:numRef>
          </c:cat>
          <c:val>
            <c:numRef>
              <c:f>Sheet1!$G$2:$G$41</c:f>
              <c:numCache>
                <c:formatCode>0.00%</c:formatCode>
                <c:ptCount val="8"/>
                <c:pt idx="0">
                  <c:v>0</c:v>
                </c:pt>
                <c:pt idx="1">
                  <c:v>0.98513703472426628</c:v>
                </c:pt>
                <c:pt idx="2">
                  <c:v>0.90355313364216616</c:v>
                </c:pt>
                <c:pt idx="3">
                  <c:v>0.96298713974762451</c:v>
                </c:pt>
                <c:pt idx="4">
                  <c:v>0.95347485710887059</c:v>
                </c:pt>
                <c:pt idx="5">
                  <c:v>0.94338690263805114</c:v>
                </c:pt>
                <c:pt idx="6">
                  <c:v>0.92728726462466415</c:v>
                </c:pt>
                <c:pt idx="7">
                  <c:v>0.87564005034473003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C37-594B-AB77-763735A939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7384079"/>
        <c:axId val="1161412223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million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1161412223"/>
        <c:scaling>
          <c:orientation val="minMax"/>
          <c:max val="1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57384079"/>
        <c:crosses val="max"/>
        <c:crossBetween val="between"/>
      </c:valAx>
      <c:dateAx>
        <c:axId val="1257384079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1161412223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524711995030208"/>
          <c:y val="0.11393897506526705"/>
          <c:w val="0.30424972288755925"/>
          <c:h val="4.50728471688222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r>
              <a:rPr lang="zh-CN"/>
              <a:t>触达点击（启动）率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6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6.4174418802401323E-2"/>
          <c:y val="0.14134640621845346"/>
          <c:w val="0.89036252217932799"/>
          <c:h val="0.78381940238239456"/>
        </c:manualLayout>
      </c:layout>
      <c:barChart>
        <c:barDir val="col"/>
        <c:grouping val="clustered"/>
        <c:varyColors val="0"/>
        <c:ser>
          <c:idx val="2"/>
          <c:order val="0"/>
          <c:tx>
            <c:strRef>
              <c:f>Sheet1!$E$1</c:f>
              <c:strCache>
                <c:ptCount val="1"/>
                <c:pt idx="0">
                  <c:v>点击人数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numFmt formatCode="#,##0.0_);[Red]\(#,##0.0\)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8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  <c:pt idx="7">
                  <c:v>45627</c:v>
                </c:pt>
              </c:numCache>
            </c:numRef>
          </c:cat>
          <c:val>
            <c:numRef>
              <c:f>Sheet1!$E$2:$E$41</c:f>
              <c:numCache>
                <c:formatCode>#,##0</c:formatCode>
                <c:ptCount val="8"/>
                <c:pt idx="0" formatCode="General">
                  <c:v>0</c:v>
                </c:pt>
                <c:pt idx="1">
                  <c:v>63067</c:v>
                </c:pt>
                <c:pt idx="2">
                  <c:v>124604</c:v>
                </c:pt>
                <c:pt idx="3" formatCode="General">
                  <c:v>484458</c:v>
                </c:pt>
                <c:pt idx="4">
                  <c:v>492948</c:v>
                </c:pt>
                <c:pt idx="5" formatCode="General">
                  <c:v>417735</c:v>
                </c:pt>
                <c:pt idx="6">
                  <c:v>358921</c:v>
                </c:pt>
                <c:pt idx="7" formatCode="General">
                  <c:v>675617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85-B14B-B068-4CFEA7E79C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42816367"/>
        <c:axId val="1242385167"/>
      </c:barChart>
      <c:lineChart>
        <c:grouping val="standard"/>
        <c:varyColors val="0"/>
        <c:ser>
          <c:idx val="5"/>
          <c:order val="1"/>
          <c:tx>
            <c:strRef>
              <c:f>Sheet1!$H$1</c:f>
              <c:strCache>
                <c:ptCount val="1"/>
                <c:pt idx="0">
                  <c:v>触达点击率</c:v>
                </c:pt>
              </c:strCache>
            </c:strRef>
          </c:tx>
          <c:spPr>
            <a:ln w="28575" cap="rnd">
              <a:solidFill>
                <a:schemeClr val="accent6">
                  <a:lumMod val="6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</a:schemeClr>
              </a:solidFill>
              <a:ln w="9525">
                <a:solidFill>
                  <a:schemeClr val="accent6">
                    <a:lumMod val="60000"/>
                  </a:schemeClr>
                </a:solidFill>
              </a:ln>
              <a:effectLst/>
            </c:spPr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Sheet1!$A$2:$A$41</c:f>
              <c:numCache>
                <c:formatCode>yyyy"年"m"月";@</c:formatCode>
                <c:ptCount val="8"/>
                <c:pt idx="0">
                  <c:v>45413</c:v>
                </c:pt>
                <c:pt idx="1">
                  <c:v>45444</c:v>
                </c:pt>
                <c:pt idx="2">
                  <c:v>45474</c:v>
                </c:pt>
                <c:pt idx="3">
                  <c:v>45505</c:v>
                </c:pt>
                <c:pt idx="4">
                  <c:v>45536</c:v>
                </c:pt>
                <c:pt idx="5">
                  <c:v>45566</c:v>
                </c:pt>
                <c:pt idx="6">
                  <c:v>45597</c:v>
                </c:pt>
                <c:pt idx="7">
                  <c:v>45627</c:v>
                </c:pt>
              </c:numCache>
            </c:numRef>
          </c:cat>
          <c:val>
            <c:numRef>
              <c:f>Sheet1!$H$2:$H$41</c:f>
              <c:numCache>
                <c:formatCode>0.00%</c:formatCode>
                <c:ptCount val="8"/>
                <c:pt idx="0">
                  <c:v>0</c:v>
                </c:pt>
                <c:pt idx="1">
                  <c:v>0.17610675810766283</c:v>
                </c:pt>
                <c:pt idx="2">
                  <c:v>0.32183444912802711</c:v>
                </c:pt>
                <c:pt idx="3">
                  <c:v>0.28383411401805098</c:v>
                </c:pt>
                <c:pt idx="4">
                  <c:v>0.2347285361441509</c:v>
                </c:pt>
                <c:pt idx="5">
                  <c:v>0.22864769803298446</c:v>
                </c:pt>
                <c:pt idx="6">
                  <c:v>0.19234306121070971</c:v>
                </c:pt>
                <c:pt idx="7">
                  <c:v>0.48750563727347179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A85-B14B-B068-4CFEA7E79C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57215295"/>
        <c:axId val="856984607"/>
      </c:lineChart>
      <c:dateAx>
        <c:axId val="1542816367"/>
        <c:scaling>
          <c:orientation val="minMax"/>
        </c:scaling>
        <c:delete val="0"/>
        <c:axPos val="b"/>
        <c:numFmt formatCode="yyyy&quot;年&quot;m&quot;月&quot;;@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242385167"/>
        <c:crosses val="autoZero"/>
        <c:auto val="1"/>
        <c:lblOffset val="100"/>
        <c:baseTimeUnit val="months"/>
      </c:dateAx>
      <c:valAx>
        <c:axId val="1242385167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1542816367"/>
        <c:crosses val="autoZero"/>
        <c:crossBetween val="between"/>
        <c:dispUnits>
          <c:builtInUnit val="ten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defRPr>
                </a:pPr>
                <a:endParaRPr lang="zh-CN"/>
              </a:p>
            </c:txPr>
          </c:dispUnitsLbl>
        </c:dispUnits>
      </c:valAx>
      <c:valAx>
        <c:axId val="856984607"/>
        <c:scaling>
          <c:orientation val="minMax"/>
          <c:max val="0.5"/>
          <c:min val="0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+mn-cs"/>
              </a:defRPr>
            </a:pPr>
            <a:endParaRPr lang="zh-CN"/>
          </a:p>
        </c:txPr>
        <c:crossAx val="857215295"/>
        <c:crosses val="max"/>
        <c:crossBetween val="between"/>
      </c:valAx>
      <c:dateAx>
        <c:axId val="857215295"/>
        <c:scaling>
          <c:orientation val="minMax"/>
        </c:scaling>
        <c:delete val="1"/>
        <c:axPos val="b"/>
        <c:numFmt formatCode="yyyy&quot;年&quot;m&quot;月&quot;;@" sourceLinked="1"/>
        <c:majorTickMark val="out"/>
        <c:minorTickMark val="none"/>
        <c:tickLblPos val="nextTo"/>
        <c:crossAx val="856984607"/>
        <c:crosses val="autoZero"/>
        <c:auto val="1"/>
        <c:lblOffset val="100"/>
        <c:baseTimeUnit val="month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31249610939604328"/>
          <c:y val="0.1425373881968319"/>
          <c:w val="0.37266814902108286"/>
          <c:h val="4.509718838989231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800">
          <a:latin typeface="KaiTi" panose="02010609060101010101" pitchFamily="49" charset="-122"/>
          <a:ea typeface="KaiTi" panose="02010609060101010101" pitchFamily="49" charset="-122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BD28DA-8DFD-6E4B-B445-6EDEF4A4A538}" type="datetimeFigureOut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BAC0B9-4D49-0247-9E76-55994D6E57D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0074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9878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214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372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024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4671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106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87283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5929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7328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75529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28931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13347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3575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31298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04930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70713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074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2235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0972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2685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263EF2-9F28-B64B-99D5-E73444DA2BC3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35649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263EF2-9F28-B64B-99D5-E73444DA2BC3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09636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90C1E-C4B1-4D99-8CCA-DF7754628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6217F61-08B1-A996-3CFB-87E49DF0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34E6AF-4202-A979-AB68-5B777345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BA4E06-3C1C-5D4E-84B0-A93AB45C1045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707AA0-9D70-21E0-5505-89A457DC7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52FA61-15D8-C51F-0F06-261C6D1A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6834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6DADD6-560A-53B7-00F6-4387A784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74B5FA-7AE2-56A8-06BE-448B6547C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48658E-AE84-2779-9CDB-7B5006420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51CE7-DEA6-C743-9B1C-3F3B50289742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6050C2-F3D2-E7F3-A8C0-D187A3384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2FFE53-BADA-A4A0-B0F3-41B016810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477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271ED-147E-3312-8A67-6FB01E5E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FD120-1AFF-88A8-0F8B-134D4A3F3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3DBB42-6935-9D2E-3FDE-4BD3D6A96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4820D-D1A9-DF4B-B6BF-67BAB289782C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E20728-93FC-49D2-2AC6-19D10CEE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F09E04-19AE-A3D8-3470-0144D4D13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434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21C7C-920E-FDC3-1942-9666543C4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5C353D-91F7-276D-6867-18CEF9E8AF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0EF8F7-852B-44B8-0DD6-3BAF3A26ED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B21C5B-E398-1BC2-0893-37D44B420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851B-7CE6-684B-8ADC-CF208C9E6159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FFD294-DD88-D77E-6596-86ED4FD26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E68971-93FA-9E42-591C-941BF385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47392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AE0DC-250B-C64F-9B26-7B64AD04D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347237-0A24-FBE5-9E8E-B323E5D6B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BFC205-BAB9-3EE9-CBE8-8EDB9BDB9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474E62-0D4F-324B-0CBD-36DEA8618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9AC3908-BB2B-D08E-216E-19FEC412D8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6DC7B5-A39C-7AEB-D311-3568B4E9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96751-44D0-F943-81C5-B1E6B78B6CDE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95970C-394D-AC1C-2B56-19EFAFD1B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B52C2C-0AAF-A103-2A0C-214599B4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637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6DB21B-69B0-050F-397F-AB3D67E1B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6C7E6F7-649B-51A7-9945-CC08F77A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40DD1-C176-914D-8D43-C025FFA3C13B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41B2B4-3D5A-6F4E-243F-0220F95A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E0AF0E-A573-8666-606B-CC90E3F7F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6878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5DFB85-55EF-F7C1-7059-2C9C92787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2B9591-71E8-FD4A-8AA4-BDFE8894057F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DC8F8C-2DDB-A3E9-8984-C7DCA405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6D7D28-5924-1D08-54C3-3AA13168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310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A37C57-0E8D-11F3-6E65-30832B653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582AB4-D535-3B91-9063-A3537C2AF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EF15E5-DD54-01EC-7BC6-9BF1F01D7D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716D2-FEAB-E780-A7B9-9178E00B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C6276-CAD1-2B4C-BB70-D793331FA1F9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3E6E7C-7747-EC66-8AB6-3DD181674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3C094FA-4442-CB86-8626-EAF75F45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0697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35783D-5D7B-DF5C-7248-D7EEC56FA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B3114B8-678C-7588-DDD1-C66FC4217F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A531E1-D332-6AA3-B2CB-63294D720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785E13-FE78-5658-05F3-7E7A3CA9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D5A13-309C-2149-BD31-278086909475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985CFD-4A61-4954-6F51-CA7933510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06A158-E740-30E7-F580-D3D321D50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65965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755C11-6899-5C1A-27A9-7CA9C02BB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6DF888-0AE2-E96B-05AC-F0F574BBD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69C466-E1C7-C851-371D-79113F6F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2CC1B-6D41-3049-94A2-053D04DF2427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39F8BB-1061-D58C-4C77-797C9926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E031FA-5F55-C39E-A174-007B8157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0096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A10CEC-D5FC-D55D-B592-0D4C6E37F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E10397-452A-C356-4144-D98B75224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8D60B6-DEF5-9A2D-62A0-E048A77B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4AA797-5FEA-E34C-BD9C-287F3111DB68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14AF8-FF60-2A0E-6048-955157EBA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9AD9F-A9FB-F6B7-56D8-51C06F7D7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5294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281344-97C6-84A4-4178-6CE16E6227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C44723-9D64-DBF0-D76C-7ECDEC335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179883-0B41-498A-E740-6EEC3205F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D673-0FDC-DB48-A5B6-A540AA032192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DCA52E-FC27-5A9D-2683-8057D65F1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06832D-9C34-451D-B716-D226258D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8614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93C90-3499-A358-C95E-E8314B9E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928EF-6BB5-D9C8-744B-591173D0C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DEB120-86EE-8FC9-0990-CE0E6E51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1C908-1FE3-D746-96A0-D6A013184746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003C6C-52FB-0325-098B-EE6B0400C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06CA3B-BF6F-8C3D-A948-A7D21C453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7897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78FB26-F779-D363-E344-BBEBF66AD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DE2BDF-BF4A-A74E-2D94-EAA28835B1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40E975-93EA-8054-3DED-F71C7CB44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E4333-EB7B-3B4F-9B71-92CAFCB340C7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86E14E-26E6-05D1-C48F-70ABB759B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5F38B9-B603-E8AB-D72A-6B0FE222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8449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3C71E-D368-9052-B9DE-A90A5DB4F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716D0-E693-0C72-07B1-996751BE58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510B55-3408-FE82-DD3C-EE8B77A0A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08C6B6-A91C-8EAE-82F1-1491FCDF7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2F3-3A51-E14C-BE42-951BEA9911C3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DE9830-F98D-BD43-C3B2-FC42119FE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03221D-E944-E21E-CC2C-F70860684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3062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A96D1C-E28D-C203-DF12-2759F5CB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F1BAA8-53AD-9420-805D-6A767751D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CD7FBB7-7868-E8BD-6E95-60ADE3594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0033CB-74EA-25AC-078D-414164EF0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78EBE6E-0955-3C12-74A8-75C5752672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AE04D0-B981-C2BB-E1B8-8D3C4BD65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71D2B-CF28-534D-987A-17188BBD2B1B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3DC15D-B22D-44A2-E920-170B3C287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DAFF64D-905B-373D-93C3-8CBAFD995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6337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F8EA4-6975-3426-55B4-60C99F36F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37454C0-F66A-A926-5131-D054D89F2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61063-C2D6-B24D-8EE9-DE74FE33942C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982A7DC-0659-8F40-8295-3CDDD17F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B829DC-FA7F-B052-6EEA-DC9BB9093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7268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EAB6BF9-47CA-07D4-9C9D-182830300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0CA99-B52D-7F41-A066-4F83FF2B6A37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054DF8B-6232-C7B7-BF40-67E2D3B5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A383DD-1A91-5721-A8DA-2C29DD208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24450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93009-2449-5076-46DD-059DE5284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CF641C-4DC5-700A-1A58-7BAF9B39E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D796BC-96AE-175E-52DD-16B239591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3852D0-7A20-9B84-99D4-596E32C4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34DF1-5819-7A40-96B4-42FF80F20B16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FC954C-A4D1-C361-1290-13737147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4787449-6D4F-0CDC-BAB6-F30D74A85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56083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3F6483-58B8-DEC7-6787-563CB422C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3AF43FF-E9F8-DDC4-9E89-91EB13092A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3F936D-AD8F-8CDF-DF85-BB98E16DB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88230B-7654-4EC3-3D0D-17C3BB70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5944B-041A-4C49-9713-B0919E613B07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3A6A11-A3A9-E74E-52F4-46AB13A63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6A39F2-4C46-665E-9B0A-97C3224E9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0337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7C7908-AAF1-573E-8EF6-B52B1FB3F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5F8EEA-3B84-EB53-476D-FFBE3BEE3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3EC77-7E83-13B9-D858-AF9A561E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0EAE-A4EC-E246-9E38-657D1D1F7DDA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A3BB7-0DBE-6821-9297-74860048D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756C9E-9064-87A4-C9BF-697A22E0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49858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7A6460-BC17-5280-72FF-A7352548BF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5CBA1C-6F7E-9F35-0D99-794D45D21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087EBDA-6357-FBA5-2F40-C786DB717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76F0B-7587-094E-965C-73886C58EE33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585A8-A4B5-9B3D-23B7-CAD34D01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298577-84C6-9B8E-AF14-196812FE6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33847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B925A6-900C-FD54-D4BE-21FE97164E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222573-9F4A-0038-2435-7FE39D870B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84E66-0174-B31A-2231-EFFCDD5E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8EAC44-B120-DE48-AE8F-F8917AAF5F02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22C40C-B1D0-9848-EC00-EAE5E4BA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EC3AAB-0F80-0C98-A44B-87C5B6DA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49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6808C-8E11-0AD2-A9EA-729BAED88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1A8BAE-2A95-6155-6E52-A4B120849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95B5E7-0D04-EA05-21F1-ABBFF77D4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F5C9E-4240-B349-B115-3A0729978153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7C09F9-E303-A084-2E88-03DA6F6D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E64433-DD50-F9A6-232A-6D68D9B7F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3632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418058-8CD8-D4B4-3E95-7A2DA389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21D717-65BD-9FD9-351A-56AD455685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F66BB3-D5F4-C5FD-2476-92031BD7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45FDF-F1DD-7D4E-AC45-91F71FCD6472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C083B4-8596-77A8-BD6A-22C5AE407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430203-18D8-9FFB-21F4-4E7A6BE48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25807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701DAA-D4EF-86B4-ABED-84C4067B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21A854-2657-5AFC-3AF2-7D3DE3AAB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0612D1-A059-B7FA-7118-EE4BD83D8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31ADDF-0B52-5000-8D78-E276680FB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56CA-A239-D64A-B543-8A59D2C61E69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395361-6A77-DCA3-AA8E-32BB919B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C7E35B-8BBA-9CFA-0E8A-C27AFBF03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2658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FE09FA-74EF-888D-15F7-39487A10B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7B0F07-322D-602E-566F-BE850F920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092E6A1-C6AD-A2E8-C0E2-77A52A19B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C6D5C1D-126E-E078-9207-C86532273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276C6C-0561-2403-0B29-AA26F8EC6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EA5A093-4E38-4448-4ADA-54ED1DA39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A7D83-5F71-8949-AFF2-BF8DFCA50128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0483D7D-F940-A9CD-50C3-9F138E39E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AB0C05-49EC-BFB7-7E7C-A8003B1B4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6242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CEE87B-8549-5514-9E49-D207EDF3A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75D4649-4398-4C38-E24B-170DB486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68B51-4DEA-F64D-91BC-B308E1AB4A9B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A07ADAF-A42D-D342-E3B5-54C23C206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52143D-880C-9735-F73C-CE84295C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2529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906C214-EEBE-3650-1111-17024747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AE863B-2E4A-E34F-96A6-C2EA37F18F26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C676A1-C09C-FFCC-21B6-766D8F899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7DB985-AF96-BC68-A2A4-2BF3CDBE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1517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D4FDD-FDDB-4B3C-CDD5-2EF217FAC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5770A-4B1B-29B9-AC42-FAE289198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525FBCB-7A99-74F7-4D20-77D4CE149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CBDEC82-F8A0-9D76-E3FA-F74ADDE47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291DC-217F-9043-AAAF-18D0C1312973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6F5721-1EEE-226B-826E-7136844CA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525A3B-1988-2E0B-CE74-E0466E870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87711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9552A8-1E16-2A28-CAD6-D70A34BA2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D26506A-76DA-CC0A-E71D-5D4E318EC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C20A68-37C6-03B5-8657-79D9543A5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C244A8-2239-4E57-FBEE-9EF5DEA99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95352-40E5-624D-87CE-8FEBCE3B32EB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D761A8-020C-1EEE-BAA3-6148005AB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CA979E-42F8-DD3B-281E-3F4B61D2A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15984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DE776B-E7E1-6191-9E40-DA01BC2AB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2FBC25-FAD0-F699-4C18-861AD9560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35326D-2D1C-2918-D715-5C3F94DE3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69FE4-36A4-4845-B5CE-A6C50A0BED46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C93186-FB8E-9375-221F-9E0403D1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0BCD6E-D767-4C45-6203-F996B4222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0461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9B84A68-4557-E02F-11B3-A023FD9AD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186434-ED6A-4D61-1517-8C3FDFB153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0CB6DC-FF8D-86DE-50E0-89DB97C09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C0D83-C390-774F-A706-B58C7C6E4F35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E6AD07-9775-6022-C4D5-07A6A0112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C44777-92C8-C525-5D01-47DAB6BDD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128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77389BF-E3D8-1C30-02BA-6FED40750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DEE40C-D705-8BD0-5D5E-E851BAE76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26F758-36C6-B55C-DEAA-7532150709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EC488B-6DF3-9947-AB67-216BC99D160B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E42367-D803-BC6C-C98F-E416E7447F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0EB13F-EA9E-5553-3045-821BDB8DB9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31382-EB8E-8640-9EAB-19F9D810D4A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34838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299072-C256-43FF-6B3C-B4F231007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65CA18-4829-E5F5-3DE5-D36B22503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582074-9A18-41C2-7B78-D57C70BE3C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0D726A-8D9D-D547-84ED-39EBF448F00E}" type="datetime1">
              <a:rPr kumimoji="1" lang="zh-CN" altLang="en-US" smtClean="0"/>
              <a:t>2025/9/26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A55FC8-2EC2-0CB2-9BB7-3668E0E116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7D690E-6EE4-8FFB-9A12-C0087A835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221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42DE-BD06-4E49-9BE2-D2AC4D7DCF76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8230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6E42FBF-EBEE-6C16-0125-93BC23852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DEDE1B-CD3D-3CB9-C950-27907B48E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665010-26FA-1693-9BD4-77F66754F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8AC1A-F8C1-F14F-905B-791B739B8720}" type="datetime1">
              <a:rPr lang="zh-CN" altLang="en-US" smtClean="0"/>
              <a:t>2025/9/26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09B336-6A9D-AEC8-460D-4330050DD3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A0C0F1-78DB-345B-B747-FC9AB28B6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257C5-0EF6-4792-9B0A-1B2DCED193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372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.emf"/><Relationship Id="rId4" Type="http://schemas.openxmlformats.org/officeDocument/2006/relationships/package" Target="../embeddings/Microsoft_Excel____.xls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___1.xls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Relationship Id="rId6" Type="http://schemas.openxmlformats.org/officeDocument/2006/relationships/package" Target="../embeddings/Microsoft_Excel____3.xlsx"/><Relationship Id="rId5" Type="http://schemas.openxmlformats.org/officeDocument/2006/relationships/image" Target="../media/image5.emf"/><Relationship Id="rId4" Type="http://schemas.openxmlformats.org/officeDocument/2006/relationships/package" Target="../embeddings/Microsoft_Excel____2.xls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7.emf"/><Relationship Id="rId5" Type="http://schemas.openxmlformats.org/officeDocument/2006/relationships/package" Target="../embeddings/Microsoft_Excel____4.xlsx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8.emf"/><Relationship Id="rId4" Type="http://schemas.openxmlformats.org/officeDocument/2006/relationships/package" Target="../embeddings/Microsoft_Excel____5.xls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6" Type="http://schemas.openxmlformats.org/officeDocument/2006/relationships/chart" Target="../charts/chart5.xml"/><Relationship Id="rId5" Type="http://schemas.openxmlformats.org/officeDocument/2006/relationships/image" Target="../media/image9.emf"/><Relationship Id="rId4" Type="http://schemas.openxmlformats.org/officeDocument/2006/relationships/package" Target="../embeddings/Microsoft_Excel____6.xls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Excel____7.xls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image" Target="../media/image2.png"/><Relationship Id="rId7" Type="http://schemas.openxmlformats.org/officeDocument/2006/relationships/image" Target="../media/image15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6" Type="http://schemas.openxmlformats.org/officeDocument/2006/relationships/package" Target="../embeddings/Microsoft_Excel____9.xlsx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emf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7.emf"/><Relationship Id="rId5" Type="http://schemas.openxmlformats.org/officeDocument/2006/relationships/image" Target="../media/image26.emf"/><Relationship Id="rId4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0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Relationship Id="rId6" Type="http://schemas.openxmlformats.org/officeDocument/2006/relationships/package" Target="../embeddings/Microsoft_Excel____11.xlsx"/><Relationship Id="rId5" Type="http://schemas.openxmlformats.org/officeDocument/2006/relationships/image" Target="../media/image29.emf"/><Relationship Id="rId4" Type="http://schemas.openxmlformats.org/officeDocument/2006/relationships/package" Target="../embeddings/Microsoft_Excel____10.xls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Excel____12.xls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Relationship Id="rId6" Type="http://schemas.openxmlformats.org/officeDocument/2006/relationships/chart" Target="../charts/chart1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Relationship Id="rId6" Type="http://schemas.openxmlformats.org/officeDocument/2006/relationships/chart" Target="../charts/chart15.xml"/><Relationship Id="rId5" Type="http://schemas.openxmlformats.org/officeDocument/2006/relationships/chart" Target="../charts/chart14.xml"/><Relationship Id="rId4" Type="http://schemas.openxmlformats.org/officeDocument/2006/relationships/chart" Target="../charts/char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Relationship Id="rId6" Type="http://schemas.openxmlformats.org/officeDocument/2006/relationships/chart" Target="../charts/chart21.xml"/><Relationship Id="rId5" Type="http://schemas.openxmlformats.org/officeDocument/2006/relationships/chart" Target="../charts/chart20.xml"/><Relationship Id="rId4" Type="http://schemas.openxmlformats.org/officeDocument/2006/relationships/chart" Target="../charts/chart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2.emf"/><Relationship Id="rId5" Type="http://schemas.openxmlformats.org/officeDocument/2006/relationships/chart" Target="../charts/chart23.xml"/><Relationship Id="rId4" Type="http://schemas.openxmlformats.org/officeDocument/2006/relationships/chart" Target="../charts/char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F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3A1AE3C4-5079-A1E5-B23C-58ABCE3F3C94}"/>
              </a:ext>
            </a:extLst>
          </p:cNvPr>
          <p:cNvSpPr txBox="1">
            <a:spLocks/>
          </p:cNvSpPr>
          <p:nvPr/>
        </p:nvSpPr>
        <p:spPr>
          <a:xfrm>
            <a:off x="1588431" y="3014972"/>
            <a:ext cx="9015137" cy="828056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rgbClr val="212773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algn="ctr">
              <a:defRPr/>
            </a:pPr>
            <a:r>
              <a:rPr kumimoji="0" lang="en-US" altLang="zh-CN" sz="54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</a:rPr>
              <a:t>CDP</a:t>
            </a:r>
            <a:r>
              <a:rPr lang="zh-CN" altLang="en-US" sz="5400" dirty="0">
                <a:solidFill>
                  <a:prstClr val="white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系统</a:t>
            </a:r>
            <a:r>
              <a:rPr lang="en-US" altLang="zh-CN" sz="5400" dirty="0">
                <a:solidFill>
                  <a:prstClr val="white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2024</a:t>
            </a:r>
            <a:r>
              <a:rPr lang="zh-CN" altLang="en-US" sz="5400" dirty="0">
                <a:solidFill>
                  <a:prstClr val="white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年年报</a:t>
            </a:r>
            <a:endParaRPr kumimoji="0" lang="zh-CN" altLang="en-US" sz="54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  <a:p>
            <a:pPr algn="ctr">
              <a:defRPr/>
            </a:pP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57A1BC5-1FF3-34A5-8CCC-587C12F4FD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90" r="5495"/>
          <a:stretch/>
        </p:blipFill>
        <p:spPr>
          <a:xfrm>
            <a:off x="9839568" y="0"/>
            <a:ext cx="2352432" cy="828057"/>
          </a:xfrm>
          <a:prstGeom prst="rect">
            <a:avLst/>
          </a:prstGeom>
        </p:spPr>
      </p:pic>
      <p:sp>
        <p:nvSpPr>
          <p:cNvPr id="10" name="标题 1">
            <a:extLst>
              <a:ext uri="{FF2B5EF4-FFF2-40B4-BE49-F238E27FC236}">
                <a16:creationId xmlns:a16="http://schemas.microsoft.com/office/drawing/2014/main" id="{D1EAC8C4-3591-74DF-5313-2F01CB1B7E84}"/>
              </a:ext>
            </a:extLst>
          </p:cNvPr>
          <p:cNvSpPr txBox="1">
            <a:spLocks/>
          </p:cNvSpPr>
          <p:nvPr/>
        </p:nvSpPr>
        <p:spPr>
          <a:xfrm>
            <a:off x="3201577" y="6227119"/>
            <a:ext cx="9015137" cy="630881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rgbClr val="212773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2025</a:t>
            </a: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年</a:t>
            </a:r>
            <a:r>
              <a:rPr lang="en-US" altLang="zh-CN" sz="1600" dirty="0">
                <a:solidFill>
                  <a:prstClr val="white"/>
                </a:solidFill>
                <a:latin typeface="KaiTi" panose="02010609060101010101" pitchFamily="49" charset="-122"/>
                <a:ea typeface="KaiTi" panose="02010609060101010101" pitchFamily="49" charset="-122"/>
                <a:sym typeface="+mn-ea"/>
              </a:rPr>
              <a:t>1</a:t>
            </a: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月</a:t>
            </a:r>
            <a:r>
              <a:rPr kumimoji="0" lang="en-US" altLang="zh-CN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10</a:t>
            </a: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日</a:t>
            </a:r>
            <a:endParaRPr kumimoji="0" lang="en-US" altLang="zh-CN" sz="16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  <a:sym typeface="+mn-ea"/>
            </a:endParaRPr>
          </a:p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创新业务部</a:t>
            </a:r>
            <a:r>
              <a:rPr kumimoji="0" lang="en-US" altLang="zh-CN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-</a:t>
            </a:r>
            <a:r>
              <a:rPr kumimoji="0" lang="zh-CN" altLang="en-US" sz="160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j-cs"/>
                <a:sym typeface="+mn-ea"/>
              </a:rPr>
              <a:t>吴金先</a:t>
            </a:r>
            <a:endParaRPr kumimoji="0" lang="en-US" altLang="zh-CN" sz="16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  <a:sym typeface="+mn-ea"/>
            </a:endParaRPr>
          </a:p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600" b="1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21808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1" y="-13779"/>
            <a:ext cx="12192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一、渠道饮品销量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【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自有渠道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】APP&amp;H5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：相较于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23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年消费用户数为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76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万人，单均杯量和单杯实收提升，人均杯量和和订单量提升，店均杯量和店均单量都下降。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kiosk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：上线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3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家门店店均单量贡献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77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单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113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杯、由于无券消费单杯实数较高，高出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APP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的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150%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；</a:t>
            </a:r>
            <a:endParaRPr kumimoji="1" lang="en-US" altLang="zh-CN" sz="1600" spc="-200" dirty="0">
              <a:latin typeface="Arial" panose="020B0604020202020204" pitchFamily="34" charset="0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【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三方渠道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】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外卖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Grab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：单杯实收最高，但还需扣除掉平台费用之类的算下来跟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APP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持平，店均贡献杯量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8.5%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，</a:t>
            </a:r>
            <a:r>
              <a:rPr kumimoji="1" lang="en-US" altLang="zh-CN" sz="1600" spc="-200" dirty="0" err="1">
                <a:latin typeface="Arial" panose="020B0604020202020204" pitchFamily="34" charset="0"/>
                <a:ea typeface="KaiTi" panose="02010609060101010101" pitchFamily="49" charset="-122"/>
              </a:rPr>
              <a:t>ePointt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：为机场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家门店，店均单量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312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，店均杯量</a:t>
            </a:r>
            <a:r>
              <a:rPr kumimoji="1" lang="en-US" altLang="zh-CN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414</a:t>
            </a:r>
            <a:r>
              <a:rPr kumimoji="1" lang="zh-CN" altLang="en-US" sz="1600" spc="-200" dirty="0">
                <a:latin typeface="Arial" panose="020B0604020202020204" pitchFamily="34" charset="0"/>
                <a:ea typeface="KaiTi" panose="02010609060101010101" pitchFamily="49" charset="-122"/>
              </a:rPr>
              <a:t>杯。</a:t>
            </a:r>
            <a:endParaRPr kumimoji="1" lang="en-US" altLang="zh-CN" sz="1600" spc="-200" dirty="0">
              <a:latin typeface="Arial" panose="020B0604020202020204" pitchFamily="34" charset="0"/>
              <a:ea typeface="KaiTi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D043EC-7200-2EF6-3E62-7B1309DA629E}"/>
              </a:ext>
            </a:extLst>
          </p:cNvPr>
          <p:cNvSpPr txBox="1"/>
          <p:nvPr/>
        </p:nvSpPr>
        <p:spPr>
          <a:xfrm>
            <a:off x="223401" y="1563697"/>
            <a:ext cx="11578365" cy="317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</a:t>
            </a:r>
            <a:r>
              <a:rPr kumimoji="1" lang="zh-CN" altLang="en-US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各渠道</a:t>
            </a:r>
            <a:r>
              <a:rPr kumimoji="1" lang="zh-CN" altLang="en-US" sz="1400" b="1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饮品</a:t>
            </a:r>
            <a:r>
              <a:rPr kumimoji="1" lang="zh-CN" altLang="en-US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销量统计</a:t>
            </a:r>
            <a:endParaRPr kumimoji="1" lang="zh-CN" altLang="en-US" sz="1400" b="0" i="0" u="none" strike="noStrike" kern="1200" cap="none" spc="6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</a:t>
            </a:fld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23147C-BDC2-955E-5D1D-8CDE1C3655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6361987"/>
              </p:ext>
            </p:extLst>
          </p:nvPr>
        </p:nvGraphicFramePr>
        <p:xfrm>
          <a:off x="223402" y="1949979"/>
          <a:ext cx="11578365" cy="360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18389600" imgH="5727700" progId="Excel.Sheet.12">
                  <p:embed/>
                </p:oleObj>
              </mc:Choice>
              <mc:Fallback>
                <p:oleObj name="工作表" r:id="rId4" imgW="18389600" imgH="5727700" progId="Excel.Sheet.12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823147C-BDC2-955E-5D1D-8CDE1C3655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23402" y="1949979"/>
                        <a:ext cx="11578365" cy="3606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6347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【1】AppStart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指每月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APP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启动事件的用户数，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【2】MAU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：指每月消费用户数，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【3】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启动率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</a:t>
            </a:r>
            <a:r>
              <a:rPr kumimoji="1" lang="en-US" altLang="zh-CN" sz="9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AppSart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总用户数，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【4】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启动完单率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=MAU/</a:t>
            </a:r>
            <a:r>
              <a:rPr kumimoji="1" lang="en-US" altLang="zh-CN" sz="9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AppSart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【5】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新加坡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21-40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岁总人口数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313w 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计算渗透率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42837"/>
            <a:ext cx="11857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微软雅黑" panose="020B0503020204020204" pitchFamily="34" charset="-122"/>
                <a:ea typeface="KaiTi" panose="02010609060101010101" pitchFamily="49" charset="-122"/>
              </a:rPr>
              <a:t>二、人</a:t>
            </a:r>
            <a:r>
              <a:rPr kumimoji="1" lang="en-US" altLang="zh-CN" sz="2400" b="1" spc="-200" dirty="0">
                <a:solidFill>
                  <a:srgbClr val="00B0F0"/>
                </a:solidFill>
                <a:latin typeface="微软雅黑" panose="020B0503020204020204" pitchFamily="34" charset="-122"/>
                <a:ea typeface="KaiTi" panose="02010609060101010101" pitchFamily="49" charset="-122"/>
              </a:rPr>
              <a:t>-</a:t>
            </a:r>
            <a:r>
              <a:rPr kumimoji="1" lang="zh-CN" altLang="en-US" sz="2400" b="1" spc="-200" dirty="0">
                <a:solidFill>
                  <a:srgbClr val="00B0F0"/>
                </a:solidFill>
                <a:latin typeface="微软雅黑" panose="020B0503020204020204" pitchFamily="34" charset="-122"/>
                <a:ea typeface="KaiTi" panose="02010609060101010101" pitchFamily="49" charset="-122"/>
              </a:rPr>
              <a:t>用户规模</a:t>
            </a:r>
            <a:endParaRPr kumimoji="1" lang="en-US" altLang="zh-CN" sz="2400" b="1" spc="-200" dirty="0">
              <a:solidFill>
                <a:srgbClr val="00B0F0"/>
              </a:solidFill>
              <a:latin typeface="微软雅黑" panose="020B0503020204020204" pitchFamily="34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年全年，累计新增新客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63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万人、注销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1.2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万人，全年累计消费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86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万人、其中新客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51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万人占比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59%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，新客注册未消费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万人、占比新客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19%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、截止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20241231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累计消费用户数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115w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（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vs23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年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58w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）用户渗透率提升到</a:t>
            </a:r>
            <a:r>
              <a:rPr kumimoji="1" lang="en-US" altLang="zh-CN" sz="1600" dirty="0">
                <a:latin typeface="KaiTi" panose="02010609060101010101" pitchFamily="49" charset="-122"/>
                <a:ea typeface="KaiTi" panose="02010609060101010101" pitchFamily="49" charset="-122"/>
              </a:rPr>
              <a:t>36.74%</a:t>
            </a:r>
            <a:r>
              <a:rPr kumimoji="1" lang="zh-CN" altLang="en-US" sz="16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年全年，总体月均启动率为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28%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，月均启动完单率在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69%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2</a:t>
            </a:fld>
            <a:endParaRPr lang="zh-CN" altLang="en-US" dirty="0"/>
          </a:p>
        </p:txBody>
      </p:sp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6A5C0980-2748-50AA-073D-FE2154DE52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0176226"/>
              </p:ext>
            </p:extLst>
          </p:nvPr>
        </p:nvGraphicFramePr>
        <p:xfrm>
          <a:off x="0" y="3105508"/>
          <a:ext cx="11941521" cy="33310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C1A93A84-9458-1989-A556-A05BF79A60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4923686"/>
              </p:ext>
            </p:extLst>
          </p:nvPr>
        </p:nvGraphicFramePr>
        <p:xfrm>
          <a:off x="1" y="1305714"/>
          <a:ext cx="6007608" cy="19205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23787237-8718-760F-B140-1ACB733A62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2430436"/>
              </p:ext>
            </p:extLst>
          </p:nvPr>
        </p:nvGraphicFramePr>
        <p:xfrm>
          <a:off x="6007609" y="1319277"/>
          <a:ext cx="5933912" cy="19069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490425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5FDE1A78-53A0-B9DE-7C6E-D4D47CA51251}"/>
              </a:ext>
            </a:extLst>
          </p:cNvPr>
          <p:cNvSpPr txBox="1"/>
          <p:nvPr/>
        </p:nvSpPr>
        <p:spPr>
          <a:xfrm>
            <a:off x="5327483" y="5192000"/>
            <a:ext cx="2122575" cy="1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0" y="33546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注册来源和方式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、全年月均稳定增长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万人左右，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82%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的用户使用手机号注册，邮箱注册占比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9%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Google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id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Apple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id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注册占比分别为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5%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、注册方式上手机号注册占比最大，</a:t>
            </a:r>
            <a:r>
              <a:rPr kumimoji="1" lang="en-US" altLang="zh-CN" sz="1600" spc="-200" dirty="0" err="1">
                <a:latin typeface="KaiTi" panose="02010609060101010101" pitchFamily="49" charset="-122"/>
                <a:ea typeface="KaiTi" panose="02010609060101010101" pitchFamily="49" charset="-122"/>
              </a:rPr>
              <a:t>Google_id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注册上线后注册的用户数和比例高于</a:t>
            </a:r>
            <a:r>
              <a:rPr kumimoji="1" lang="en-US" altLang="zh-CN" sz="1600" spc="-200" dirty="0" err="1">
                <a:latin typeface="KaiTi" panose="02010609060101010101" pitchFamily="49" charset="-122"/>
                <a:ea typeface="KaiTi" panose="02010609060101010101" pitchFamily="49" charset="-122"/>
              </a:rPr>
              <a:t>Apple_id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BD0819-BE40-3A51-388B-6B1D43064CF6}"/>
              </a:ext>
            </a:extLst>
          </p:cNvPr>
          <p:cNvSpPr txBox="1"/>
          <p:nvPr/>
        </p:nvSpPr>
        <p:spPr>
          <a:xfrm>
            <a:off x="450850" y="1374473"/>
            <a:ext cx="112902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</a:t>
            </a:r>
            <a:r>
              <a:rPr kumimoji="1" lang="zh-CN" altLang="en-US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用户注册来源和注册方式统计</a:t>
            </a:r>
            <a:endParaRPr kumimoji="1" lang="en-US" altLang="zh-CN" sz="14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0852F99-C179-6B18-C254-3AA99E68A6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212537"/>
              </p:ext>
            </p:extLst>
          </p:nvPr>
        </p:nvGraphicFramePr>
        <p:xfrm>
          <a:off x="1224364" y="1758372"/>
          <a:ext cx="9743272" cy="41635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11620500" imgH="4965700" progId="Excel.Sheet.12">
                  <p:embed/>
                </p:oleObj>
              </mc:Choice>
              <mc:Fallback>
                <p:oleObj name="工作表" r:id="rId4" imgW="11620500" imgH="4965700" progId="Excel.Sheet.12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0852F99-C179-6B18-C254-3AA99E68A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24364" y="1758372"/>
                        <a:ext cx="9743272" cy="41635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2590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58384"/>
            <a:ext cx="11857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产品</a:t>
            </a:r>
            <a:r>
              <a:rPr kumimoji="1" lang="en-US" altLang="zh-CN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Aha</a:t>
            </a:r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时刻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年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63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万新客中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66%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 的用户在注册当天完成首单消费（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aha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时刻），次日达成的仅占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2.28%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、从用户注册渠道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→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首次下单渠道分布看，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H5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注册扫码注册的用户有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26.22%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转化为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APP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下单，仍有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12%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在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H5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完成首单（未使用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0.99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）；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、注册到完单时间大于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7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天的占比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8%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，注册未消费到达了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20%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左右。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6BD0819-BE40-3A51-388B-6B1D43064CF6}"/>
              </a:ext>
            </a:extLst>
          </p:cNvPr>
          <p:cNvSpPr txBox="1"/>
          <p:nvPr/>
        </p:nvSpPr>
        <p:spPr>
          <a:xfrm>
            <a:off x="622809" y="1561231"/>
            <a:ext cx="32510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1" lang="en-US" altLang="zh-CN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r>
              <a:rPr kumimoji="1" lang="zh-CN" altLang="en-US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年新客注册到完单时刻分布</a:t>
            </a:r>
            <a:endParaRPr kumimoji="1" lang="en-US" altLang="zh-CN" sz="14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AEAAD91-B94A-0E5F-B927-F59BBD9572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9936392"/>
              </p:ext>
            </p:extLst>
          </p:nvPr>
        </p:nvGraphicFramePr>
        <p:xfrm>
          <a:off x="622809" y="2192624"/>
          <a:ext cx="3251019" cy="29893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4102100" imgH="3771900" progId="Excel.Sheet.12">
                  <p:embed/>
                </p:oleObj>
              </mc:Choice>
              <mc:Fallback>
                <p:oleObj name="工作表" r:id="rId4" imgW="4102100" imgH="3771900" progId="Excel.Shee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EAEAAD91-B94A-0E5F-B927-F59BBD9572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2809" y="2192624"/>
                        <a:ext cx="3251019" cy="29893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4D29E352-3518-9F4D-B7BA-0659BF1FD2DE}"/>
              </a:ext>
            </a:extLst>
          </p:cNvPr>
          <p:cNvSpPr txBox="1"/>
          <p:nvPr/>
        </p:nvSpPr>
        <p:spPr>
          <a:xfrm>
            <a:off x="545172" y="5274734"/>
            <a:ext cx="3328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年新客：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632355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aha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时刻天数：用户完成首单日期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用户注册日期</a:t>
            </a:r>
            <a:endParaRPr kumimoji="1" lang="en-US" altLang="zh-CN" sz="8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、占比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用户数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/24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年新客数</a:t>
            </a:r>
            <a:endParaRPr kumimoji="1" lang="en-US" altLang="zh-CN" sz="8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EF7B9B7A-7389-DFCC-83F1-83680ADE5A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860471"/>
              </p:ext>
            </p:extLst>
          </p:nvPr>
        </p:nvGraphicFramePr>
        <p:xfrm>
          <a:off x="4518445" y="2197886"/>
          <a:ext cx="6535855" cy="29759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6" imgW="7391400" imgH="3365500" progId="Excel.Sheet.12">
                  <p:embed/>
                </p:oleObj>
              </mc:Choice>
              <mc:Fallback>
                <p:oleObj name="工作表" r:id="rId6" imgW="7391400" imgH="3365500" progId="Excel.Sheet.12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EF7B9B7A-7389-DFCC-83F1-83680ADE5A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518445" y="2197886"/>
                        <a:ext cx="6535855" cy="29759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AF15B13B-97C7-E8BD-198B-706891C8AE46}"/>
              </a:ext>
            </a:extLst>
          </p:cNvPr>
          <p:cNvSpPr txBox="1"/>
          <p:nvPr/>
        </p:nvSpPr>
        <p:spPr>
          <a:xfrm>
            <a:off x="4518444" y="1561231"/>
            <a:ext cx="65358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1" lang="en-US" altLang="zh-CN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r>
              <a:rPr kumimoji="1" lang="zh-CN" altLang="en-US" sz="14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年新客注册渠道到首次完单渠道分布</a:t>
            </a:r>
            <a:endParaRPr kumimoji="1" lang="en-US" altLang="zh-CN" sz="14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9456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0" y="0"/>
            <a:ext cx="121500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用户消费频次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、截止到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1231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号，仅消费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单用户占比为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36%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，用户消费完首单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$0.99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后即沉睡或流失；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、高频用户（月消费频次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≥2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次的）占比始终未超过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50%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，月消费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单的占比仍大于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50%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，不到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60%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、超高频用户（月消费频次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4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单及以上）占比在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10%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左右。</a:t>
            </a:r>
            <a:endParaRPr kumimoji="1"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2373F2-A351-6953-CAE8-C78B5E6F2658}"/>
              </a:ext>
            </a:extLst>
          </p:cNvPr>
          <p:cNvSpPr txBox="1"/>
          <p:nvPr/>
        </p:nvSpPr>
        <p:spPr>
          <a:xfrm>
            <a:off x="3545457" y="1384329"/>
            <a:ext cx="7924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kumimoji="1" lang="zh-CN" altLang="en-US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</a:t>
            </a:r>
            <a:r>
              <a:rPr kumimoji="1" lang="zh-CN" altLang="en-US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 月消费频次变化</a:t>
            </a:r>
            <a:endParaRPr kumimoji="1" lang="en-US" altLang="zh-CN" sz="12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9" name="图表 8">
            <a:extLst>
              <a:ext uri="{FF2B5EF4-FFF2-40B4-BE49-F238E27FC236}">
                <a16:creationId xmlns:a16="http://schemas.microsoft.com/office/drawing/2014/main" id="{1CDDCCCC-07F8-AE80-A463-6B05B8AFEC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6758708"/>
              </p:ext>
            </p:extLst>
          </p:nvPr>
        </p:nvGraphicFramePr>
        <p:xfrm>
          <a:off x="3242822" y="1633023"/>
          <a:ext cx="8533512" cy="44117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46D0BD1C-A442-D338-3ACF-99BE1E52FFE3}"/>
              </a:ext>
            </a:extLst>
          </p:cNvPr>
          <p:cNvSpPr txBox="1"/>
          <p:nvPr/>
        </p:nvSpPr>
        <p:spPr>
          <a:xfrm>
            <a:off x="378640" y="2514924"/>
            <a:ext cx="267853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累计消费频次</a:t>
            </a:r>
            <a:endParaRPr kumimoji="1" lang="en-US" altLang="zh-CN" sz="12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截止到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241231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783D7B2-1BF9-7AE8-1450-916ACE8B44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879467"/>
              </p:ext>
            </p:extLst>
          </p:nvPr>
        </p:nvGraphicFramePr>
        <p:xfrm>
          <a:off x="415666" y="2930422"/>
          <a:ext cx="2604479" cy="1778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5" imgW="3403600" imgH="2324100" progId="Excel.Sheet.12">
                  <p:embed/>
                </p:oleObj>
              </mc:Choice>
              <mc:Fallback>
                <p:oleObj name="工作表" r:id="rId5" imgW="3403600" imgH="2324100" progId="Excel.Sheet.12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B783D7B2-1BF9-7AE8-1450-916ACE8B44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5666" y="2930422"/>
                        <a:ext cx="2604479" cy="1778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7505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0" y="0"/>
            <a:ext cx="121500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用户生命周期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、随着触达量增加，月活用户从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月的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提升到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月的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4%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，非月活用户减少，从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5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月的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5%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提升到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4%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，提升了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个点，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、对于沉睡激活策略：通过触达或站外投流，曝光才能激活用户。</a:t>
            </a:r>
            <a:endParaRPr kumimoji="1"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2373F2-A351-6953-CAE8-C78B5E6F2658}"/>
              </a:ext>
            </a:extLst>
          </p:cNvPr>
          <p:cNvSpPr txBox="1"/>
          <p:nvPr/>
        </p:nvSpPr>
        <p:spPr>
          <a:xfrm>
            <a:off x="359765" y="1859183"/>
            <a:ext cx="11623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客群人数变化</a:t>
            </a:r>
            <a:endParaRPr kumimoji="1" lang="en-US" altLang="zh-CN" sz="12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BBFC51F7-1083-DEA2-D658-466E4D4740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802813"/>
              </p:ext>
            </p:extLst>
          </p:nvPr>
        </p:nvGraphicFramePr>
        <p:xfrm>
          <a:off x="359765" y="2184527"/>
          <a:ext cx="11623392" cy="30874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15303500" imgH="4064000" progId="Excel.Sheet.12">
                  <p:embed/>
                </p:oleObj>
              </mc:Choice>
              <mc:Fallback>
                <p:oleObj name="工作表" r:id="rId4" imgW="15303500" imgH="4064000" progId="Excel.Sheet.12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BBFC51F7-1083-DEA2-D658-466E4D4740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9765" y="2184527"/>
                        <a:ext cx="11623392" cy="30874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2272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5FDE1A78-53A0-B9DE-7C6E-D4D47CA51251}"/>
              </a:ext>
            </a:extLst>
          </p:cNvPr>
          <p:cNvSpPr txBox="1"/>
          <p:nvPr/>
        </p:nvSpPr>
        <p:spPr>
          <a:xfrm>
            <a:off x="5327483" y="5192000"/>
            <a:ext cx="2122575" cy="1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68791"/>
            <a:ext cx="11857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周新客存留：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年全年周均新客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1.19w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，留存率拐点出现在第五周，周均留存率为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10%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、分渠道新客存留：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APP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略高于整体，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H5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的仅有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3%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左右，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kiosk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从支持会员下单后，新客存留率逐渐在降低。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3F24AC-6B8F-1A55-2218-A27B7A982B8C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新客：指首次消费日期在本周的。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【2】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留存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：本周新客在接下来几周还有继续消费的用户，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【3】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留存率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留存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新客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E2F81D-60A6-F6F1-7AEE-91C4A487F520}"/>
              </a:ext>
            </a:extLst>
          </p:cNvPr>
          <p:cNvSpPr txBox="1"/>
          <p:nvPr/>
        </p:nvSpPr>
        <p:spPr>
          <a:xfrm>
            <a:off x="953705" y="1309742"/>
            <a:ext cx="10117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05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105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周新客留存率：统计每周新客在后续每周的留存情况</a:t>
            </a:r>
            <a:endParaRPr kumimoji="1" lang="en-US" altLang="zh-CN" sz="105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BA00E94-9E36-45C7-CD91-6CADA76A0F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490257"/>
              </p:ext>
            </p:extLst>
          </p:nvPr>
        </p:nvGraphicFramePr>
        <p:xfrm>
          <a:off x="558803" y="1552415"/>
          <a:ext cx="10907563" cy="2783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23736300" imgH="6057900" progId="Excel.Sheet.12">
                  <p:embed/>
                </p:oleObj>
              </mc:Choice>
              <mc:Fallback>
                <p:oleObj name="工作表" r:id="rId4" imgW="23736300" imgH="6057900" progId="Excel.Sheet.12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BA00E94-9E36-45C7-CD91-6CADA76A0F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58803" y="1552415"/>
                        <a:ext cx="10907563" cy="27837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A9075D0C-851D-4BA4-CB43-4F04DB4623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75337930"/>
              </p:ext>
            </p:extLst>
          </p:nvPr>
        </p:nvGraphicFramePr>
        <p:xfrm>
          <a:off x="386499" y="4358542"/>
          <a:ext cx="11079867" cy="2084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B5E2C36-6213-4A99-B279-016B8A4F1F7B}"/>
              </a:ext>
            </a:extLst>
          </p:cNvPr>
          <p:cNvSpPr txBox="1"/>
          <p:nvPr/>
        </p:nvSpPr>
        <p:spPr>
          <a:xfrm>
            <a:off x="2639684" y="1507328"/>
            <a:ext cx="586596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4143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68791"/>
            <a:ext cx="11857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月新客存留：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月新客留存率拐点出现在第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个月，降幅为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4%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，月均留存率为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22%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；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、首页的月新客留存率为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29%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，后续业务层面可通过投放新人打卡、消费任务来提升新客存留率。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3F24AC-6B8F-1A55-2218-A27B7A982B8C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新客：指首次消费日期在本周的。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【2】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留存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：本周新客在接下来几周还有继续消费的用户，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【3】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留存率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留存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新客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1E2F81D-60A6-F6F1-7AEE-91C4A487F520}"/>
              </a:ext>
            </a:extLst>
          </p:cNvPr>
          <p:cNvSpPr txBox="1"/>
          <p:nvPr/>
        </p:nvSpPr>
        <p:spPr>
          <a:xfrm>
            <a:off x="17143" y="2091973"/>
            <a:ext cx="121110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kumimoji="1" lang="zh-CN" altLang="en-US" sz="12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周新客留存率：统计每周新客在后续每周的留存情况</a:t>
            </a:r>
            <a:endParaRPr kumimoji="1" lang="en-US" altLang="zh-CN" sz="12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E71B415-6728-051C-A254-E3EA0E6160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387318"/>
              </p:ext>
            </p:extLst>
          </p:nvPr>
        </p:nvGraphicFramePr>
        <p:xfrm>
          <a:off x="530724" y="2421151"/>
          <a:ext cx="11130552" cy="24386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13042900" imgH="2857500" progId="Excel.Sheet.12">
                  <p:embed/>
                </p:oleObj>
              </mc:Choice>
              <mc:Fallback>
                <p:oleObj name="工作表" r:id="rId4" imgW="13042900" imgH="2857500" progId="Excel.Sheet.12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CE71B415-6728-051C-A254-E3EA0E6160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724" y="2421151"/>
                        <a:ext cx="11130552" cy="24386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5BAD9656-09E5-9518-2EB5-44BDB6F8544E}"/>
              </a:ext>
            </a:extLst>
          </p:cNvPr>
          <p:cNvSpPr txBox="1"/>
          <p:nvPr/>
        </p:nvSpPr>
        <p:spPr>
          <a:xfrm>
            <a:off x="2493034" y="2826178"/>
            <a:ext cx="793631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536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8" y="64080"/>
            <a:ext cx="11857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用户复购率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1</a:t>
            </a:r>
            <a:r>
              <a:rPr kumimoji="1" lang="zh-CN" altLang="en-US" sz="16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、</a:t>
            </a:r>
            <a:r>
              <a:rPr kumimoji="1" lang="en-US" altLang="zh-CN" sz="16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24</a:t>
            </a:r>
            <a:r>
              <a:rPr kumimoji="1" lang="zh-CN" altLang="en-US" sz="16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年全年 周复购率</a:t>
            </a:r>
            <a:r>
              <a:rPr kumimoji="1" lang="en-US" altLang="zh-CN" sz="16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160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月复购率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随着新开门店增加复购率有所回升提升。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3F24AC-6B8F-1A55-2218-A27B7A982B8C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周复购率查询 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WRP Weekly Repeat Purchases = 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用户上周有消费的用户数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本周消费总用户数 * 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100%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【2】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月复购率查询 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MRP </a:t>
            </a:r>
            <a:r>
              <a:rPr kumimoji="1" lang="en-US" altLang="zh-CN" sz="900" b="0" i="0" u="none" strike="noStrike" kern="1200" cap="none" spc="-10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Mouthly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 Repeat Purchases = 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用户上月有消费的用户数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本本消费总用户数 * 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100%</a:t>
            </a:r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F7D68C56-AB4A-5146-7B76-4B22D72D9B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4365115"/>
              </p:ext>
            </p:extLst>
          </p:nvPr>
        </p:nvGraphicFramePr>
        <p:xfrm>
          <a:off x="151720" y="1483597"/>
          <a:ext cx="3241930" cy="4386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912DC50-E999-74C3-1D74-6476F28F25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73026252"/>
              </p:ext>
            </p:extLst>
          </p:nvPr>
        </p:nvGraphicFramePr>
        <p:xfrm>
          <a:off x="3393650" y="1410452"/>
          <a:ext cx="8459044" cy="45001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40090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三、货</a:t>
            </a:r>
            <a:r>
              <a:rPr kumimoji="1" lang="en-US" altLang="zh-CN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饮品销量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年全年饮品销量排行见下，后续可通过产品消费偏好相关数据做产品交叉推荐策略。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E27768F8-A977-01D5-1506-2AE971D0D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725" y="1511718"/>
            <a:ext cx="5156080" cy="1843689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AEAA46E9-7387-8619-F550-80D47E233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355" y="3965103"/>
            <a:ext cx="5156080" cy="1917282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7B9ECCC6-A406-6A59-D851-321E1CABF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355" y="1511718"/>
            <a:ext cx="5156080" cy="18817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51241B6-A62A-AA92-33C9-D6A3994309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725" y="3965103"/>
            <a:ext cx="5156080" cy="197966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546EB3C-1F57-B3F8-1F2F-DA385EAA4B75}"/>
              </a:ext>
            </a:extLst>
          </p:cNvPr>
          <p:cNvSpPr txBox="1"/>
          <p:nvPr/>
        </p:nvSpPr>
        <p:spPr>
          <a:xfrm>
            <a:off x="8548823" y="365265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产品偏好排行</a:t>
            </a:r>
          </a:p>
        </p:txBody>
      </p:sp>
    </p:spTree>
    <p:extLst>
      <p:ext uri="{BB962C8B-B14F-4D97-AF65-F5344CB8AC3E}">
        <p14:creationId xmlns:p14="http://schemas.microsoft.com/office/powerpoint/2010/main" val="4282607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6189" y="11873"/>
            <a:ext cx="12083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货</a:t>
            </a:r>
            <a:r>
              <a:rPr kumimoji="1" lang="en-US" altLang="zh-CN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虚拟商品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24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年全年咖啡库券和付费会员的量价趋势见下图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月咖啡库券销量高峰为活动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1-for-1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带来增长，供需关系同饮品销量，仅愿意单杯实付</a:t>
            </a:r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3.9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zh-CN" alt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11</a:t>
            </a:fld>
            <a:endParaRPr lang="zh-CN" altLang="en-US" dirty="0"/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D4BF0EEA-0EA8-5788-5448-FAC28D2728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3942674"/>
              </p:ext>
            </p:extLst>
          </p:nvPr>
        </p:nvGraphicFramePr>
        <p:xfrm>
          <a:off x="1" y="1296587"/>
          <a:ext cx="5909093" cy="3513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" name="图表 4">
            <a:extLst>
              <a:ext uri="{FF2B5EF4-FFF2-40B4-BE49-F238E27FC236}">
                <a16:creationId xmlns:a16="http://schemas.microsoft.com/office/drawing/2014/main" id="{00FFC722-F35E-314F-AA94-0D0FBEFEDC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62514256"/>
              </p:ext>
            </p:extLst>
          </p:nvPr>
        </p:nvGraphicFramePr>
        <p:xfrm>
          <a:off x="6096000" y="1296587"/>
          <a:ext cx="5828061" cy="35130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3569EFA2-C94D-E7F8-2C9A-6A6912DAAF5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18179" y="5292131"/>
          <a:ext cx="3547528" cy="4495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6" imgW="4610100" imgH="584200" progId="Excel.Sheet.12">
                  <p:embed/>
                </p:oleObj>
              </mc:Choice>
              <mc:Fallback>
                <p:oleObj name="工作表" r:id="rId6" imgW="4610100" imgH="584200" progId="Excel.Sheet.12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3569EFA2-C94D-E7F8-2C9A-6A6912DAAF5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7318179" y="5292131"/>
                        <a:ext cx="3547528" cy="4495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D33CFF02-47EB-A733-1D10-FDDCC2D2D485}"/>
              </a:ext>
            </a:extLst>
          </p:cNvPr>
          <p:cNvSpPr txBox="1"/>
          <p:nvPr/>
        </p:nvSpPr>
        <p:spPr>
          <a:xfrm>
            <a:off x="251289" y="5208077"/>
            <a:ext cx="8795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咖啡库券购买张数排行榜</a:t>
            </a:r>
            <a:r>
              <a:rPr kumimoji="1" lang="en-US" altLang="zh-CN" sz="10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Top</a:t>
            </a:r>
            <a:r>
              <a:rPr kumimoji="1" lang="zh-CN" altLang="en-US" sz="10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sz="10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（上线至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20241231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kumimoji="1" lang="en-US" altLang="zh-CN" sz="8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1FB2CA9-4336-B5D6-AAC1-8C18597E33F1}"/>
              </a:ext>
            </a:extLst>
          </p:cNvPr>
          <p:cNvSpPr txBox="1"/>
          <p:nvPr/>
        </p:nvSpPr>
        <p:spPr>
          <a:xfrm>
            <a:off x="7318178" y="4867781"/>
            <a:ext cx="3547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0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咖啡库券和付费会员用户覆盖率</a:t>
            </a:r>
            <a:endParaRPr kumimoji="1" lang="en-US" altLang="zh-CN" sz="10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（上线至</a:t>
            </a:r>
            <a:r>
              <a:rPr kumimoji="1" lang="en-US" altLang="zh-CN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20241231</a:t>
            </a:r>
            <a:r>
              <a:rPr kumimoji="1" lang="zh-CN" altLang="en-US" sz="800" spc="67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kumimoji="1" lang="en-US" altLang="zh-CN" sz="800" spc="67" dirty="0">
              <a:solidFill>
                <a:prstClr val="black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1CF4D130-2E50-A534-937C-B26D0C2F42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7921" y="4889213"/>
            <a:ext cx="3547526" cy="148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255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32" y="0"/>
            <a:ext cx="118578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四、场</a:t>
            </a:r>
            <a:r>
              <a:rPr kumimoji="1" lang="en-US" altLang="zh-CN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门店类型每月饮品销量趋势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、临街店、商场店和写字楼店相对稳定，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月销量明显偏低，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6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7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月销量相对较高；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、学校门店跟随学校假期强相关，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Q1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Q3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季度相对较高，有明显的销量波峰。</a:t>
            </a:r>
            <a:endParaRPr kumimoji="1"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5AEE303-E93E-4279-709F-264D0452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535" y="1529352"/>
            <a:ext cx="5152050" cy="217579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3C699B57-D992-26EA-544B-63A9894DD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1461" y="1529352"/>
            <a:ext cx="5152037" cy="2175789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65DCB25-84C6-5AC5-4603-4E8321DE02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535" y="3854919"/>
            <a:ext cx="5152033" cy="217578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1140587-F245-A069-F350-7C9D63620F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1461" y="3854920"/>
            <a:ext cx="5152033" cy="217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995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33546"/>
            <a:ext cx="1185787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场：门店类型按星期量价趋势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、临街和商场店销量高峰在周五和、周末，写字楼和学校店相反在工作日，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、周一仅有学校门店消费高峰，其他类型消费低谷。</a:t>
            </a:r>
            <a:endParaRPr kumimoji="1"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685A85D-996F-EC46-2AFA-05F5C0B02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417" y="1404462"/>
            <a:ext cx="5286069" cy="234783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3C3D6F-9CC1-FA32-03FA-6B00CCF1B7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1" y="1400651"/>
            <a:ext cx="5286069" cy="235164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4186708-6FE1-7487-4BE3-91F614710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931" y="3827277"/>
            <a:ext cx="5286069" cy="235164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84FB27C-DF04-9FB2-5D33-D4BFA79062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9417" y="3827277"/>
            <a:ext cx="5286069" cy="235164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0972750-914A-1F8C-49D9-29171DD7486A}"/>
              </a:ext>
            </a:extLst>
          </p:cNvPr>
          <p:cNvSpPr txBox="1"/>
          <p:nvPr/>
        </p:nvSpPr>
        <p:spPr>
          <a:xfrm>
            <a:off x="1233377" y="2238363"/>
            <a:ext cx="574158" cy="13137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66E2A39-2412-4718-1957-5A4CDCD18315}"/>
              </a:ext>
            </a:extLst>
          </p:cNvPr>
          <p:cNvSpPr txBox="1"/>
          <p:nvPr/>
        </p:nvSpPr>
        <p:spPr>
          <a:xfrm>
            <a:off x="3923414" y="1759897"/>
            <a:ext cx="1881963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613839C-FF67-4A83-4583-34065CFD976A}"/>
              </a:ext>
            </a:extLst>
          </p:cNvPr>
          <p:cNvSpPr txBox="1"/>
          <p:nvPr/>
        </p:nvSpPr>
        <p:spPr>
          <a:xfrm>
            <a:off x="9314121" y="1781162"/>
            <a:ext cx="1881963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D9ADFB-E711-B4BB-2396-EB22BAC011E4}"/>
              </a:ext>
            </a:extLst>
          </p:cNvPr>
          <p:cNvSpPr txBox="1"/>
          <p:nvPr/>
        </p:nvSpPr>
        <p:spPr>
          <a:xfrm>
            <a:off x="4465674" y="4290446"/>
            <a:ext cx="1360968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AC7EF19-8A64-322D-062F-B9FA469B9A0D}"/>
              </a:ext>
            </a:extLst>
          </p:cNvPr>
          <p:cNvSpPr txBox="1"/>
          <p:nvPr/>
        </p:nvSpPr>
        <p:spPr>
          <a:xfrm>
            <a:off x="10021101" y="4106981"/>
            <a:ext cx="1360968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3EFA40-10F6-8FF7-6F9F-75D7D5F83D95}"/>
              </a:ext>
            </a:extLst>
          </p:cNvPr>
          <p:cNvSpPr txBox="1"/>
          <p:nvPr/>
        </p:nvSpPr>
        <p:spPr>
          <a:xfrm>
            <a:off x="6512357" y="4207064"/>
            <a:ext cx="739048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5184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65379"/>
            <a:ext cx="118578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40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场：门店类型每小时销量趋势</a:t>
            </a:r>
            <a:endParaRPr kumimoji="1" lang="en-US" altLang="zh-CN" sz="240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、早高峰：学校店无明显的早高峰，其他高峰明显；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、午高峰：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11-14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点明显，但写字楼店高峰在</a:t>
            </a:r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点开始；</a:t>
            </a:r>
            <a:endParaRPr kumimoji="1" lang="en-US" altLang="zh-CN" sz="14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3</a:t>
            </a:r>
            <a:r>
              <a:rPr kumimoji="1" lang="zh-CN" altLang="en-US" sz="14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、晚高峰：仅有写字楼店有明显的晚上高峰。</a:t>
            </a:r>
            <a:endParaRPr kumimoji="1" lang="zh-CN" altLang="en-US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3902903-E7E9-083D-BF73-B83F9981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6865" y="64593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14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DF2176-7072-1B62-2D3A-BA87B4BA7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417" y="3821875"/>
            <a:ext cx="5351884" cy="23770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FEAB9D7-090D-70F1-42C7-BEE7866F77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16" y="3821875"/>
            <a:ext cx="5351884" cy="237707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9C9D6E1-876D-D54B-04FC-5BF01A3993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424" y="1400649"/>
            <a:ext cx="5351877" cy="237706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EA5559C-4C83-1388-EFCE-BE92A47C4B9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116" y="1400651"/>
            <a:ext cx="5351884" cy="237707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E38A1EA-6F30-EA2E-17BD-813CE12E1CEB}"/>
              </a:ext>
            </a:extLst>
          </p:cNvPr>
          <p:cNvSpPr txBox="1"/>
          <p:nvPr/>
        </p:nvSpPr>
        <p:spPr>
          <a:xfrm>
            <a:off x="1244008" y="1861200"/>
            <a:ext cx="680485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0C674F2-8E5C-AC30-A813-B5FF42B6299B}"/>
              </a:ext>
            </a:extLst>
          </p:cNvPr>
          <p:cNvSpPr txBox="1"/>
          <p:nvPr/>
        </p:nvSpPr>
        <p:spPr>
          <a:xfrm>
            <a:off x="2477385" y="1839934"/>
            <a:ext cx="1233378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97F6FD-ADFB-FCC3-5B74-50D732D2FD38}"/>
              </a:ext>
            </a:extLst>
          </p:cNvPr>
          <p:cNvSpPr txBox="1"/>
          <p:nvPr/>
        </p:nvSpPr>
        <p:spPr>
          <a:xfrm>
            <a:off x="7829269" y="1839933"/>
            <a:ext cx="1233378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2A07676-A599-42D7-2C7F-23A928F17A07}"/>
              </a:ext>
            </a:extLst>
          </p:cNvPr>
          <p:cNvSpPr txBox="1"/>
          <p:nvPr/>
        </p:nvSpPr>
        <p:spPr>
          <a:xfrm>
            <a:off x="6698511" y="1839935"/>
            <a:ext cx="680485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EDA7CCB-F86D-35F6-2EEB-ABB40BD40AE8}"/>
              </a:ext>
            </a:extLst>
          </p:cNvPr>
          <p:cNvSpPr txBox="1"/>
          <p:nvPr/>
        </p:nvSpPr>
        <p:spPr>
          <a:xfrm>
            <a:off x="2477384" y="4189729"/>
            <a:ext cx="956931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0B8900-24B0-FABF-F9DD-DA3B22C33D63}"/>
              </a:ext>
            </a:extLst>
          </p:cNvPr>
          <p:cNvSpPr txBox="1"/>
          <p:nvPr/>
        </p:nvSpPr>
        <p:spPr>
          <a:xfrm>
            <a:off x="1270508" y="4189728"/>
            <a:ext cx="680485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00A8B1-F529-F521-04FB-5F7F970310B8}"/>
              </a:ext>
            </a:extLst>
          </p:cNvPr>
          <p:cNvSpPr txBox="1"/>
          <p:nvPr/>
        </p:nvSpPr>
        <p:spPr>
          <a:xfrm>
            <a:off x="7378996" y="4200362"/>
            <a:ext cx="1488557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D9300F0-88B0-F05F-D443-84E848C63FCF}"/>
              </a:ext>
            </a:extLst>
          </p:cNvPr>
          <p:cNvSpPr txBox="1"/>
          <p:nvPr/>
        </p:nvSpPr>
        <p:spPr>
          <a:xfrm>
            <a:off x="4715248" y="4189728"/>
            <a:ext cx="856212" cy="17922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6110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5FDE1A78-53A0-B9DE-7C6E-D4D47CA51251}"/>
              </a:ext>
            </a:extLst>
          </p:cNvPr>
          <p:cNvSpPr txBox="1"/>
          <p:nvPr/>
        </p:nvSpPr>
        <p:spPr>
          <a:xfrm>
            <a:off x="5327483" y="5192000"/>
            <a:ext cx="2122575" cy="1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月末授权人数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-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月初授权人数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【2】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本月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取消授权的人数，</a:t>
            </a:r>
            <a:r>
              <a:rPr kumimoji="1" lang="en-US" altLang="zh-CN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【3】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触点覆盖率</a:t>
            </a:r>
            <a:r>
              <a:rPr kumimoji="1" lang="en-US" altLang="zh-CN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=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触点授权人数</a:t>
            </a:r>
            <a:r>
              <a:rPr kumimoji="1" lang="en-US" altLang="zh-CN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总人数*</a:t>
            </a:r>
            <a:r>
              <a:rPr kumimoji="1" lang="en-US" altLang="zh-CN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100%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8077" y="187989"/>
            <a:ext cx="1199791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五、营销授权：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本月净新增授权</a:t>
            </a:r>
            <a:r>
              <a:rPr kumimoji="1" lang="en-US" altLang="zh-CN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4.3w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人</a:t>
            </a:r>
            <a:r>
              <a:rPr kumimoji="1" lang="en-US" altLang="zh-CN" sz="1400" b="1" spc="-200" baseline="30000" dirty="0">
                <a:latin typeface="KaiTi" panose="02010609060101010101" pitchFamily="49" charset="-122"/>
                <a:ea typeface="KaiTi" panose="02010609060101010101" pitchFamily="49" charset="-122"/>
              </a:rPr>
              <a:t>【1】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，取消</a:t>
            </a:r>
            <a:r>
              <a:rPr kumimoji="1" lang="en-US" altLang="zh-CN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1.2k</a:t>
            </a:r>
            <a:r>
              <a:rPr kumimoji="1" lang="en-US" altLang="zh-CN" sz="1400" b="1" spc="-200" baseline="30000" dirty="0">
                <a:latin typeface="KaiTi" panose="02010609060101010101" pitchFamily="49" charset="-122"/>
                <a:ea typeface="KaiTi" panose="02010609060101010101" pitchFamily="49" charset="-122"/>
              </a:rPr>
              <a:t>【2】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，营销授权率环比增长率</a:t>
            </a:r>
            <a:r>
              <a:rPr kumimoji="1" lang="en-US" altLang="zh-CN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+2.93%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，各个触点增长率保存稳定，无明显波动。</a:t>
            </a:r>
            <a:endParaRPr kumimoji="1" lang="zh-CN" altLang="en-US" sz="2650" b="1" spc="-200" dirty="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AB4942-3002-B633-F6BD-BE971A019CEE}"/>
              </a:ext>
            </a:extLst>
          </p:cNvPr>
          <p:cNvSpPr txBox="1"/>
          <p:nvPr/>
        </p:nvSpPr>
        <p:spPr>
          <a:xfrm>
            <a:off x="1524508" y="1409850"/>
            <a:ext cx="91429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A</a:t>
            </a:r>
            <a:r>
              <a:rPr kumimoji="1" lang="zh-CN" altLang="en-US" sz="1200" b="0" i="0" u="none" strike="noStrike" kern="1200" cap="none" spc="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营销授权率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E838EFC-8061-42AD-B983-71C835551E65}"/>
              </a:ext>
            </a:extLst>
          </p:cNvPr>
          <p:cNvSpPr txBox="1"/>
          <p:nvPr/>
        </p:nvSpPr>
        <p:spPr>
          <a:xfrm>
            <a:off x="802883" y="3790755"/>
            <a:ext cx="10528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B</a:t>
            </a:r>
            <a:r>
              <a:rPr kumimoji="1" lang="zh-CN" altLang="en-US" sz="1200" b="0" i="0" u="none" strike="noStrike" kern="1200" cap="none" spc="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触点覆盖率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39976C7-E945-5DAB-EC6B-7F91149B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9129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15</a:t>
            </a:fld>
            <a:endParaRPr lang="zh-CN" altLang="en-US" dirty="0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8FF4D17-6A7D-9C46-0C25-C4031284D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152657"/>
              </p:ext>
            </p:extLst>
          </p:nvPr>
        </p:nvGraphicFramePr>
        <p:xfrm>
          <a:off x="2426413" y="1722162"/>
          <a:ext cx="7490096" cy="15654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10998200" imgH="2298700" progId="Excel.Sheet.12">
                  <p:embed/>
                </p:oleObj>
              </mc:Choice>
              <mc:Fallback>
                <p:oleObj name="工作表" r:id="rId4" imgW="10998200" imgH="2298700" progId="Excel.Sheet.12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E8FF4D17-6A7D-9C46-0C25-C4031284D2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26413" y="1722162"/>
                        <a:ext cx="7490096" cy="15654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04AAB11-A639-1470-8C7F-8FD563F22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6477187"/>
              </p:ext>
            </p:extLst>
          </p:nvPr>
        </p:nvGraphicFramePr>
        <p:xfrm>
          <a:off x="802883" y="4067552"/>
          <a:ext cx="10528298" cy="218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6" imgW="16611600" imgH="3441700" progId="Excel.Sheet.12">
                  <p:embed/>
                </p:oleObj>
              </mc:Choice>
              <mc:Fallback>
                <p:oleObj name="工作表" r:id="rId6" imgW="16611600" imgH="3441700" progId="Excel.Sheet.12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B04AAB11-A639-1470-8C7F-8FD563F22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02883" y="4067552"/>
                        <a:ext cx="10528298" cy="2180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38251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5FDE1A78-53A0-B9DE-7C6E-D4D47CA51251}"/>
              </a:ext>
            </a:extLst>
          </p:cNvPr>
          <p:cNvSpPr txBox="1"/>
          <p:nvPr/>
        </p:nvSpPr>
        <p:spPr>
          <a:xfrm>
            <a:off x="5327483" y="5192000"/>
            <a:ext cx="2122575" cy="1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E1F874A6-CBDA-3E51-B54F-22BBEECCAEC6}"/>
              </a:ext>
            </a:extLst>
          </p:cNvPr>
          <p:cNvSpPr txBox="1"/>
          <p:nvPr/>
        </p:nvSpPr>
        <p:spPr>
          <a:xfrm>
            <a:off x="223322" y="1407343"/>
            <a:ext cx="11681983" cy="120505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触达覆盖率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触点触达用户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总用户数，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【2】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成功次数以供应商回执成功为准，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【3】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成功率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=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成功次数</a:t>
            </a: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/</a:t>
            </a:r>
            <a:r>
              <a:rPr kumimoji="1" lang="zh-CN" altLang="en-US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触达次数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83649" y="253651"/>
            <a:ext cx="1199791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六、站外触达概览：</a:t>
            </a:r>
            <a:r>
              <a:rPr kumimoji="1" lang="en-US" altLang="zh-CN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WA-APP</a:t>
            </a:r>
            <a:r>
              <a:rPr kumimoji="1" lang="zh-CN" altLang="en-US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触达成功率提升</a:t>
            </a:r>
            <a:r>
              <a:rPr kumimoji="1" lang="en-US" altLang="zh-CN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+3.17%</a:t>
            </a:r>
            <a:r>
              <a:rPr kumimoji="1" lang="zh-CN" altLang="en-US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，增幅较大，</a:t>
            </a:r>
            <a:r>
              <a:rPr kumimoji="1" lang="en-US" altLang="zh-CN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PUSH</a:t>
            </a:r>
            <a:r>
              <a:rPr kumimoji="1" lang="zh-CN" altLang="en-US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和</a:t>
            </a:r>
            <a:r>
              <a:rPr kumimoji="1" lang="en-US" altLang="zh-CN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EDM</a:t>
            </a:r>
            <a:r>
              <a:rPr kumimoji="1" lang="zh-CN" altLang="en-US" sz="2650" b="1" spc="-200" dirty="0">
                <a:highlight>
                  <a:srgbClr val="FFFF00"/>
                </a:highlight>
                <a:latin typeface="KaiTi" panose="02010609060101010101" pitchFamily="49" charset="-122"/>
                <a:ea typeface="KaiTi" panose="02010609060101010101" pitchFamily="49" charset="-122"/>
              </a:rPr>
              <a:t>触达触达成功率略微降低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，</a:t>
            </a:r>
            <a:r>
              <a:rPr kumimoji="1" lang="en-US" altLang="zh-CN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SMS</a:t>
            </a:r>
            <a:r>
              <a:rPr kumimoji="1" lang="zh-CN" altLang="en-US" sz="2650" b="1" spc="-200" dirty="0">
                <a:latin typeface="KaiTi" panose="02010609060101010101" pitchFamily="49" charset="-122"/>
                <a:ea typeface="KaiTi" panose="02010609060101010101" pitchFamily="49" charset="-122"/>
              </a:rPr>
              <a:t>成功率略微提升。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0F8E064-E2F7-48E4-A80F-EF614A6C9430}"/>
              </a:ext>
            </a:extLst>
          </p:cNvPr>
          <p:cNvSpPr txBox="1"/>
          <p:nvPr/>
        </p:nvSpPr>
        <p:spPr>
          <a:xfrm>
            <a:off x="223323" y="1532817"/>
            <a:ext cx="116207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PUSH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触达用户数为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43w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，触点授权人数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43w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，人均触达次数提升。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SMS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触点触达成功率：由于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月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27-29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号切换新加坡账号导致统计异常，布局与参考价值。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EDM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触点的触达成功率降低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-5.16%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，人均触达次数为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2.57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次。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WA-APP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触达成功率提升了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3.17%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，日均推送量增加到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2.9w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人，日均触达成功人数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12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月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2.8W VS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11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月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2.7w 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，环比增长</a:t>
            </a:r>
            <a:r>
              <a:rPr kumimoji="1"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+3.70%</a:t>
            </a:r>
            <a:r>
              <a:rPr kumimoji="1"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。</a:t>
            </a:r>
            <a:endParaRPr kumimoji="1" lang="en-US" altLang="zh-CN" sz="14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AB4942-3002-B633-F6BD-BE971A019CEE}"/>
              </a:ext>
            </a:extLst>
          </p:cNvPr>
          <p:cNvSpPr txBox="1"/>
          <p:nvPr/>
        </p:nvSpPr>
        <p:spPr>
          <a:xfrm>
            <a:off x="666750" y="2971641"/>
            <a:ext cx="10858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1" lang="en-US" altLang="zh-CN" sz="1400" b="0" i="0" u="none" strike="noStrike" kern="1200" cap="none" spc="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202412</a:t>
            </a:r>
            <a:r>
              <a:rPr kumimoji="1" lang="zh-CN" altLang="en-US" sz="1400" b="0" i="0" u="none" strike="noStrike" kern="1200" cap="none" spc="67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触点使用情况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D9129F-4644-26E3-C94F-CF60AFCA3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1754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16</a:t>
            </a:fld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A4B76BD-C0A7-5ADB-9B43-52AA7CBB96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837543"/>
              </p:ext>
            </p:extLst>
          </p:nvPr>
        </p:nvGraphicFramePr>
        <p:xfrm>
          <a:off x="666750" y="3488348"/>
          <a:ext cx="10858500" cy="229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4" imgW="10858500" imgH="2298700" progId="Excel.Sheet.12">
                  <p:embed/>
                </p:oleObj>
              </mc:Choice>
              <mc:Fallback>
                <p:oleObj name="工作表" r:id="rId4" imgW="10858500" imgH="2298700" progId="Excel.Sheet.12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3A4B76BD-C0A7-5ADB-9B43-52AA7CBB96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66750" y="3488348"/>
                        <a:ext cx="10858500" cy="229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620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5FDE1A78-53A0-B9DE-7C6E-D4D47CA51251}"/>
              </a:ext>
            </a:extLst>
          </p:cNvPr>
          <p:cNvSpPr txBox="1"/>
          <p:nvPr/>
        </p:nvSpPr>
        <p:spPr>
          <a:xfrm>
            <a:off x="5327483" y="5192000"/>
            <a:ext cx="2122575" cy="1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成功数据以回执成功为准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8077" y="20393"/>
            <a:ext cx="1199791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PUSH</a:t>
            </a:r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触点</a:t>
            </a:r>
            <a:endParaRPr kumimoji="1" lang="en-US" altLang="zh-CN" sz="265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、触达成功率：略微降低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、点击率和完单率：逐渐降低、触点疲劳度渐渐显现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439EB7-A80D-B787-9E8B-92F6B990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1754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17</a:t>
            </a:fld>
            <a:endParaRPr lang="zh-CN" altLang="en-US" dirty="0"/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79B5DE03-7B51-52D3-F039-DCA6C2614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792232"/>
              </p:ext>
            </p:extLst>
          </p:nvPr>
        </p:nvGraphicFramePr>
        <p:xfrm>
          <a:off x="360847" y="1361228"/>
          <a:ext cx="11580674" cy="2681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9" name="图表 38">
            <a:extLst>
              <a:ext uri="{FF2B5EF4-FFF2-40B4-BE49-F238E27FC236}">
                <a16:creationId xmlns:a16="http://schemas.microsoft.com/office/drawing/2014/main" id="{7268BF8A-ECB8-A859-2318-7821613477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0716328"/>
              </p:ext>
            </p:extLst>
          </p:nvPr>
        </p:nvGraphicFramePr>
        <p:xfrm>
          <a:off x="360847" y="4169147"/>
          <a:ext cx="5735153" cy="21935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1" name="图表 40">
            <a:extLst>
              <a:ext uri="{FF2B5EF4-FFF2-40B4-BE49-F238E27FC236}">
                <a16:creationId xmlns:a16="http://schemas.microsoft.com/office/drawing/2014/main" id="{302F1A87-9526-459B-BED1-7C835CDBD1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3500618"/>
              </p:ext>
            </p:extLst>
          </p:nvPr>
        </p:nvGraphicFramePr>
        <p:xfrm>
          <a:off x="6234262" y="4169145"/>
          <a:ext cx="5831725" cy="21935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333247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成功数据以回执成功为准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8077" y="20393"/>
            <a:ext cx="1199791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SMS</a:t>
            </a:r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触点</a:t>
            </a:r>
            <a:endParaRPr kumimoji="1" lang="en-US" altLang="zh-CN" sz="265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、触达成功率：基本保持稳定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、点击率和完单率：逐渐降低、触点疲劳度渐渐显现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439EB7-A80D-B787-9E8B-92F6B990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1754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18</a:t>
            </a:fld>
            <a:endParaRPr lang="zh-CN" altLang="en-US" dirty="0"/>
          </a:p>
        </p:txBody>
      </p:sp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79B5DE03-7B51-52D3-F039-DCA6C2614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5430614"/>
              </p:ext>
            </p:extLst>
          </p:nvPr>
        </p:nvGraphicFramePr>
        <p:xfrm>
          <a:off x="379562" y="1324269"/>
          <a:ext cx="11378420" cy="25849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图表 6">
            <a:extLst>
              <a:ext uri="{FF2B5EF4-FFF2-40B4-BE49-F238E27FC236}">
                <a16:creationId xmlns:a16="http://schemas.microsoft.com/office/drawing/2014/main" id="{7268BF8A-ECB8-A859-2318-7821613477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0785057"/>
              </p:ext>
            </p:extLst>
          </p:nvPr>
        </p:nvGraphicFramePr>
        <p:xfrm>
          <a:off x="68077" y="3931648"/>
          <a:ext cx="5812551" cy="24947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302F1A87-9526-459B-BED1-7C835CDBD1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7367920"/>
              </p:ext>
            </p:extLst>
          </p:nvPr>
        </p:nvGraphicFramePr>
        <p:xfrm>
          <a:off x="6067032" y="3909223"/>
          <a:ext cx="6020539" cy="24825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616198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>
            <a:extLst>
              <a:ext uri="{FF2B5EF4-FFF2-40B4-BE49-F238E27FC236}">
                <a16:creationId xmlns:a16="http://schemas.microsoft.com/office/drawing/2014/main" id="{5FDE1A78-53A0-B9DE-7C6E-D4D47CA51251}"/>
              </a:ext>
            </a:extLst>
          </p:cNvPr>
          <p:cNvSpPr txBox="1"/>
          <p:nvPr/>
        </p:nvSpPr>
        <p:spPr>
          <a:xfrm>
            <a:off x="5327483" y="5192000"/>
            <a:ext cx="2122575" cy="1135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成功数据以回执成功为准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8077" y="20393"/>
            <a:ext cx="11997910" cy="500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WA-API</a:t>
            </a:r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：成本较高，业务侧较少使用</a:t>
            </a:r>
            <a:endParaRPr kumimoji="1" lang="en-US" altLang="zh-CN" sz="265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439EB7-A80D-B787-9E8B-92F6B990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1754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19</a:t>
            </a:fld>
            <a:endParaRPr lang="zh-CN" altLang="en-US" dirty="0"/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79B5DE03-7B51-52D3-F039-DCA6C2614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5802203"/>
              </p:ext>
            </p:extLst>
          </p:nvPr>
        </p:nvGraphicFramePr>
        <p:xfrm>
          <a:off x="1093143" y="1437296"/>
          <a:ext cx="9279889" cy="23198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7268BF8A-ECB8-A859-2318-7821613477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8189200"/>
              </p:ext>
            </p:extLst>
          </p:nvPr>
        </p:nvGraphicFramePr>
        <p:xfrm>
          <a:off x="539966" y="3874000"/>
          <a:ext cx="5089745" cy="2334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302F1A87-9526-459B-BED1-7C835CDBD1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2842532"/>
              </p:ext>
            </p:extLst>
          </p:nvPr>
        </p:nvGraphicFramePr>
        <p:xfrm>
          <a:off x="6171461" y="3873999"/>
          <a:ext cx="5333257" cy="2334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2394512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成功数据以回执成功为准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8077" y="20393"/>
            <a:ext cx="1199791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WA-APP</a:t>
            </a:r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触点</a:t>
            </a:r>
            <a:endParaRPr kumimoji="1" lang="en-US" altLang="zh-CN" sz="265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、触达成功率：成功率高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、点击率和完单率：触点疲劳度暂未出现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439EB7-A80D-B787-9E8B-92F6B990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1754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20</a:t>
            </a:fld>
            <a:endParaRPr lang="zh-CN" altLang="en-US" dirty="0"/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79B5DE03-7B51-52D3-F039-DCA6C2614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1626797"/>
              </p:ext>
            </p:extLst>
          </p:nvPr>
        </p:nvGraphicFramePr>
        <p:xfrm>
          <a:off x="658761" y="1324269"/>
          <a:ext cx="10874477" cy="25756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7268BF8A-ECB8-A859-2318-7821613477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356551"/>
              </p:ext>
            </p:extLst>
          </p:nvPr>
        </p:nvGraphicFramePr>
        <p:xfrm>
          <a:off x="1" y="4031231"/>
          <a:ext cx="5860026" cy="2395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302F1A87-9526-459B-BED1-7C835CDBD1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6447453"/>
              </p:ext>
            </p:extLst>
          </p:nvPr>
        </p:nvGraphicFramePr>
        <p:xfrm>
          <a:off x="6096000" y="4031231"/>
          <a:ext cx="5969987" cy="23951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6421445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0631709-C8EA-766A-A0C7-F2F58DBDDD75}"/>
              </a:ext>
            </a:extLst>
          </p:cNvPr>
          <p:cNvCxnSpPr>
            <a:cxnSpLocks/>
          </p:cNvCxnSpPr>
          <p:nvPr/>
        </p:nvCxnSpPr>
        <p:spPr>
          <a:xfrm>
            <a:off x="-128539" y="6454066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18D44F0B-8135-15E2-2D00-DF9D9697ED57}"/>
              </a:ext>
            </a:extLst>
          </p:cNvPr>
          <p:cNvCxnSpPr>
            <a:cxnSpLocks/>
          </p:cNvCxnSpPr>
          <p:nvPr/>
        </p:nvCxnSpPr>
        <p:spPr>
          <a:xfrm>
            <a:off x="-232968" y="1301843"/>
            <a:ext cx="12600000" cy="0"/>
          </a:xfrm>
          <a:prstGeom prst="line">
            <a:avLst/>
          </a:prstGeom>
          <a:ln w="63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B7F8DA34-488F-F282-8F65-73FFC7A36CA0}"/>
              </a:ext>
            </a:extLst>
          </p:cNvPr>
          <p:cNvSpPr txBox="1"/>
          <p:nvPr/>
        </p:nvSpPr>
        <p:spPr>
          <a:xfrm>
            <a:off x="83649" y="6459329"/>
            <a:ext cx="975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9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【1】</a:t>
            </a:r>
            <a:r>
              <a:rPr kumimoji="1" lang="zh-CN" altLang="en-US" sz="900" spc="-100" dirty="0">
                <a:solidFill>
                  <a:prstClr val="black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成功数据以回执成功为准</a:t>
            </a:r>
            <a:endParaRPr kumimoji="1" lang="en-US" altLang="zh-CN" sz="900" b="0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2D1CAE9-3155-7D0C-C8CA-B345DA208C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9586" t="93806" r="3818" b="1634"/>
          <a:stretch/>
        </p:blipFill>
        <p:spPr>
          <a:xfrm>
            <a:off x="9841113" y="6481754"/>
            <a:ext cx="2100408" cy="325238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A8BBE778-501F-428C-8282-D8B4C6AADC16}"/>
              </a:ext>
            </a:extLst>
          </p:cNvPr>
          <p:cNvSpPr txBox="1"/>
          <p:nvPr/>
        </p:nvSpPr>
        <p:spPr>
          <a:xfrm>
            <a:off x="68077" y="20393"/>
            <a:ext cx="11997910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en-US" altLang="zh-CN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EDM</a:t>
            </a:r>
            <a:r>
              <a:rPr kumimoji="1" lang="zh-CN" altLang="en-US" sz="2650" b="1" spc="-200" dirty="0">
                <a:solidFill>
                  <a:srgbClr val="00B0F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触点</a:t>
            </a:r>
            <a:endParaRPr kumimoji="1" lang="en-US" altLang="zh-CN" sz="2650" b="1" spc="-200" dirty="0">
              <a:solidFill>
                <a:srgbClr val="00B0F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、触达成功率：成功率较高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just"/>
            <a:r>
              <a:rPr kumimoji="1" lang="en-US" altLang="zh-CN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2</a:t>
            </a:r>
            <a:r>
              <a:rPr kumimoji="1" lang="zh-CN" altLang="en-US" sz="1600" spc="-200" dirty="0">
                <a:latin typeface="KaiTi" panose="02010609060101010101" pitchFamily="49" charset="-122"/>
                <a:ea typeface="KaiTi" panose="02010609060101010101" pitchFamily="49" charset="-122"/>
              </a:rPr>
              <a:t>、点击率和完单率：点击率高，触点疲劳度暂未显现</a:t>
            </a:r>
            <a:endParaRPr kumimoji="1" lang="en-US" altLang="zh-CN" sz="1600" spc="-2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E439EB7-A80D-B787-9E8B-92F6B990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81754"/>
            <a:ext cx="2743200" cy="365125"/>
          </a:xfrm>
        </p:spPr>
        <p:txBody>
          <a:bodyPr/>
          <a:lstStyle/>
          <a:p>
            <a:fld id="{A3C257C5-0EF6-4792-9B0A-1B2DCED1934C}" type="slidenum">
              <a:rPr lang="zh-CN" altLang="en-US" smtClean="0"/>
              <a:t>21</a:t>
            </a:fld>
            <a:endParaRPr lang="zh-CN" altLang="en-US" dirty="0"/>
          </a:p>
        </p:txBody>
      </p:sp>
      <p:graphicFrame>
        <p:nvGraphicFramePr>
          <p:cNvPr id="11" name="图表 10">
            <a:extLst>
              <a:ext uri="{FF2B5EF4-FFF2-40B4-BE49-F238E27FC236}">
                <a16:creationId xmlns:a16="http://schemas.microsoft.com/office/drawing/2014/main" id="{79B5DE03-7B51-52D3-F039-DCA6C2614D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0726886"/>
              </p:ext>
            </p:extLst>
          </p:nvPr>
        </p:nvGraphicFramePr>
        <p:xfrm>
          <a:off x="545690" y="1285146"/>
          <a:ext cx="11100620" cy="2592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图表 14">
            <a:extLst>
              <a:ext uri="{FF2B5EF4-FFF2-40B4-BE49-F238E27FC236}">
                <a16:creationId xmlns:a16="http://schemas.microsoft.com/office/drawing/2014/main" id="{7268BF8A-ECB8-A859-2318-7821613477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7846580"/>
              </p:ext>
            </p:extLst>
          </p:nvPr>
        </p:nvGraphicFramePr>
        <p:xfrm>
          <a:off x="23678" y="4060725"/>
          <a:ext cx="6072322" cy="23656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721F0F09-F522-9B90-D7F3-CB408B0662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461" y="3886641"/>
            <a:ext cx="5666578" cy="252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700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>
            <a:extLst>
              <a:ext uri="{FF2B5EF4-FFF2-40B4-BE49-F238E27FC236}">
                <a16:creationId xmlns:a16="http://schemas.microsoft.com/office/drawing/2014/main" id="{7660E7ED-0561-6A7F-F46F-4A44409A5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79846" cy="686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9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28287</TotalTime>
  <Words>1968</Words>
  <Application>Microsoft Macintosh PowerPoint</Application>
  <PresentationFormat>宽屏</PresentationFormat>
  <Paragraphs>166</Paragraphs>
  <Slides>23</Slides>
  <Notes>22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3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4" baseType="lpstr">
      <vt:lpstr>等线</vt:lpstr>
      <vt:lpstr>等线 Light</vt:lpstr>
      <vt:lpstr>KaiTi</vt:lpstr>
      <vt:lpstr>KaiTi</vt:lpstr>
      <vt:lpstr>微软雅黑</vt:lpstr>
      <vt:lpstr>Arial</vt:lpstr>
      <vt:lpstr>Office 主题​​</vt:lpstr>
      <vt:lpstr>1_Office 主题​​</vt:lpstr>
      <vt:lpstr>2_Office 主题​​</vt:lpstr>
      <vt:lpstr>工作表</vt:lpstr>
      <vt:lpstr>Microsoft Excel 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金先 吴jinxian</cp:lastModifiedBy>
  <cp:revision>193</cp:revision>
  <dcterms:created xsi:type="dcterms:W3CDTF">2024-05-30T06:51:02Z</dcterms:created>
  <dcterms:modified xsi:type="dcterms:W3CDTF">2025-09-26T06:12:13Z</dcterms:modified>
</cp:coreProperties>
</file>